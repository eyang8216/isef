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43559730" cy="4355973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Relative RMS difference</c:f>
              <c:strCache>
                <c:ptCount val="1"/>
                <c:pt idx="0">
                  <c:v>Relative RMS difference</c:v>
                </c:pt>
              </c:strCache>
            </c:strRef>
          </c:tx>
          <c:spPr>
            <a:solidFill>
              <a:srgbClr val="157AB2"/>
            </a:solidFill>
          </c:spPr>
          <c:invertIfNegative val="0"/>
          <c:dPt>
            <c:idx val="0"/>
            <c:invertIfNegative val="0"/>
            <c:bubble3D val="0"/>
            <c:spPr>
              <a:solidFill>
                <a:srgbClr val="157AB2"/>
              </a:solidFill>
            </c:spPr>
          </c:dPt>
          <c:dPt>
            <c:idx val="1"/>
            <c:invertIfNegative val="0"/>
            <c:bubble3D val="0"/>
            <c:spPr>
              <a:solidFill>
                <a:srgbClr val="079B9C"/>
              </a:solidFill>
            </c:spPr>
          </c:dPt>
          <c:dPt>
            <c:idx val="2"/>
            <c:invertIfNegative val="0"/>
            <c:bubble3D val="0"/>
            <c:spPr>
              <a:solidFill>
                <a:srgbClr val="C88B23"/>
              </a:solidFill>
            </c:spPr>
          </c:dPt>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Potential</c:v>
                </c:pt>
                <c:pt idx="1">
                  <c:v>Vector field</c:v>
                </c:pt>
                <c:pt idx="2">
                  <c:v>Maxwell pressure</c:v>
                </c:pt>
              </c:strCache>
            </c:strRef>
          </c:cat>
          <c:val>
            <c:numRef>
              <c:f>'Chart Data'!$B$2:$B$4</c:f>
              <c:numCache>
                <c:formatCode>0.0</c:formatCode>
                <c:ptCount val="3"/>
                <c:pt idx="0">
                  <c:v>0.024</c:v>
                </c:pt>
                <c:pt idx="1">
                  <c:v>0.226</c:v>
                </c:pt>
                <c:pt idx="2">
                  <c:v>0.817</c:v>
                </c:pt>
              </c:numCache>
            </c:numRef>
          </c:val>
        </c:ser>
        <c:dLbls>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2025" b="0" i="0" u="none" strike="noStrike" kern="1200" baseline="0">
                <a:solidFill>
                  <a:srgbClr val="15212C"/>
                </a:solidFill>
                <a:latin typeface="+mn-lt"/>
                <a:ea typeface="+mn-ea"/>
                <a:cs typeface="+mn-cs"/>
              </a:defRPr>
            </a:pPr>
          </a:p>
        </c:txPr>
        <c:crossAx val="48672768"/>
        <c:crosses val="autoZero"/>
        <c:auto val="1"/>
        <c:lblAlgn val="ctr"/>
        <c:lblOffset val="100"/>
        <c:noMultiLvlLbl val="0"/>
      </c:catAx>
      <c:valAx>
        <c:axId val="48672768"/>
        <c:scaling>
          <c:orientation val="minMax"/>
          <c:max val="1"/>
          <c:min val="0"/>
        </c:scaling>
        <c:delete val="0"/>
        <c:axPos val="b"/>
        <c:majorGridlines>
          <c:spPr>
            <a:ln w="9525">
              <a:solidFill>
                <a:srgbClr val="D7E0E8"/>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875" b="0" i="0" u="none" strike="noStrike" kern="1200" baseline="0">
                <a:solidFill>
                  <a:srgbClr val="395668"/>
                </a:solidFill>
                <a:latin typeface="+mn-lt"/>
                <a:ea typeface="+mn-ea"/>
                <a:cs typeface="+mn-cs"/>
              </a:defRPr>
            </a:pPr>
          </a:p>
        </c:txPr>
        <c:crossAx val="48650112"/>
        <c:crosses val="autoZero"/>
        <c:crossBetween val="between"/>
        <c:majorUnit val="0.2"/>
      </c:valAx>
      <c:spPr>
        <a:solidFill>
          <a:srgbClr val="F7F9FC"/>
        </a:solidFill>
      </c:spPr>
    </c:plotArea>
    <c:plotVisOnly val="1"/>
    <c:dispBlanksAs val="gap"/>
    <c:showDLblsOverMax val="0"/>
    <c:extLst>
      <c:ext uri="{0b15fc19-7d7d-44ad-8c2d-2c3a37ce22c3}">
        <chartProps xmlns="https://web.wps.cn/et/2018/main" chartId="{327a259b-1cb4-4fca-bbbd-99138cc060d6}"/>
      </c:ext>
    </c:extLst>
  </c:chart>
  <c:spPr>
    <a:solidFill>
      <a:srgbClr val="F7F9FC"/>
    </a:solidFill>
    <a:ln w="0">
      <a:noFill/>
    </a:ln>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 and metric definitions for the academic poster.</a:t>
            </a:r>
          </a:p>
          <a:p>
            <a:r>
              <a:t>Computational figures: 论文修改对照与图件交付/figures/en and figures/zh. Corresponding numerical data: 论文修改对照与图件交付/data/.</a:t>
            </a:r>
          </a:p>
          <a:p>
            <a:r>
              <a:t>Public experimental case: Yang Pengfei, Peng Yuxing, Yi Hongliang and Wu Jian (2025), Journal of Experiments in Fluid Mechanics 39(3):54–62, DOI 10.11729/syltlx20220040.</a:t>
            </a:r>
          </a:p>
          <a:p>
            <a:r>
              <a:t>Publisher PDF: https://pubs-data.cstam.org.cn/lxqkw-data/syltlx/2025/3/PDF/2022-040a.pdf</a:t>
            </a:r>
          </a:p>
          <a:p>
            <a:r>
              <a:t>The four photos are at 1.80, 1.95, 2.10 and 2.30 kV. Published angle markers include five voltages ending at 2.2503 kV. Measurement MAE uses the three matching voltages 1.80, 1.95 and 2.10 kV.</a:t>
            </a:r>
          </a:p>
          <a:p>
            <a:r>
              <a:t>Image measurement MAE 1.337459301 deg, max 1.970428562 deg. This crosscheck uses published markers from the same study rather than repeated measurement of the identical frame.</a:t>
            </a:r>
          </a:p>
          <a:p>
            <a:r>
              <a:t>Synthetic measurement figures use the original 108 analytic image cases, max half-angle error 0.298517 deg, max profile nRMSE 1.405869%. Software regression test count is distinct from experiment count.</a:t>
            </a:r>
          </a:p>
          <a:p>
            <a:r>
              <a:t>Application photographs: NASA/JPL-Caltech, https://microdevices.jpl.nasa.gov/capabilities/advanced-microfabrication-technologies/electrospray-propulsion/; © ESA, https://www.esa.int/ESA_Multimedia/Images/2023/03/Microfabricated_electrospray_emitter_and_fluidic_barrier.</a:t>
            </a:r>
          </a:p>
          <a:p>
            <a:r>
              <a:t>ESA image credit and Standard Licence are retained. Publisher experimental images are attributed for research review. No additional image reuse license is asserted.</a:t>
            </a:r>
          </a:p>
          <a:p>
            <a:r>
              <a:t>Additional application image: IENAI Space, ESA Pinhole propulsion for satellites, https://www.esa.int/ESA_Multimedia/Images/2023/12/Pinhole_propulsion_for_satellites . Image copyright IENAI Space. Educational research poster.</a:t>
            </a:r>
          </a:p>
          <a:p>
            <a:r>
              <a:t>Hardware crops reproduce portions of Yang et al. Figure 1. They illustrate the published apparatus, and are not photos of newly conducted project experiments.</a:t>
            </a:r>
          </a:p>
          <a:p>
            <a:r>
              <a:t>Poster experimental figures: revision_2026-10-09/scripts/render_experiment_figures.py. Inputs are the retained CSV measurements, contour samples and field libraries. Figure-data checksums accompany the rendered figures.</a:t>
            </a:r>
          </a:p>
          <a:p>
            <a:r>
              <a:t>The image/report angle comparison uses three voltage-matched points from Yang et al. Figures 5 and 6. The mean absolute difference is 1.337459301 degrees. Missing photo/marker pairs are blank in the data-pairing table.</a:t>
            </a:r>
          </a:p>
          <a:p>
            <a:r>
              <a:t>Numerical residual: R = gamma*kappa - epsilon*En^2/2 - Delta p, with the spatially constant offset removed by the surface mean. The separate fixed-pressure diagnostic fixes the offset at the first reported voltage and evaluates the other reported geometries.</a:t>
            </a:r>
          </a:p>
          <a:p>
            <a:r>
              <a:t>Threshold sensitivity reuses the 90, 110 and 130 segmentation thresholds. The maximum half-angle range across the three matched voltages is 0.203613622 degrees. Flank-fit RMS measures distance to the fitted line on the same extracted contour.</a:t>
            </a:r>
          </a:p>
          <a:p>
            <a:r>
              <a:t>Application photographs illustrate electrospray propulsion. Experimental apparatus photographs reproduce Yang et al. Figure 1. Figure 1 of this poster is a conceptual schematic. Figure 2 is a model geometry drawing with a separate equipment montage.</a:t>
            </a:r>
          </a:p>
          <a:p>
            <a:r>
              <a:t>Figure 15 source: retained fixed-cone FD–FEM benchmark, finest level. Relative RMS differences: potential 0.024%, vector electric field 0.226%, Maxwell pressure 0.817%. Figure 16 is a generated conceptual illustration of proposed future work, not an experimental photograph.</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lvl1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9pPr>
    </p:titleStyle>
    <p:bodyStyle>
      <a:lvl1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9pPr>
    </p:bodyStyle>
    <p:otherStyle>
      <a:lvl1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cap="none" spc="0">
          <a:solidFill>
            <a:srgbClr val="000000"/>
          </a:solidFill>
          <a:latin typeface="Arial" panose="020B0604020202020204"/>
          <a:ea typeface="Arial" panose="020B0604020202020204"/>
          <a:cs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jpe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image" Target="../media/image20.png"/><Relationship Id="rId22" Type="http://schemas.openxmlformats.org/officeDocument/2006/relationships/image" Target="../media/image21.png"/><Relationship Id="rId23" Type="http://schemas.openxmlformats.org/officeDocument/2006/relationships/image" Target="../media/image22.png"/><Relationship Id="rId24" Type="http://schemas.openxmlformats.org/officeDocument/2006/relationships/slideLayout" Target="../slideLayouts/slideLayout1.xml"/><Relationship Id="rId25" Type="http://schemas.openxmlformats.org/officeDocument/2006/relationships/notesSlide" Target="../notesSlides/notesSlide1.xml"/><Relationship Id="rId26" Type="http://schemas.openxmlformats.org/officeDocument/2006/relationships/image" Target="../media/image23.png"/><Relationship Id="rId27" Type="http://schemas.openxmlformats.org/officeDocument/2006/relationships/image" Target="../media/image24.png"/><Relationship Id="rId28" Type="http://schemas.openxmlformats.org/officeDocument/2006/relationships/image" Target="../media/image25.png"/><Relationship Id="rId29" Type="http://schemas.openxmlformats.org/officeDocument/2006/relationships/image" Target="../media/image26.png"/><Relationship Id="rId30" Type="http://schemas.openxmlformats.org/officeDocument/2006/relationships/image" Target="../media/image27.png"/><Relationship Id="rId31" Type="http://schemas.openxmlformats.org/officeDocument/2006/relationships/image" Target="../media/image28.png"/><Relationship Id="rId32" Type="http://schemas.openxmlformats.org/officeDocument/2006/relationships/image" Target="../media/image29.png"/><Relationship Id="rId33" Type="http://schemas.openxmlformats.org/officeDocument/2006/relationships/image" Target="../media/image30.png"/><Relationship Id="rId34" Type="http://schemas.openxmlformats.org/officeDocument/2006/relationships/image" Target="../media/image31.png"/><Relationship Id="rId35" Type="http://schemas.openxmlformats.org/officeDocument/2006/relationships/image" Target="../media/image32.png"/><Relationship Id="rId36" Type="http://schemas.openxmlformats.org/officeDocument/2006/relationships/image" Target="../media/image33.png"/><Relationship Id="rId37" Type="http://schemas.openxmlformats.org/officeDocument/2006/relationships/image" Target="../media/image34.png"/><Relationship Id="rId38" Type="http://schemas.openxmlformats.org/officeDocument/2006/relationships/image" Target="../media/image35.png"/><Relationship Id="rId39"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white-canvas"/>
          <p:cNvSpPr/>
          <p:nvPr/>
        </p:nvSpPr>
        <p:spPr>
          <a:xfrm>
            <a:off x="0" y="0"/>
            <a:ext cx="43559730" cy="435597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 name="footer-band"/>
          <p:cNvSpPr/>
          <p:nvPr/>
        </p:nvSpPr>
        <p:spPr>
          <a:xfrm>
            <a:off x="128016" y="41989248"/>
            <a:ext cx="43303698" cy="1444752"/>
          </a:xfrm>
          <a:prstGeom prst="roundRect">
            <a:avLst>
              <a:gd name="adj" fmla="val 6000"/>
            </a:avLst>
          </a:prstGeom>
          <a:solidFill>
            <a:srgbClr val="0A2A4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4" name="footer-left"/>
          <p:cNvSpPr txBox="1"/>
          <p:nvPr/>
        </p:nvSpPr>
        <p:spPr>
          <a:xfrm>
            <a:off x="512064" y="42172128"/>
            <a:ext cx="30175200" cy="1097280"/>
          </a:xfrm>
          <a:prstGeom prst="rect">
            <a:avLst/>
          </a:prstGeom>
          <a:noFill/>
        </p:spPr>
        <p:txBody>
          <a:bodyPr wrap="square" lIns="0" rIns="0" tIns="0" bIns="0" anchor="t">
            <a:spAutoFit/>
          </a:bodyPr>
          <a:lstStyle/>
          <a:p>
            <a:pPr algn="l">
              <a:lnSpc>
                <a:spcPct val="105000"/>
              </a:lnSpc>
              <a:spcAft>
                <a:spcPts val="0"/>
              </a:spcAft>
            </a:pPr>
            <a:r>
              <a:rPr sz="1800" b="0">
                <a:solidFill>
                  <a:srgbClr val="FFFFFF"/>
                </a:solidFill>
                <a:latin typeface="Times New Roman"/>
              </a:rPr>
              <a:t>Numerical results and Figs 3–8 regenerate from the committed solver by build/make_figures.py; the test suite passes 74 checks. Figs 10–14 analyse photographs published by Yang et al. (2025) and are not our own experiments.</a:t>
            </a:r>
          </a:p>
        </p:txBody>
      </p:sp>
      <p:sp>
        <p:nvSpPr>
          <p:cNvPr id="5" name="footer-right"/>
          <p:cNvSpPr txBox="1"/>
          <p:nvPr/>
        </p:nvSpPr>
        <p:spPr>
          <a:xfrm>
            <a:off x="31272480" y="42172128"/>
            <a:ext cx="11887200" cy="1097280"/>
          </a:xfrm>
          <a:prstGeom prst="rect">
            <a:avLst/>
          </a:prstGeom>
          <a:noFill/>
        </p:spPr>
        <p:txBody>
          <a:bodyPr wrap="square" lIns="0" rIns="0" tIns="0" bIns="0" anchor="t">
            <a:spAutoFit/>
          </a:bodyPr>
          <a:lstStyle/>
          <a:p>
            <a:pPr algn="l">
              <a:lnSpc>
                <a:spcPct val="106000"/>
              </a:lnSpc>
              <a:spcAft>
                <a:spcPts val="0"/>
              </a:spcAft>
            </a:pPr>
            <a:r>
              <a:rPr sz="1700" b="1">
                <a:solidFill>
                  <a:srgbClr val="FFD48A"/>
                </a:solidFill>
                <a:latin typeface="Times New Roman"/>
              </a:rPr>
              <a:t>Source code and data: available on request.</a:t>
            </a:r>
          </a:p>
        </p:txBody>
      </p:sp>
      <p:sp>
        <p:nvSpPr>
          <p:cNvPr id="6" name="title-band"/>
          <p:cNvSpPr/>
          <p:nvPr/>
        </p:nvSpPr>
        <p:spPr>
          <a:xfrm>
            <a:off x="11301984" y="128016"/>
            <a:ext cx="21305520" cy="2889504"/>
          </a:xfrm>
          <a:prstGeom prst="rect">
            <a:avLst/>
          </a:prstGeom>
          <a:gradFill rotWithShape="1">
            <a:gsLst>
              <a:gs pos="0">
                <a:srgbClr val="074D8B"/>
              </a:gs>
              <a:gs pos="100000">
                <a:srgbClr val="2A91B5"/>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7" name="poster-title"/>
          <p:cNvSpPr txBox="1"/>
          <p:nvPr/>
        </p:nvSpPr>
        <p:spPr>
          <a:xfrm>
            <a:off x="11558015" y="310896"/>
            <a:ext cx="20793456" cy="1188720"/>
          </a:xfrm>
          <a:prstGeom prst="rect">
            <a:avLst/>
          </a:prstGeom>
          <a:noFill/>
        </p:spPr>
        <p:txBody>
          <a:bodyPr wrap="square" lIns="0" rIns="0" tIns="0" bIns="0" anchor="t">
            <a:spAutoFit/>
          </a:bodyPr>
          <a:lstStyle/>
          <a:p>
            <a:pPr algn="ctr">
              <a:lnSpc>
                <a:spcPct val="100000"/>
              </a:lnSpc>
              <a:spcAft>
                <a:spcPts val="0"/>
              </a:spcAft>
            </a:pPr>
            <a:r>
              <a:rPr sz="7000" b="1">
                <a:solidFill>
                  <a:srgbClr val="FFFFFF"/>
                </a:solidFill>
                <a:latin typeface="Times New Roman"/>
              </a:rPr>
              <a:t>A Lightweight Axisymmetric Taylor-Cone Solver</a:t>
            </a:r>
          </a:p>
        </p:txBody>
      </p:sp>
      <p:sp>
        <p:nvSpPr>
          <p:cNvPr id="8" name="poster-subtitle"/>
          <p:cNvSpPr txBox="1"/>
          <p:nvPr/>
        </p:nvSpPr>
        <p:spPr>
          <a:xfrm>
            <a:off x="11558015" y="1591056"/>
            <a:ext cx="20793456" cy="548640"/>
          </a:xfrm>
          <a:prstGeom prst="rect">
            <a:avLst/>
          </a:prstGeom>
          <a:noFill/>
        </p:spPr>
        <p:txBody>
          <a:bodyPr wrap="square" lIns="0" rIns="0" tIns="0" bIns="0" anchor="t">
            <a:spAutoFit/>
          </a:bodyPr>
          <a:lstStyle/>
          <a:p>
            <a:pPr algn="ctr">
              <a:lnSpc>
                <a:spcPct val="106000"/>
              </a:lnSpc>
              <a:spcAft>
                <a:spcPts val="0"/>
              </a:spcAft>
            </a:pPr>
            <a:r>
              <a:rPr sz="2600" b="0">
                <a:solidFill>
                  <a:srgbClr val="FFFFFF"/>
                </a:solidFill>
                <a:latin typeface="Times New Roman"/>
              </a:rPr>
              <a:t>Numerical verification of the field, curvature and stress balance on an ordinary laptop</a:t>
            </a:r>
          </a:p>
        </p:txBody>
      </p:sp>
      <p:sp>
        <p:nvSpPr>
          <p:cNvPr id="9" name="authors"/>
          <p:cNvSpPr txBox="1"/>
          <p:nvPr/>
        </p:nvSpPr>
        <p:spPr>
          <a:xfrm>
            <a:off x="11558015" y="2176272"/>
            <a:ext cx="20793456" cy="402336"/>
          </a:xfrm>
          <a:prstGeom prst="rect">
            <a:avLst/>
          </a:prstGeom>
          <a:noFill/>
        </p:spPr>
        <p:txBody>
          <a:bodyPr wrap="square" lIns="0" rIns="0" tIns="0" bIns="0" anchor="t">
            <a:spAutoFit/>
          </a:bodyPr>
          <a:lstStyle/>
          <a:p>
            <a:pPr algn="ctr">
              <a:lnSpc>
                <a:spcPct val="106000"/>
              </a:lnSpc>
              <a:spcAft>
                <a:spcPts val="0"/>
              </a:spcAft>
            </a:pPr>
            <a:r>
              <a:rPr sz="2400" b="0">
                <a:solidFill>
                  <a:srgbClr val="FFFFFF"/>
                </a:solidFill>
                <a:latin typeface="Times New Roman"/>
              </a:rPr>
              <a:t>Ethan Yang · Elliot Dong · Curtis Lau</a:t>
            </a:r>
          </a:p>
        </p:txBody>
      </p:sp>
      <p:sp>
        <p:nvSpPr>
          <p:cNvPr id="10" name="school"/>
          <p:cNvSpPr txBox="1"/>
          <p:nvPr/>
        </p:nvSpPr>
        <p:spPr>
          <a:xfrm>
            <a:off x="11558015" y="2596896"/>
            <a:ext cx="20793456" cy="347472"/>
          </a:xfrm>
          <a:prstGeom prst="rect">
            <a:avLst/>
          </a:prstGeom>
          <a:noFill/>
        </p:spPr>
        <p:txBody>
          <a:bodyPr wrap="square" lIns="0" rIns="0" tIns="0" bIns="0" anchor="t">
            <a:spAutoFit/>
          </a:bodyPr>
          <a:lstStyle/>
          <a:p>
            <a:pPr algn="ctr">
              <a:lnSpc>
                <a:spcPct val="106000"/>
              </a:lnSpc>
              <a:spcAft>
                <a:spcPts val="0"/>
              </a:spcAft>
            </a:pPr>
            <a:r>
              <a:rPr sz="1700" b="0">
                <a:solidFill>
                  <a:srgbClr val="DCE9F5"/>
                </a:solidFill>
                <a:latin typeface="Times New Roman"/>
              </a:rPr>
              <a:t>Independent Schools Foundation Academy, Hong Kong SAR — numerical results plus a published-data comparison</a:t>
            </a:r>
          </a:p>
        </p:txBody>
      </p:sp>
      <p:sp>
        <p:nvSpPr>
          <p:cNvPr id="11" name="introduction-frame"/>
          <p:cNvSpPr/>
          <p:nvPr/>
        </p:nvSpPr>
        <p:spPr>
          <a:xfrm>
            <a:off x="128016" y="128016"/>
            <a:ext cx="10954512" cy="10881360"/>
          </a:xfrm>
          <a:prstGeom prst="roundRect">
            <a:avLst>
              <a:gd name="adj" fmla="val 3500"/>
            </a:avLst>
          </a:prstGeom>
          <a:solidFill>
            <a:srgbClr val="F7F9FC"/>
          </a:solidFill>
          <a:ln w="13970">
            <a:solidFill>
              <a:srgbClr val="4E89B9"/>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2" name="introduction-header"/>
          <p:cNvSpPr/>
          <p:nvPr/>
        </p:nvSpPr>
        <p:spPr>
          <a:xfrm>
            <a:off x="131673" y="131673"/>
            <a:ext cx="10947196" cy="804672"/>
          </a:xfrm>
          <a:prstGeom prst="roundRect">
            <a:avLst>
              <a:gd name="adj" fmla="val 16000"/>
            </a:avLst>
          </a:prstGeom>
          <a:gradFill rotWithShape="1">
            <a:gsLst>
              <a:gs pos="0">
                <a:srgbClr val="155AA1"/>
              </a:gs>
              <a:gs pos="100000">
                <a:srgbClr val="829DBA"/>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3" name="introduction-heading"/>
          <p:cNvSpPr txBox="1"/>
          <p:nvPr/>
        </p:nvSpPr>
        <p:spPr>
          <a:xfrm>
            <a:off x="365760" y="219456"/>
            <a:ext cx="10479024" cy="640080"/>
          </a:xfrm>
          <a:prstGeom prst="rect">
            <a:avLst/>
          </a:prstGeom>
          <a:noFill/>
        </p:spPr>
        <p:txBody>
          <a:bodyPr wrap="square" lIns="0" rIns="0" tIns="0" bIns="0" anchor="ctr">
            <a:spAutoFit/>
          </a:bodyPr>
          <a:lstStyle/>
          <a:p>
            <a:pPr algn="ctr">
              <a:lnSpc>
                <a:spcPct val="106000"/>
              </a:lnSpc>
              <a:spcAft>
                <a:spcPts val="0"/>
              </a:spcAft>
            </a:pPr>
            <a:r>
              <a:rPr sz="3200" b="1">
                <a:solidFill>
                  <a:srgbClr val="FFFFFF"/>
                </a:solidFill>
                <a:latin typeface="Times New Roman"/>
              </a:rPr>
              <a:t>INTRODUCTION</a:t>
            </a:r>
          </a:p>
        </p:txBody>
      </p:sp>
      <p:sp>
        <p:nvSpPr>
          <p:cNvPr id="14" name="intro-sub-1. The probl"/>
          <p:cNvSpPr txBox="1"/>
          <p:nvPr/>
        </p:nvSpPr>
        <p:spPr>
          <a:xfrm>
            <a:off x="402336" y="1060704"/>
            <a:ext cx="10405872" cy="457200"/>
          </a:xfrm>
          <a:prstGeom prst="rect">
            <a:avLst/>
          </a:prstGeom>
          <a:noFill/>
        </p:spPr>
        <p:txBody>
          <a:bodyPr wrap="square" lIns="0" rIns="0" tIns="0" bIns="0" anchor="t">
            <a:spAutoFit/>
          </a:bodyPr>
          <a:lstStyle/>
          <a:p>
            <a:pPr algn="l">
              <a:lnSpc>
                <a:spcPct val="106000"/>
              </a:lnSpc>
              <a:spcAft>
                <a:spcPts val="0"/>
              </a:spcAft>
            </a:pPr>
            <a:r>
              <a:rPr sz="2400" b="1">
                <a:solidFill>
                  <a:srgbClr val="0072B5"/>
                </a:solidFill>
                <a:latin typeface="Times New Roman"/>
              </a:rPr>
              <a:t>1. The problem</a:t>
            </a:r>
          </a:p>
        </p:txBody>
      </p:sp>
      <p:sp>
        <p:nvSpPr>
          <p:cNvPr id="15" name="intro-b-89197"/>
          <p:cNvSpPr txBox="1"/>
          <p:nvPr/>
        </p:nvSpPr>
        <p:spPr>
          <a:xfrm>
            <a:off x="402336" y="1595295"/>
            <a:ext cx="10405872" cy="365760"/>
          </a:xfrm>
          <a:prstGeom prst="rect">
            <a:avLst/>
          </a:prstGeom>
          <a:noFill/>
        </p:spPr>
        <p:txBody>
          <a:bodyPr wrap="square" lIns="0" rIns="0" tIns="0" bIns="0" anchor="t">
            <a:spAutoFit/>
          </a:bodyPr>
          <a:lstStyle/>
          <a:p>
            <a:pPr algn="l" marL="237744" indent="0">
              <a:lnSpc>
                <a:spcPct val="106000"/>
              </a:lnSpc>
              <a:spcAft>
                <a:spcPts val="0"/>
              </a:spcAft>
            </a:pPr>
            <a:r>
              <a:rPr sz="2100" b="0">
                <a:solidFill>
                  <a:srgbClr val="15212C"/>
                </a:solidFill>
                <a:latin typeface="Times New Roman"/>
              </a:rPr>
              <a:t>Electric Maxwell stress pulls the liquid interface outward; surface tension resists. Where the two balance, a Taylor cone forms at the classical half-angle α ≈ 49.3°.</a:t>
            </a:r>
          </a:p>
        </p:txBody>
      </p:sp>
      <p:sp>
        <p:nvSpPr>
          <p:cNvPr id="16" name="intro-b-69926"/>
          <p:cNvSpPr txBox="1"/>
          <p:nvPr/>
        </p:nvSpPr>
        <p:spPr>
          <a:xfrm>
            <a:off x="402336" y="2479187"/>
            <a:ext cx="10405872" cy="365760"/>
          </a:xfrm>
          <a:prstGeom prst="rect">
            <a:avLst/>
          </a:prstGeom>
          <a:noFill/>
        </p:spPr>
        <p:txBody>
          <a:bodyPr wrap="square" lIns="0" rIns="0" tIns="0" bIns="0" anchor="t">
            <a:spAutoFit/>
          </a:bodyPr>
          <a:lstStyle/>
          <a:p>
            <a:pPr algn="l" marL="237744" indent="0">
              <a:lnSpc>
                <a:spcPct val="106000"/>
              </a:lnSpc>
              <a:spcAft>
                <a:spcPts val="0"/>
              </a:spcAft>
            </a:pPr>
            <a:r>
              <a:rPr sz="2100" b="0">
                <a:solidFill>
                  <a:srgbClr val="15212C"/>
                </a:solidFill>
                <a:latin typeface="Times New Roman"/>
              </a:rPr>
              <a:t>High-fidelity electrospray models need specialised multiphysics software, dense meshes and substantial compute — a practical barrier for students and small laboratories.</a:t>
            </a:r>
          </a:p>
        </p:txBody>
      </p:sp>
      <p:sp>
        <p:nvSpPr>
          <p:cNvPr id="17" name="intro-sub-2. Research "/>
          <p:cNvSpPr txBox="1"/>
          <p:nvPr/>
        </p:nvSpPr>
        <p:spPr>
          <a:xfrm>
            <a:off x="402336" y="3363080"/>
            <a:ext cx="10405872" cy="457200"/>
          </a:xfrm>
          <a:prstGeom prst="rect">
            <a:avLst/>
          </a:prstGeom>
          <a:noFill/>
        </p:spPr>
        <p:txBody>
          <a:bodyPr wrap="square" lIns="0" rIns="0" tIns="0" bIns="0" anchor="t">
            <a:spAutoFit/>
          </a:bodyPr>
          <a:lstStyle/>
          <a:p>
            <a:pPr algn="l">
              <a:lnSpc>
                <a:spcPct val="106000"/>
              </a:lnSpc>
              <a:spcAft>
                <a:spcPts val="0"/>
              </a:spcAft>
            </a:pPr>
            <a:r>
              <a:rPr sz="2400" b="1">
                <a:solidFill>
                  <a:srgbClr val="0072B5"/>
                </a:solidFill>
                <a:latin typeface="Times New Roman"/>
              </a:rPr>
              <a:t>2. Research question</a:t>
            </a:r>
          </a:p>
        </p:txBody>
      </p:sp>
      <p:sp>
        <p:nvSpPr>
          <p:cNvPr id="18" name="intro-b-91795"/>
          <p:cNvSpPr txBox="1"/>
          <p:nvPr/>
        </p:nvSpPr>
        <p:spPr>
          <a:xfrm>
            <a:off x="402336" y="3897671"/>
            <a:ext cx="10405872" cy="365760"/>
          </a:xfrm>
          <a:prstGeom prst="rect">
            <a:avLst/>
          </a:prstGeom>
          <a:noFill/>
        </p:spPr>
        <p:txBody>
          <a:bodyPr wrap="square" lIns="0" rIns="0" tIns="0" bIns="0" anchor="t">
            <a:spAutoFit/>
          </a:bodyPr>
          <a:lstStyle/>
          <a:p>
            <a:pPr algn="l" marL="237744" indent="0">
              <a:lnSpc>
                <a:spcPct val="106000"/>
              </a:lnSpc>
              <a:spcAft>
                <a:spcPts val="0"/>
              </a:spcAft>
            </a:pPr>
            <a:r>
              <a:rPr sz="2100" b="0">
                <a:solidFill>
                  <a:srgbClr val="15212C"/>
                </a:solidFill>
                <a:latin typeface="Times New Roman"/>
              </a:rPr>
              <a:t>Can a lightweight sparse axisymmetric solver reproduce the key Taylor-cone observables — potential, interface normal field, curvature and the Maxwell–capillary stress balance — on an ordinary laptop?</a:t>
            </a:r>
          </a:p>
        </p:txBody>
      </p:sp>
      <p:sp>
        <p:nvSpPr>
          <p:cNvPr id="19" name="intro-b-50068"/>
          <p:cNvSpPr txBox="1"/>
          <p:nvPr/>
        </p:nvSpPr>
        <p:spPr>
          <a:xfrm>
            <a:off x="402336" y="5120806"/>
            <a:ext cx="10405872" cy="365760"/>
          </a:xfrm>
          <a:prstGeom prst="rect">
            <a:avLst/>
          </a:prstGeom>
          <a:noFill/>
        </p:spPr>
        <p:txBody>
          <a:bodyPr wrap="square" lIns="0" rIns="0" tIns="0" bIns="0" anchor="t">
            <a:spAutoFit/>
          </a:bodyPr>
          <a:lstStyle/>
          <a:p>
            <a:pPr algn="l" marL="237744" indent="0">
              <a:lnSpc>
                <a:spcPct val="106000"/>
              </a:lnSpc>
              <a:spcAft>
                <a:spcPts val="0"/>
              </a:spcAft>
            </a:pPr>
            <a:r>
              <a:rPr sz="2100" b="0">
                <a:solidFill>
                  <a:srgbClr val="15212C"/>
                </a:solidFill>
                <a:latin typeface="Times New Roman"/>
              </a:rPr>
              <a:t>Which observable actually pins down the half-angle: the projected-residual minimum, or the flank field-exponent crossing?</a:t>
            </a:r>
          </a:p>
        </p:txBody>
      </p:sp>
      <p:sp>
        <p:nvSpPr>
          <p:cNvPr id="20" name="intro-sub-3. Approach:"/>
          <p:cNvSpPr txBox="1"/>
          <p:nvPr/>
        </p:nvSpPr>
        <p:spPr>
          <a:xfrm>
            <a:off x="402336" y="6004698"/>
            <a:ext cx="10405872" cy="457200"/>
          </a:xfrm>
          <a:prstGeom prst="rect">
            <a:avLst/>
          </a:prstGeom>
          <a:noFill/>
        </p:spPr>
        <p:txBody>
          <a:bodyPr wrap="square" lIns="0" rIns="0" tIns="0" bIns="0" anchor="t">
            <a:spAutoFit/>
          </a:bodyPr>
          <a:lstStyle/>
          <a:p>
            <a:pPr algn="l">
              <a:lnSpc>
                <a:spcPct val="106000"/>
              </a:lnSpc>
              <a:spcAft>
                <a:spcPts val="0"/>
              </a:spcAft>
            </a:pPr>
            <a:r>
              <a:rPr sz="2400" b="1">
                <a:solidFill>
                  <a:srgbClr val="0072B5"/>
                </a:solidFill>
                <a:latin typeface="Times New Roman"/>
              </a:rPr>
              <a:t>3. Approach: a verification hierarchy</a:t>
            </a:r>
          </a:p>
        </p:txBody>
      </p:sp>
      <p:sp>
        <p:nvSpPr>
          <p:cNvPr id="21" name="intro-b-93773"/>
          <p:cNvSpPr txBox="1"/>
          <p:nvPr/>
        </p:nvSpPr>
        <p:spPr>
          <a:xfrm>
            <a:off x="402336" y="6539290"/>
            <a:ext cx="10405872" cy="365760"/>
          </a:xfrm>
          <a:prstGeom prst="rect">
            <a:avLst/>
          </a:prstGeom>
          <a:noFill/>
        </p:spPr>
        <p:txBody>
          <a:bodyPr wrap="square" lIns="0" rIns="0" tIns="0" bIns="0" anchor="t">
            <a:spAutoFit/>
          </a:bodyPr>
          <a:lstStyle/>
          <a:p>
            <a:pPr algn="l" marL="237744" indent="0">
              <a:lnSpc>
                <a:spcPct val="106000"/>
              </a:lnSpc>
              <a:spcAft>
                <a:spcPts val="0"/>
              </a:spcAft>
            </a:pPr>
            <a:r>
              <a:rPr sz="2100" b="1">
                <a:solidFill>
                  <a:srgbClr val="15212C"/>
                </a:solidFill>
                <a:latin typeface="Times New Roman"/>
              </a:rPr>
              <a:t>Analytical benchmark.</a:t>
            </a:r>
            <a:r>
              <a:rPr sz="2100" b="0">
                <a:solidFill>
                  <a:srgbClr val="15212C"/>
                </a:solidFill>
                <a:latin typeface="Times New Roman"/>
              </a:rPr>
              <a:t> Taylor's exact half-angle from P₁/₂(cos θ) = 0, recomputed by the solver rather than quoted.</a:t>
            </a:r>
          </a:p>
        </p:txBody>
      </p:sp>
      <p:sp>
        <p:nvSpPr>
          <p:cNvPr id="22" name="intro-b-4798"/>
          <p:cNvSpPr txBox="1"/>
          <p:nvPr/>
        </p:nvSpPr>
        <p:spPr>
          <a:xfrm>
            <a:off x="402336" y="7423182"/>
            <a:ext cx="10405872" cy="365760"/>
          </a:xfrm>
          <a:prstGeom prst="rect">
            <a:avLst/>
          </a:prstGeom>
          <a:noFill/>
        </p:spPr>
        <p:txBody>
          <a:bodyPr wrap="square" lIns="0" rIns="0" tIns="0" bIns="0" anchor="t">
            <a:spAutoFit/>
          </a:bodyPr>
          <a:lstStyle/>
          <a:p>
            <a:pPr algn="l" marL="237744" indent="0">
              <a:lnSpc>
                <a:spcPct val="106000"/>
              </a:lnSpc>
              <a:spcAft>
                <a:spcPts val="0"/>
              </a:spcAft>
            </a:pPr>
            <a:r>
              <a:rPr sz="2100" b="1">
                <a:solidFill>
                  <a:srgbClr val="15212C"/>
                </a:solidFill>
                <a:latin typeface="Times New Roman"/>
              </a:rPr>
              <a:t>Manufactured solution.</a:t>
            </a:r>
            <a:r>
              <a:rPr sz="2100" b="0">
                <a:solidFill>
                  <a:srgbClr val="15212C"/>
                </a:solidFill>
                <a:latin typeface="Times New Roman"/>
              </a:rPr>
              <a:t> The exact quartic φ = r⁴ + z⁴ + r²z² exercises the full axisymmetric operator.</a:t>
            </a:r>
          </a:p>
        </p:txBody>
      </p:sp>
      <p:sp>
        <p:nvSpPr>
          <p:cNvPr id="23" name="intro-b-37285"/>
          <p:cNvSpPr txBox="1"/>
          <p:nvPr/>
        </p:nvSpPr>
        <p:spPr>
          <a:xfrm>
            <a:off x="402336" y="8307074"/>
            <a:ext cx="10405872" cy="365760"/>
          </a:xfrm>
          <a:prstGeom prst="rect">
            <a:avLst/>
          </a:prstGeom>
          <a:noFill/>
        </p:spPr>
        <p:txBody>
          <a:bodyPr wrap="square" lIns="0" rIns="0" tIns="0" bIns="0" anchor="t">
            <a:spAutoFit/>
          </a:bodyPr>
          <a:lstStyle/>
          <a:p>
            <a:pPr algn="l" marL="237744" indent="0">
              <a:lnSpc>
                <a:spcPct val="106000"/>
              </a:lnSpc>
              <a:spcAft>
                <a:spcPts val="0"/>
              </a:spcAft>
            </a:pPr>
            <a:r>
              <a:rPr sz="2100" b="1">
                <a:solidFill>
                  <a:srgbClr val="15212C"/>
                </a:solidFill>
                <a:latin typeface="Times New Roman"/>
              </a:rPr>
              <a:t>Independent comparison.</a:t>
            </a:r>
            <a:r>
              <a:rPr sz="2100" b="0">
                <a:solidFill>
                  <a:srgbClr val="15212C"/>
                </a:solidFill>
                <a:latin typeface="Times New Roman"/>
              </a:rPr>
              <a:t> Immersed finite differences against a body-fitted P1 finite-element solve of the same problem.</a:t>
            </a:r>
          </a:p>
        </p:txBody>
      </p:sp>
      <p:sp>
        <p:nvSpPr>
          <p:cNvPr id="24" name="intro-b-10307"/>
          <p:cNvSpPr txBox="1"/>
          <p:nvPr/>
        </p:nvSpPr>
        <p:spPr>
          <a:xfrm>
            <a:off x="402336" y="9190966"/>
            <a:ext cx="10405872" cy="365760"/>
          </a:xfrm>
          <a:prstGeom prst="rect">
            <a:avLst/>
          </a:prstGeom>
          <a:noFill/>
        </p:spPr>
        <p:txBody>
          <a:bodyPr wrap="square" lIns="0" rIns="0" tIns="0" bIns="0" anchor="t">
            <a:spAutoFit/>
          </a:bodyPr>
          <a:lstStyle/>
          <a:p>
            <a:pPr algn="l" marL="237744" indent="0">
              <a:lnSpc>
                <a:spcPct val="106000"/>
              </a:lnSpc>
              <a:spcAft>
                <a:spcPts val="0"/>
              </a:spcAft>
            </a:pPr>
            <a:r>
              <a:rPr sz="2100" b="1">
                <a:solidFill>
                  <a:srgbClr val="15212C"/>
                </a:solidFill>
                <a:latin typeface="Times New Roman"/>
              </a:rPr>
              <a:t>Free-boundary refinement.</a:t>
            </a:r>
            <a:r>
              <a:rPr sz="2100" b="0">
                <a:solidFill>
                  <a:srgbClr val="15212C"/>
                </a:solidFill>
                <a:latin typeface="Times New Roman"/>
              </a:rPr>
              <a:t> The immersed interface against a legacy staircase grid mask on four successive grids.</a:t>
            </a:r>
          </a:p>
        </p:txBody>
      </p:sp>
      <p:sp>
        <p:nvSpPr>
          <p:cNvPr id="25" name="intro-b-33212"/>
          <p:cNvSpPr txBox="1"/>
          <p:nvPr/>
        </p:nvSpPr>
        <p:spPr>
          <a:xfrm>
            <a:off x="402336" y="10074859"/>
            <a:ext cx="10405872" cy="365760"/>
          </a:xfrm>
          <a:prstGeom prst="rect">
            <a:avLst/>
          </a:prstGeom>
          <a:noFill/>
        </p:spPr>
        <p:txBody>
          <a:bodyPr wrap="square" lIns="0" rIns="0" tIns="0" bIns="0" anchor="t">
            <a:spAutoFit/>
          </a:bodyPr>
          <a:lstStyle/>
          <a:p>
            <a:pPr algn="l" marL="237744" indent="0">
              <a:lnSpc>
                <a:spcPct val="106000"/>
              </a:lnSpc>
              <a:spcAft>
                <a:spcPts val="0"/>
              </a:spcAft>
            </a:pPr>
            <a:r>
              <a:rPr sz="2100" b="0">
                <a:solidFill>
                  <a:srgbClr val="15212C"/>
                </a:solidFill>
                <a:latin typeface="Times New Roman"/>
              </a:rPr>
              <a:t>Sensitivity and synthetic tests. Grid, domain, cap size, sampling window and outer boundary over α = 46°–52°, plus 108 analytic cone silhouettes for the imaging pipeline.</a:t>
            </a:r>
          </a:p>
        </p:txBody>
      </p:sp>
      <p:sp>
        <p:nvSpPr>
          <p:cNvPr id="26" name="physical-model-frame"/>
          <p:cNvSpPr/>
          <p:nvPr/>
        </p:nvSpPr>
        <p:spPr>
          <a:xfrm>
            <a:off x="128016" y="11228832"/>
            <a:ext cx="10954512" cy="12893040"/>
          </a:xfrm>
          <a:prstGeom prst="roundRect">
            <a:avLst>
              <a:gd name="adj" fmla="val 3500"/>
            </a:avLst>
          </a:prstGeom>
          <a:solidFill>
            <a:srgbClr val="F7F9FC"/>
          </a:solidFill>
          <a:ln w="13970">
            <a:solidFill>
              <a:srgbClr val="4E89B9"/>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7" name="physical-model-header"/>
          <p:cNvSpPr/>
          <p:nvPr/>
        </p:nvSpPr>
        <p:spPr>
          <a:xfrm>
            <a:off x="131673" y="11232489"/>
            <a:ext cx="10947196" cy="804672"/>
          </a:xfrm>
          <a:prstGeom prst="roundRect">
            <a:avLst>
              <a:gd name="adj" fmla="val 16000"/>
            </a:avLst>
          </a:prstGeom>
          <a:gradFill rotWithShape="1">
            <a:gsLst>
              <a:gs pos="0">
                <a:srgbClr val="155AA1"/>
              </a:gs>
              <a:gs pos="100000">
                <a:srgbClr val="829DBA"/>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28" name="physical-model-heading"/>
          <p:cNvSpPr txBox="1"/>
          <p:nvPr/>
        </p:nvSpPr>
        <p:spPr>
          <a:xfrm>
            <a:off x="365760" y="11320272"/>
            <a:ext cx="10479024" cy="640080"/>
          </a:xfrm>
          <a:prstGeom prst="rect">
            <a:avLst/>
          </a:prstGeom>
          <a:noFill/>
        </p:spPr>
        <p:txBody>
          <a:bodyPr wrap="square" lIns="0" rIns="0" tIns="0" bIns="0" anchor="ctr">
            <a:spAutoFit/>
          </a:bodyPr>
          <a:lstStyle/>
          <a:p>
            <a:pPr algn="ctr">
              <a:lnSpc>
                <a:spcPct val="106000"/>
              </a:lnSpc>
              <a:spcAft>
                <a:spcPts val="0"/>
              </a:spcAft>
            </a:pPr>
            <a:r>
              <a:rPr sz="3200" b="1">
                <a:solidFill>
                  <a:srgbClr val="FFFFFF"/>
                </a:solidFill>
                <a:latin typeface="Times New Roman"/>
              </a:rPr>
              <a:t>PHYSICAL MODEL</a:t>
            </a:r>
          </a:p>
        </p:txBody>
      </p:sp>
      <p:pic>
        <p:nvPicPr>
          <p:cNvPr id="29" name="fig01" descr="fig01_schematic.png"/>
          <p:cNvPicPr>
            <a:picLocks noChangeAspect="1"/>
          </p:cNvPicPr>
          <p:nvPr/>
        </p:nvPicPr>
        <p:blipFill>
          <a:blip r:embed="rId26"/>
          <a:stretch>
            <a:fillRect/>
          </a:stretch>
        </p:blipFill>
        <p:spPr>
          <a:xfrm>
            <a:off x="758952" y="12161520"/>
            <a:ext cx="9692640" cy="8280719"/>
          </a:xfrm>
          <a:prstGeom prst="rect">
            <a:avLst/>
          </a:prstGeom>
        </p:spPr>
      </p:pic>
      <p:sp>
        <p:nvSpPr>
          <p:cNvPr id="30" name="fig01-cap"/>
          <p:cNvSpPr txBox="1"/>
          <p:nvPr/>
        </p:nvSpPr>
        <p:spPr>
          <a:xfrm>
            <a:off x="402336" y="20698605"/>
            <a:ext cx="10405872" cy="533095"/>
          </a:xfrm>
          <a:prstGeom prst="rect">
            <a:avLst/>
          </a:prstGeom>
          <a:noFill/>
        </p:spPr>
        <p:txBody>
          <a:bodyPr wrap="square" lIns="0" rIns="0" tIns="0" bIns="0" anchor="t">
            <a:spAutoFit/>
          </a:bodyPr>
          <a:lstStyle/>
          <a:p>
            <a:pPr algn="l">
              <a:lnSpc>
                <a:spcPct val="106000"/>
              </a:lnSpc>
              <a:spcAft>
                <a:spcPts val="0"/>
              </a:spcAft>
            </a:pPr>
            <a:r>
              <a:rPr sz="1650" b="0">
                <a:solidFill>
                  <a:srgbClr val="4A5A66"/>
                </a:solidFill>
                <a:latin typeface="Times New Roman"/>
              </a:rPr>
              <a:t>Fig. 1. Physical system. A conducting liquid meniscus at the needle tip deforms under the applied voltage V₀. Maxwell stress balances capillary stress at the classical half-angle α ≈ 49.3°.</a:t>
            </a:r>
          </a:p>
        </p:txBody>
      </p:sp>
      <p:sp>
        <p:nvSpPr>
          <p:cNvPr id="31" name="model-prose"/>
          <p:cNvSpPr txBox="1"/>
          <p:nvPr/>
        </p:nvSpPr>
        <p:spPr>
          <a:xfrm>
            <a:off x="402336" y="21488066"/>
            <a:ext cx="10405872" cy="1280160"/>
          </a:xfrm>
          <a:prstGeom prst="rect">
            <a:avLst/>
          </a:prstGeom>
          <a:noFill/>
        </p:spPr>
        <p:txBody>
          <a:bodyPr wrap="square" lIns="0" rIns="0" tIns="0" bIns="0" anchor="t">
            <a:spAutoFit/>
          </a:bodyPr>
          <a:lstStyle/>
          <a:p>
            <a:pPr algn="l">
              <a:lnSpc>
                <a:spcPct val="106000"/>
              </a:lnSpc>
              <a:spcAft>
                <a:spcPts val="0"/>
              </a:spcAft>
            </a:pPr>
            <a:r>
              <a:rPr sz="2000" b="0">
                <a:solidFill>
                  <a:srgbClr val="15212C"/>
                </a:solidFill>
                <a:latin typeface="Times New Roman"/>
              </a:rPr>
              <a:t>Reduced-order model. The liquid is an equipotential conductor and the gas obeys Laplace's equation. A rounded cone — half-angle α, apex cap radius R_c — defines the candidate interface; electric and capillary pressures on that interface combine into a Young–Laplace–Maxwell residual R.</a:t>
            </a:r>
          </a:p>
        </p:txBody>
      </p:sp>
      <p:sp>
        <p:nvSpPr>
          <p:cNvPr id="32" name="eq-band"/>
          <p:cNvSpPr/>
          <p:nvPr/>
        </p:nvSpPr>
        <p:spPr>
          <a:xfrm>
            <a:off x="402336" y="22713696"/>
            <a:ext cx="10405872" cy="1243584"/>
          </a:xfrm>
          <a:prstGeom prst="roundRect">
            <a:avLst>
              <a:gd name="adj" fmla="val 8000"/>
            </a:avLst>
          </a:prstGeom>
          <a:solidFill>
            <a:srgbClr val="EAF3FA"/>
          </a:solidFill>
          <a:ln w="13970">
            <a:solidFill>
              <a:srgbClr val="BBD6E8"/>
            </a:solid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3" name="eq-text"/>
          <p:cNvSpPr txBox="1"/>
          <p:nvPr/>
        </p:nvSpPr>
        <p:spPr>
          <a:xfrm>
            <a:off x="621792" y="22841712"/>
            <a:ext cx="9966960" cy="1005840"/>
          </a:xfrm>
          <a:prstGeom prst="rect">
            <a:avLst/>
          </a:prstGeom>
          <a:noFill/>
        </p:spPr>
        <p:txBody>
          <a:bodyPr wrap="square" lIns="0" rIns="0" tIns="0" bIns="0" anchor="t">
            <a:spAutoFit/>
          </a:bodyPr>
          <a:lstStyle/>
          <a:p>
            <a:pPr algn="ctr">
              <a:lnSpc>
                <a:spcPct val="120000"/>
              </a:lnSpc>
              <a:spcAft>
                <a:spcPts val="0"/>
              </a:spcAft>
            </a:pPr>
            <a:r>
              <a:rPr sz="2400" b="1">
                <a:solidFill>
                  <a:srgbClr val="0072B5"/>
                </a:solidFill>
                <a:latin typeface="Times New Roman"/>
              </a:rPr>
              <a:t>∇²φ = 0          E = −∇φ</a:t>
            </a:r>
          </a:p>
          <a:p>
            <a:pPr algn="ctr">
              <a:lnSpc>
                <a:spcPct val="120000"/>
              </a:lnSpc>
              <a:spcAft>
                <a:spcPts val="0"/>
              </a:spcAft>
            </a:pPr>
            <a:r>
              <a:rPr sz="2400" b="1">
                <a:solidFill>
                  <a:srgbClr val="086EAD"/>
                </a:solidFill>
                <a:latin typeface="Times New Roman"/>
              </a:rPr>
              <a:t>p_E = ½ ε₀ Eₙ²          p_γ = γκ          R = p_γ − p_E − Δp</a:t>
            </a:r>
          </a:p>
        </p:txBody>
      </p:sp>
      <p:sp>
        <p:nvSpPr>
          <p:cNvPr id="34" name="setup-frame"/>
          <p:cNvSpPr/>
          <p:nvPr/>
        </p:nvSpPr>
        <p:spPr>
          <a:xfrm>
            <a:off x="128016" y="24341328"/>
            <a:ext cx="10954512" cy="9235439"/>
          </a:xfrm>
          <a:prstGeom prst="roundRect">
            <a:avLst>
              <a:gd name="adj" fmla="val 3500"/>
            </a:avLst>
          </a:prstGeom>
          <a:solidFill>
            <a:srgbClr val="F7F9FC"/>
          </a:solidFill>
          <a:ln w="13970">
            <a:solidFill>
              <a:srgbClr val="4E89B9"/>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5" name="setup-header"/>
          <p:cNvSpPr/>
          <p:nvPr/>
        </p:nvSpPr>
        <p:spPr>
          <a:xfrm>
            <a:off x="131673" y="24344985"/>
            <a:ext cx="10947196" cy="804672"/>
          </a:xfrm>
          <a:prstGeom prst="roundRect">
            <a:avLst>
              <a:gd name="adj" fmla="val 16000"/>
            </a:avLst>
          </a:prstGeom>
          <a:gradFill rotWithShape="1">
            <a:gsLst>
              <a:gs pos="0">
                <a:srgbClr val="155AA1"/>
              </a:gs>
              <a:gs pos="100000">
                <a:srgbClr val="829DBA"/>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36" name="setup-heading"/>
          <p:cNvSpPr txBox="1"/>
          <p:nvPr/>
        </p:nvSpPr>
        <p:spPr>
          <a:xfrm>
            <a:off x="365760" y="24432768"/>
            <a:ext cx="10479024" cy="640080"/>
          </a:xfrm>
          <a:prstGeom prst="rect">
            <a:avLst/>
          </a:prstGeom>
          <a:noFill/>
        </p:spPr>
        <p:txBody>
          <a:bodyPr wrap="square" lIns="0" rIns="0" tIns="0" bIns="0" anchor="ctr">
            <a:spAutoFit/>
          </a:bodyPr>
          <a:lstStyle/>
          <a:p>
            <a:pPr algn="ctr">
              <a:lnSpc>
                <a:spcPct val="106000"/>
              </a:lnSpc>
              <a:spcAft>
                <a:spcPts val="0"/>
              </a:spcAft>
            </a:pPr>
            <a:r>
              <a:rPr sz="3200" b="1">
                <a:solidFill>
                  <a:srgbClr val="FFFFFF"/>
                </a:solidFill>
                <a:latin typeface="Times New Roman"/>
              </a:rPr>
              <a:t>VERIFICATION RUNS</a:t>
            </a:r>
          </a:p>
        </p:txBody>
      </p:sp>
      <p:sp>
        <p:nvSpPr>
          <p:cNvPr id="37" name="runs-note"/>
          <p:cNvSpPr txBox="1"/>
          <p:nvPr/>
        </p:nvSpPr>
        <p:spPr>
          <a:xfrm>
            <a:off x="402336" y="25274016"/>
            <a:ext cx="10405872" cy="1097280"/>
          </a:xfrm>
          <a:prstGeom prst="rect">
            <a:avLst/>
          </a:prstGeom>
          <a:noFill/>
        </p:spPr>
        <p:txBody>
          <a:bodyPr wrap="square" lIns="0" rIns="0" tIns="0" bIns="0" anchor="t">
            <a:spAutoFit/>
          </a:bodyPr>
          <a:lstStyle/>
          <a:p>
            <a:pPr algn="l">
              <a:lnSpc>
                <a:spcPct val="106000"/>
              </a:lnSpc>
              <a:spcAft>
                <a:spcPts val="0"/>
              </a:spcAft>
            </a:pPr>
            <a:r>
              <a:rPr sz="2000" b="0">
                <a:solidFill>
                  <a:srgbClr val="15212C"/>
                </a:solidFill>
                <a:latin typeface="Times New Roman"/>
              </a:rPr>
              <a:t>Nine committed runs, each with its own reference. Manufactured convergence is the primary evidence for the electrostatic operator; the immersed/staircase pair justifies the interface treatment; the identity and crossing runs test the balance diagnostics.</a:t>
            </a:r>
          </a:p>
        </p:txBody>
      </p:sp>
      <p:graphicFrame>
        <p:nvGraphicFramePr>
          <p:cNvPr id="38" name="Table 37"/>
          <p:cNvGraphicFramePr>
            <a:graphicFrameLocks noGrp="1"/>
          </p:cNvGraphicFramePr>
          <p:nvPr/>
        </p:nvGraphicFramePr>
        <p:xfrm>
          <a:off x="402336" y="26810208"/>
          <a:ext cx="9857232" cy="4754880"/>
        </p:xfrm>
        <a:graphic>
          <a:graphicData uri="http://schemas.openxmlformats.org/drawingml/2006/table">
            <a:tbl>
              <a:tblPr firstRow="1">
                <a:tableStyleId>{5C22544A-7EE6-4342-B048-85BDC9FD1C3A}</a:tableStyleId>
              </a:tblPr>
              <a:tblGrid>
                <a:gridCol w="2788920"/>
                <a:gridCol w="2148840"/>
                <a:gridCol w="2148840"/>
                <a:gridCol w="2770632"/>
              </a:tblGrid>
              <a:tr h="475488">
                <a:tc>
                  <a:txBody>
                    <a:bodyPr wrap="square" lIns="0" rIns="0" tIns="0" bIns="0" anchor="t"/>
                    <a:lstStyle/>
                    <a:p>
                      <a:pPr>
                        <a:lnSpc>
                          <a:spcPct val="100000"/>
                        </a:lnSpc>
                      </a:pPr>
                      <a:r>
                        <a:rPr sz="1550" b="1">
                          <a:solidFill>
                            <a:srgbClr val="FFFFFF"/>
                          </a:solidFill>
                          <a:latin typeface="Times New Roman"/>
                        </a:rPr>
                        <a:t>Run</a:t>
                      </a:r>
                    </a:p>
                  </a:txBody>
                  <a:tcPr marL="91440" marR="54864" marT="18288" marB="18288" anchor="ctr">
                    <a:solidFill>
                      <a:srgbClr val="086EAD"/>
                    </a:solidFill>
                  </a:tcPr>
                </a:tc>
                <a:tc>
                  <a:txBody>
                    <a:bodyPr wrap="square" lIns="0" rIns="0" tIns="0" bIns="0" anchor="t"/>
                    <a:lstStyle/>
                    <a:p>
                      <a:pPr>
                        <a:lnSpc>
                          <a:spcPct val="100000"/>
                        </a:lnSpc>
                      </a:pPr>
                      <a:r>
                        <a:rPr sz="1550" b="1">
                          <a:solidFill>
                            <a:srgbClr val="FFFFFF"/>
                          </a:solidFill>
                          <a:latin typeface="Times New Roman"/>
                        </a:rPr>
                        <a:t>Grid(s)</a:t>
                      </a:r>
                    </a:p>
                  </a:txBody>
                  <a:tcPr marL="91440" marR="54864" marT="18288" marB="18288" anchor="ctr">
                    <a:solidFill>
                      <a:srgbClr val="086EAD"/>
                    </a:solidFill>
                  </a:tcPr>
                </a:tc>
                <a:tc>
                  <a:txBody>
                    <a:bodyPr wrap="square" lIns="0" rIns="0" tIns="0" bIns="0" anchor="t"/>
                    <a:lstStyle/>
                    <a:p>
                      <a:pPr>
                        <a:lnSpc>
                          <a:spcPct val="100000"/>
                        </a:lnSpc>
                      </a:pPr>
                      <a:r>
                        <a:rPr sz="1550" b="1">
                          <a:solidFill>
                            <a:srgbClr val="FFFFFF"/>
                          </a:solidFill>
                          <a:latin typeface="Times New Roman"/>
                        </a:rPr>
                        <a:t>Observable</a:t>
                      </a:r>
                    </a:p>
                  </a:txBody>
                  <a:tcPr marL="91440" marR="54864" marT="18288" marB="18288" anchor="ctr">
                    <a:solidFill>
                      <a:srgbClr val="086EAD"/>
                    </a:solidFill>
                  </a:tcPr>
                </a:tc>
                <a:tc>
                  <a:txBody>
                    <a:bodyPr wrap="square" lIns="0" rIns="0" tIns="0" bIns="0" anchor="t"/>
                    <a:lstStyle/>
                    <a:p>
                      <a:pPr>
                        <a:lnSpc>
                          <a:spcPct val="100000"/>
                        </a:lnSpc>
                      </a:pPr>
                      <a:r>
                        <a:rPr sz="1550" b="1">
                          <a:solidFill>
                            <a:srgbClr val="FFFFFF"/>
                          </a:solidFill>
                          <a:latin typeface="Times New Roman"/>
                        </a:rPr>
                        <a:t>Value</a:t>
                      </a:r>
                    </a:p>
                  </a:txBody>
                  <a:tcPr marL="91440" marR="54864" marT="18288" marB="18288" anchor="ctr">
                    <a:solidFill>
                      <a:srgbClr val="086EAD"/>
                    </a:solidFill>
                  </a:tcPr>
                </a:tc>
              </a:tr>
              <a:tr h="475488">
                <a:tc>
                  <a:txBody>
                    <a:bodyPr wrap="square" lIns="0" rIns="0" tIns="0" bIns="0" anchor="t"/>
                    <a:lstStyle/>
                    <a:p>
                      <a:pPr>
                        <a:lnSpc>
                          <a:spcPct val="100000"/>
                        </a:lnSpc>
                      </a:pPr>
                      <a:r>
                        <a:rPr sz="1550" b="0">
                          <a:solidFill>
                            <a:srgbClr val="15212C"/>
                          </a:solidFill>
                          <a:latin typeface="Times New Roman"/>
                        </a:rPr>
                        <a:t>Analytical Taylor benchmark</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P₁/₂(cos θ) = 0</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half-angle</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49.2901°</a:t>
                      </a:r>
                    </a:p>
                  </a:txBody>
                  <a:tcPr marL="91440" marR="54864" marT="18288" marB="18288" anchor="ctr">
                    <a:solidFill>
                      <a:srgbClr val="FFFFFF"/>
                    </a:solidFill>
                  </a:tcPr>
                </a:tc>
              </a:tr>
              <a:tr h="475488">
                <a:tc>
                  <a:txBody>
                    <a:bodyPr wrap="square" lIns="0" rIns="0" tIns="0" bIns="0" anchor="t"/>
                    <a:lstStyle/>
                    <a:p>
                      <a:pPr>
                        <a:lnSpc>
                          <a:spcPct val="100000"/>
                        </a:lnSpc>
                      </a:pPr>
                      <a:r>
                        <a:rPr sz="1550" b="0">
                          <a:solidFill>
                            <a:srgbClr val="15212C"/>
                          </a:solidFill>
                          <a:latin typeface="Times New Roman"/>
                        </a:rPr>
                        <a:t>Quartic manufactured Poisson</a:t>
                      </a:r>
                    </a:p>
                  </a:txBody>
                  <a:tcPr marL="91440" marR="54864" marT="18288" marB="18288" anchor="ctr">
                    <a:solidFill>
                      <a:srgbClr val="EAF3FA"/>
                    </a:solidFill>
                  </a:tcPr>
                </a:tc>
                <a:tc>
                  <a:txBody>
                    <a:bodyPr wrap="square" lIns="0" rIns="0" tIns="0" bIns="0" anchor="t"/>
                    <a:lstStyle/>
                    <a:p>
                      <a:pPr>
                        <a:lnSpc>
                          <a:spcPct val="100000"/>
                        </a:lnSpc>
                      </a:pPr>
                      <a:r>
                        <a:rPr sz="1550" b="0">
                          <a:solidFill>
                            <a:srgbClr val="15212C"/>
                          </a:solidFill>
                          <a:latin typeface="Times New Roman"/>
                        </a:rPr>
                        <a:t>25×27 → 193×209</a:t>
                      </a:r>
                    </a:p>
                  </a:txBody>
                  <a:tcPr marL="91440" marR="54864" marT="18288" marB="18288" anchor="ctr">
                    <a:solidFill>
                      <a:srgbClr val="EAF3FA"/>
                    </a:solidFill>
                  </a:tcPr>
                </a:tc>
                <a:tc>
                  <a:txBody>
                    <a:bodyPr wrap="square" lIns="0" rIns="0" tIns="0" bIns="0" anchor="t"/>
                    <a:lstStyle/>
                    <a:p>
                      <a:pPr>
                        <a:lnSpc>
                          <a:spcPct val="100000"/>
                        </a:lnSpc>
                      </a:pPr>
                      <a:r>
                        <a:rPr sz="1550" b="0">
                          <a:solidFill>
                            <a:srgbClr val="15212C"/>
                          </a:solidFill>
                          <a:latin typeface="Times New Roman"/>
                        </a:rPr>
                        <a:t>L² order</a:t>
                      </a:r>
                    </a:p>
                  </a:txBody>
                  <a:tcPr marL="91440" marR="54864" marT="18288" marB="18288" anchor="ctr">
                    <a:solidFill>
                      <a:srgbClr val="EAF3FA"/>
                    </a:solidFill>
                  </a:tcPr>
                </a:tc>
                <a:tc>
                  <a:txBody>
                    <a:bodyPr wrap="square" lIns="0" rIns="0" tIns="0" bIns="0" anchor="t"/>
                    <a:lstStyle/>
                    <a:p>
                      <a:pPr>
                        <a:lnSpc>
                          <a:spcPct val="100000"/>
                        </a:lnSpc>
                      </a:pPr>
                      <a:r>
                        <a:rPr sz="1550" b="0">
                          <a:solidFill>
                            <a:srgbClr val="15212C"/>
                          </a:solidFill>
                          <a:latin typeface="Times New Roman"/>
                        </a:rPr>
                        <a:t>2.025 / 2.013 / 2.006</a:t>
                      </a:r>
                    </a:p>
                  </a:txBody>
                  <a:tcPr marL="91440" marR="54864" marT="18288" marB="18288" anchor="ctr">
                    <a:solidFill>
                      <a:srgbClr val="EAF3FA"/>
                    </a:solidFill>
                  </a:tcPr>
                </a:tc>
              </a:tr>
              <a:tr h="475488">
                <a:tc>
                  <a:txBody>
                    <a:bodyPr wrap="square" lIns="0" rIns="0" tIns="0" bIns="0" anchor="t"/>
                    <a:lstStyle/>
                    <a:p>
                      <a:pPr>
                        <a:lnSpc>
                          <a:spcPct val="100000"/>
                        </a:lnSpc>
                      </a:pPr>
                      <a:r>
                        <a:rPr sz="1550" b="0">
                          <a:solidFill>
                            <a:srgbClr val="15212C"/>
                          </a:solidFill>
                          <a:latin typeface="Times New Roman"/>
                        </a:rPr>
                        <a:t>Quadratic manufactured control</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193×209</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L² error</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≈1e-14 (exact by construction)</a:t>
                      </a:r>
                    </a:p>
                  </a:txBody>
                  <a:tcPr marL="91440" marR="54864" marT="18288" marB="18288" anchor="ctr">
                    <a:solidFill>
                      <a:srgbClr val="FFFFFF"/>
                    </a:solidFill>
                  </a:tcPr>
                </a:tc>
              </a:tr>
              <a:tr h="475488">
                <a:tc>
                  <a:txBody>
                    <a:bodyPr wrap="square" lIns="0" rIns="0" tIns="0" bIns="0" anchor="t"/>
                    <a:lstStyle/>
                    <a:p>
                      <a:pPr>
                        <a:lnSpc>
                          <a:spcPct val="100000"/>
                        </a:lnSpc>
                      </a:pPr>
                      <a:r>
                        <a:rPr sz="1550" b="0">
                          <a:solidFill>
                            <a:srgbClr val="15212C"/>
                          </a:solidFill>
                          <a:latin typeface="Times New Roman"/>
                        </a:rPr>
                        <a:t>Immersed-boundary refinement</a:t>
                      </a:r>
                    </a:p>
                  </a:txBody>
                  <a:tcPr marL="91440" marR="54864" marT="18288" marB="18288" anchor="ctr">
                    <a:solidFill>
                      <a:srgbClr val="EAF3FA"/>
                    </a:solidFill>
                  </a:tcPr>
                </a:tc>
                <a:tc>
                  <a:txBody>
                    <a:bodyPr wrap="square" lIns="0" rIns="0" tIns="0" bIns="0" anchor="t"/>
                    <a:lstStyle/>
                    <a:p>
                      <a:pPr>
                        <a:lnSpc>
                          <a:spcPct val="100000"/>
                        </a:lnSpc>
                      </a:pPr>
                      <a:r>
                        <a:rPr sz="1550" b="0">
                          <a:solidFill>
                            <a:srgbClr val="15212C"/>
                          </a:solidFill>
                          <a:latin typeface="Times New Roman"/>
                        </a:rPr>
                        <a:t>31×45 → 87×129</a:t>
                      </a:r>
                    </a:p>
                  </a:txBody>
                  <a:tcPr marL="91440" marR="54864" marT="18288" marB="18288" anchor="ctr">
                    <a:solidFill>
                      <a:srgbClr val="EAF3FA"/>
                    </a:solidFill>
                  </a:tcPr>
                </a:tc>
                <a:tc>
                  <a:txBody>
                    <a:bodyPr wrap="square" lIns="0" rIns="0" tIns="0" bIns="0" anchor="t"/>
                    <a:lstStyle/>
                    <a:p>
                      <a:pPr>
                        <a:lnSpc>
                          <a:spcPct val="100000"/>
                        </a:lnSpc>
                      </a:pPr>
                      <a:r>
                        <a:rPr sz="1550" b="0">
                          <a:solidFill>
                            <a:srgbClr val="15212C"/>
                          </a:solidFill>
                          <a:latin typeface="Times New Roman"/>
                        </a:rPr>
                        <a:t>inter-level order</a:t>
                      </a:r>
                    </a:p>
                  </a:txBody>
                  <a:tcPr marL="91440" marR="54864" marT="18288" marB="18288" anchor="ctr">
                    <a:solidFill>
                      <a:srgbClr val="EAF3FA"/>
                    </a:solidFill>
                  </a:tcPr>
                </a:tc>
                <a:tc>
                  <a:txBody>
                    <a:bodyPr wrap="square" lIns="0" rIns="0" tIns="0" bIns="0" anchor="t"/>
                    <a:lstStyle/>
                    <a:p>
                      <a:pPr>
                        <a:lnSpc>
                          <a:spcPct val="100000"/>
                        </a:lnSpc>
                      </a:pPr>
                      <a:r>
                        <a:rPr sz="1550" b="0">
                          <a:solidFill>
                            <a:srgbClr val="15212C"/>
                          </a:solidFill>
                          <a:latin typeface="Times New Roman"/>
                        </a:rPr>
                        <a:t>1.28 → 0.74</a:t>
                      </a:r>
                    </a:p>
                  </a:txBody>
                  <a:tcPr marL="91440" marR="54864" marT="18288" marB="18288" anchor="ctr">
                    <a:solidFill>
                      <a:srgbClr val="EAF3FA"/>
                    </a:solidFill>
                  </a:tcPr>
                </a:tc>
              </a:tr>
              <a:tr h="475488">
                <a:tc>
                  <a:txBody>
                    <a:bodyPr wrap="square" lIns="0" rIns="0" tIns="0" bIns="0" anchor="t"/>
                    <a:lstStyle/>
                    <a:p>
                      <a:pPr>
                        <a:lnSpc>
                          <a:spcPct val="100000"/>
                        </a:lnSpc>
                      </a:pPr>
                      <a:r>
                        <a:rPr sz="1550" b="0">
                          <a:solidFill>
                            <a:srgbClr val="15212C"/>
                          </a:solidFill>
                          <a:latin typeface="Times New Roman"/>
                        </a:rPr>
                        <a:t>Legacy staircase mask</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31×45 → 87×129</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inter-level order</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1.86 → −0.66 (non-convergent)</a:t>
                      </a:r>
                    </a:p>
                  </a:txBody>
                  <a:tcPr marL="91440" marR="54864" marT="18288" marB="18288" anchor="ctr">
                    <a:solidFill>
                      <a:srgbClr val="FFFFFF"/>
                    </a:solidFill>
                  </a:tcPr>
                </a:tc>
              </a:tr>
              <a:tr h="475488">
                <a:tc>
                  <a:txBody>
                    <a:bodyPr wrap="square" lIns="0" rIns="0" tIns="0" bIns="0" anchor="t"/>
                    <a:lstStyle/>
                    <a:p>
                      <a:pPr>
                        <a:lnSpc>
                          <a:spcPct val="100000"/>
                        </a:lnSpc>
                      </a:pPr>
                      <a:r>
                        <a:rPr sz="1550" b="0">
                          <a:solidFill>
                            <a:srgbClr val="15212C"/>
                          </a:solidFill>
                          <a:latin typeface="Times New Roman"/>
                        </a:rPr>
                        <a:t>Imposed-Taylor identity</a:t>
                      </a:r>
                    </a:p>
                  </a:txBody>
                  <a:tcPr marL="91440" marR="54864" marT="18288" marB="18288" anchor="ctr">
                    <a:solidFill>
                      <a:srgbClr val="EAF3FA"/>
                    </a:solidFill>
                  </a:tcPr>
                </a:tc>
                <a:tc>
                  <a:txBody>
                    <a:bodyPr wrap="square" lIns="0" rIns="0" tIns="0" bIns="0" anchor="t"/>
                    <a:lstStyle/>
                    <a:p>
                      <a:pPr>
                        <a:lnSpc>
                          <a:spcPct val="100000"/>
                        </a:lnSpc>
                      </a:pPr>
                      <a:r>
                        <a:rPr sz="1550" b="0">
                          <a:solidFill>
                            <a:srgbClr val="15212C"/>
                          </a:solidFill>
                          <a:latin typeface="Times New Roman"/>
                        </a:rPr>
                        <a:t>121×177</a:t>
                      </a:r>
                    </a:p>
                  </a:txBody>
                  <a:tcPr marL="91440" marR="54864" marT="18288" marB="18288" anchor="ctr">
                    <a:solidFill>
                      <a:srgbClr val="EAF3FA"/>
                    </a:solidFill>
                  </a:tcPr>
                </a:tc>
                <a:tc>
                  <a:txBody>
                    <a:bodyPr wrap="square" lIns="0" rIns="0" tIns="0" bIns="0" anchor="t"/>
                    <a:lstStyle/>
                    <a:p>
                      <a:pPr>
                        <a:lnSpc>
                          <a:spcPct val="100000"/>
                        </a:lnSpc>
                      </a:pPr>
                      <a:r>
                        <a:rPr sz="1550" b="0">
                          <a:solidFill>
                            <a:srgbClr val="15212C"/>
                          </a:solidFill>
                          <a:latin typeface="Times New Roman"/>
                        </a:rPr>
                        <a:t>amplitude ratio</a:t>
                      </a:r>
                    </a:p>
                  </a:txBody>
                  <a:tcPr marL="91440" marR="54864" marT="18288" marB="18288" anchor="ctr">
                    <a:solidFill>
                      <a:srgbClr val="EAF3FA"/>
                    </a:solidFill>
                  </a:tcPr>
                </a:tc>
                <a:tc>
                  <a:txBody>
                    <a:bodyPr wrap="square" lIns="0" rIns="0" tIns="0" bIns="0" anchor="t"/>
                    <a:lstStyle/>
                    <a:p>
                      <a:pPr>
                        <a:lnSpc>
                          <a:spcPct val="100000"/>
                        </a:lnSpc>
                      </a:pPr>
                      <a:r>
                        <a:rPr sz="1550" b="0">
                          <a:solidFill>
                            <a:srgbClr val="15212C"/>
                          </a:solidFill>
                          <a:latin typeface="Times New Roman"/>
                        </a:rPr>
                        <a:t>1.00054</a:t>
                      </a:r>
                    </a:p>
                  </a:txBody>
                  <a:tcPr marL="91440" marR="54864" marT="18288" marB="18288" anchor="ctr">
                    <a:solidFill>
                      <a:srgbClr val="EAF3FA"/>
                    </a:solidFill>
                  </a:tcPr>
                </a:tc>
              </a:tr>
              <a:tr h="475488">
                <a:tc>
                  <a:txBody>
                    <a:bodyPr wrap="square" lIns="0" rIns="0" tIns="0" bIns="0" anchor="t"/>
                    <a:lstStyle/>
                    <a:p>
                      <a:pPr>
                        <a:lnSpc>
                          <a:spcPct val="100000"/>
                        </a:lnSpc>
                      </a:pPr>
                      <a:r>
                        <a:rPr sz="1550" b="0">
                          <a:solidFill>
                            <a:srgbClr val="15212C"/>
                          </a:solidFill>
                          <a:latin typeface="Times New Roman"/>
                        </a:rPr>
                        <a:t>Flank exponent crossing</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61×89 ; 121×177</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recovered angle</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49.136° ; 49.203°</a:t>
                      </a:r>
                    </a:p>
                  </a:txBody>
                  <a:tcPr marL="91440" marR="54864" marT="18288" marB="18288" anchor="ctr">
                    <a:solidFill>
                      <a:srgbClr val="FFFFFF"/>
                    </a:solidFill>
                  </a:tcPr>
                </a:tc>
              </a:tr>
              <a:tr h="475488">
                <a:tc>
                  <a:txBody>
                    <a:bodyPr wrap="square" lIns="0" rIns="0" tIns="0" bIns="0" anchor="t"/>
                    <a:lstStyle/>
                    <a:p>
                      <a:pPr>
                        <a:lnSpc>
                          <a:spcPct val="100000"/>
                        </a:lnSpc>
                      </a:pPr>
                      <a:r>
                        <a:rPr sz="1550" b="0">
                          <a:solidFill>
                            <a:srgbClr val="15212C"/>
                          </a:solidFill>
                          <a:latin typeface="Times New Roman"/>
                        </a:rPr>
                        <a:t>Projected-residual landscape</a:t>
                      </a:r>
                    </a:p>
                  </a:txBody>
                  <a:tcPr marL="91440" marR="54864" marT="18288" marB="18288" anchor="ctr">
                    <a:solidFill>
                      <a:srgbClr val="EAF3FA"/>
                    </a:solidFill>
                  </a:tcPr>
                </a:tc>
                <a:tc>
                  <a:txBody>
                    <a:bodyPr wrap="square" lIns="0" rIns="0" tIns="0" bIns="0" anchor="t"/>
                    <a:lstStyle/>
                    <a:p>
                      <a:pPr>
                        <a:lnSpc>
                          <a:spcPct val="100000"/>
                        </a:lnSpc>
                      </a:pPr>
                      <a:r>
                        <a:rPr sz="1550" b="0">
                          <a:solidFill>
                            <a:srgbClr val="15212C"/>
                          </a:solidFill>
                          <a:latin typeface="Times New Roman"/>
                        </a:rPr>
                        <a:t>121×177</a:t>
                      </a:r>
                    </a:p>
                  </a:txBody>
                  <a:tcPr marL="91440" marR="54864" marT="18288" marB="18288" anchor="ctr">
                    <a:solidFill>
                      <a:srgbClr val="EAF3FA"/>
                    </a:solidFill>
                  </a:tcPr>
                </a:tc>
                <a:tc>
                  <a:txBody>
                    <a:bodyPr wrap="square" lIns="0" rIns="0" tIns="0" bIns="0" anchor="t"/>
                    <a:lstStyle/>
                    <a:p>
                      <a:pPr>
                        <a:lnSpc>
                          <a:spcPct val="100000"/>
                        </a:lnSpc>
                      </a:pPr>
                      <a:r>
                        <a:rPr sz="1550" b="0">
                          <a:solidFill>
                            <a:srgbClr val="15212C"/>
                          </a:solidFill>
                          <a:latin typeface="Times New Roman"/>
                        </a:rPr>
                        <a:t>minimum RMS</a:t>
                      </a:r>
                    </a:p>
                  </a:txBody>
                  <a:tcPr marL="91440" marR="54864" marT="18288" marB="18288" anchor="ctr">
                    <a:solidFill>
                      <a:srgbClr val="EAF3FA"/>
                    </a:solidFill>
                  </a:tcPr>
                </a:tc>
                <a:tc>
                  <a:txBody>
                    <a:bodyPr wrap="square" lIns="0" rIns="0" tIns="0" bIns="0" anchor="t"/>
                    <a:lstStyle/>
                    <a:p>
                      <a:pPr>
                        <a:lnSpc>
                          <a:spcPct val="100000"/>
                        </a:lnSpc>
                      </a:pPr>
                      <a:r>
                        <a:rPr sz="1550" b="0">
                          <a:solidFill>
                            <a:srgbClr val="15212C"/>
                          </a:solidFill>
                          <a:latin typeface="Times New Roman"/>
                        </a:rPr>
                        <a:t>0.00655 Pa</a:t>
                      </a:r>
                    </a:p>
                  </a:txBody>
                  <a:tcPr marL="91440" marR="54864" marT="18288" marB="18288" anchor="ctr">
                    <a:solidFill>
                      <a:srgbClr val="EAF3FA"/>
                    </a:solidFill>
                  </a:tcPr>
                </a:tc>
              </a:tr>
              <a:tr h="475488">
                <a:tc>
                  <a:txBody>
                    <a:bodyPr wrap="square" lIns="0" rIns="0" tIns="0" bIns="0" anchor="t"/>
                    <a:lstStyle/>
                    <a:p>
                      <a:pPr>
                        <a:lnSpc>
                          <a:spcPct val="100000"/>
                        </a:lnSpc>
                      </a:pPr>
                      <a:r>
                        <a:rPr sz="1550" b="0">
                          <a:solidFill>
                            <a:srgbClr val="15212C"/>
                          </a:solidFill>
                          <a:latin typeface="Times New Roman"/>
                        </a:rPr>
                        <a:t>Sparse solve scaling</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675 → 85,073 unknowns</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time exponent</a:t>
                      </a:r>
                    </a:p>
                  </a:txBody>
                  <a:tcPr marL="91440" marR="54864" marT="18288" marB="18288" anchor="ctr">
                    <a:solidFill>
                      <a:srgbClr val="FFFFFF"/>
                    </a:solidFill>
                  </a:tcPr>
                </a:tc>
                <a:tc>
                  <a:txBody>
                    <a:bodyPr wrap="square" lIns="0" rIns="0" tIns="0" bIns="0" anchor="t"/>
                    <a:lstStyle/>
                    <a:p>
                      <a:pPr>
                        <a:lnSpc>
                          <a:spcPct val="100000"/>
                        </a:lnSpc>
                      </a:pPr>
                      <a:r>
                        <a:rPr sz="1550" b="0">
                          <a:solidFill>
                            <a:srgbClr val="15212C"/>
                          </a:solidFill>
                          <a:latin typeface="Times New Roman"/>
                        </a:rPr>
                        <a:t>2.29  (334 s at largest)</a:t>
                      </a:r>
                    </a:p>
                  </a:txBody>
                  <a:tcPr marL="91440" marR="54864" marT="18288" marB="18288" anchor="ctr">
                    <a:solidFill>
                      <a:srgbClr val="FFFFFF"/>
                    </a:solidFill>
                  </a:tcPr>
                </a:tc>
              </a:tr>
            </a:tbl>
          </a:graphicData>
        </a:graphic>
      </p:graphicFrame>
      <p:sp>
        <p:nvSpPr>
          <p:cNvPr id="39" name="runs-tnote"/>
          <p:cNvSpPr txBox="1"/>
          <p:nvPr/>
        </p:nvSpPr>
        <p:spPr>
          <a:xfrm>
            <a:off x="402336" y="32132016"/>
            <a:ext cx="10405872" cy="914400"/>
          </a:xfrm>
          <a:prstGeom prst="rect">
            <a:avLst/>
          </a:prstGeom>
          <a:noFill/>
        </p:spPr>
        <p:txBody>
          <a:bodyPr wrap="square" lIns="0" rIns="0" tIns="0" bIns="0" anchor="t">
            <a:spAutoFit/>
          </a:bodyPr>
          <a:lstStyle/>
          <a:p>
            <a:pPr algn="l">
              <a:lnSpc>
                <a:spcPct val="106000"/>
              </a:lnSpc>
              <a:spcAft>
                <a:spcPts val="0"/>
              </a:spcAft>
            </a:pPr>
            <a:r>
              <a:rPr sz="1900" b="0">
                <a:solidFill>
                  <a:srgbClr val="15212C"/>
                </a:solidFill>
                <a:latin typeface="Times New Roman"/>
              </a:rPr>
              <a:t>Quadratic control. The φ = r² + z² case is exact by construction, so its ~1e-14 error is reported as a control and not as convergence evidence. Test suite. 74 automated tests pass under python -m pytest backend/tests/.</a:t>
            </a:r>
          </a:p>
        </p:txBody>
      </p:sp>
      <p:sp>
        <p:nvSpPr>
          <p:cNvPr id="40" name="reproducibility-frame"/>
          <p:cNvSpPr/>
          <p:nvPr/>
        </p:nvSpPr>
        <p:spPr>
          <a:xfrm>
            <a:off x="128016" y="33796224"/>
            <a:ext cx="10954512" cy="8010143"/>
          </a:xfrm>
          <a:prstGeom prst="roundRect">
            <a:avLst>
              <a:gd name="adj" fmla="val 3500"/>
            </a:avLst>
          </a:prstGeom>
          <a:solidFill>
            <a:srgbClr val="F7F9FC"/>
          </a:solidFill>
          <a:ln w="13970">
            <a:solidFill>
              <a:srgbClr val="4E89B9"/>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41" name="reproducibility-header"/>
          <p:cNvSpPr/>
          <p:nvPr/>
        </p:nvSpPr>
        <p:spPr>
          <a:xfrm>
            <a:off x="131673" y="33799881"/>
            <a:ext cx="10947196" cy="804672"/>
          </a:xfrm>
          <a:prstGeom prst="roundRect">
            <a:avLst>
              <a:gd name="adj" fmla="val 16000"/>
            </a:avLst>
          </a:prstGeom>
          <a:gradFill rotWithShape="1">
            <a:gsLst>
              <a:gs pos="0">
                <a:srgbClr val="155AA1"/>
              </a:gs>
              <a:gs pos="100000">
                <a:srgbClr val="829DBA"/>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42" name="reproducibility-heading"/>
          <p:cNvSpPr txBox="1"/>
          <p:nvPr/>
        </p:nvSpPr>
        <p:spPr>
          <a:xfrm>
            <a:off x="365760" y="33887664"/>
            <a:ext cx="10479024" cy="640080"/>
          </a:xfrm>
          <a:prstGeom prst="rect">
            <a:avLst/>
          </a:prstGeom>
          <a:noFill/>
        </p:spPr>
        <p:txBody>
          <a:bodyPr wrap="square" lIns="0" rIns="0" tIns="0" bIns="0" anchor="ctr">
            <a:spAutoFit/>
          </a:bodyPr>
          <a:lstStyle/>
          <a:p>
            <a:pPr algn="ctr">
              <a:lnSpc>
                <a:spcPct val="106000"/>
              </a:lnSpc>
              <a:spcAft>
                <a:spcPts val="0"/>
              </a:spcAft>
            </a:pPr>
            <a:r>
              <a:rPr sz="3200" b="1">
                <a:solidFill>
                  <a:srgbClr val="FFFFFF"/>
                </a:solidFill>
                <a:latin typeface="Times New Roman"/>
              </a:rPr>
              <a:t>REPRODUCIBILITY</a:t>
            </a:r>
          </a:p>
        </p:txBody>
      </p:sp>
      <p:sp>
        <p:nvSpPr>
          <p:cNvPr id="43" name="repro-intro"/>
          <p:cNvSpPr txBox="1"/>
          <p:nvPr/>
        </p:nvSpPr>
        <p:spPr>
          <a:xfrm>
            <a:off x="402336" y="34728912"/>
            <a:ext cx="10405872" cy="822960"/>
          </a:xfrm>
          <a:prstGeom prst="rect">
            <a:avLst/>
          </a:prstGeom>
          <a:noFill/>
        </p:spPr>
        <p:txBody>
          <a:bodyPr wrap="square" lIns="0" rIns="0" tIns="0" bIns="0" anchor="t">
            <a:spAutoFit/>
          </a:bodyPr>
          <a:lstStyle/>
          <a:p>
            <a:pPr algn="l">
              <a:lnSpc>
                <a:spcPct val="106000"/>
              </a:lnSpc>
              <a:spcAft>
                <a:spcPts val="0"/>
              </a:spcAft>
            </a:pPr>
            <a:r>
              <a:rPr sz="2000" b="0">
                <a:solidFill>
                  <a:srgbClr val="15212C"/>
                </a:solidFill>
                <a:latin typeface="Times New Roman"/>
              </a:rPr>
              <a:t>One script regenerates every numerical number and figure on this poster, calling the committed solver directly.</a:t>
            </a:r>
          </a:p>
        </p:txBody>
      </p:sp>
      <p:sp>
        <p:nvSpPr>
          <p:cNvPr id="44" name="repro-code"/>
          <p:cNvSpPr txBox="1"/>
          <p:nvPr/>
        </p:nvSpPr>
        <p:spPr>
          <a:xfrm>
            <a:off x="402336" y="35636606"/>
            <a:ext cx="10405872" cy="5129784"/>
          </a:xfrm>
          <a:prstGeom prst="rect">
            <a:avLst/>
          </a:prstGeom>
          <a:noFill/>
        </p:spPr>
        <p:txBody>
          <a:bodyPr wrap="square" lIns="0" rIns="0" tIns="0" bIns="0" anchor="t">
            <a:spAutoFit/>
          </a:bodyPr>
          <a:lstStyle/>
          <a:p>
            <a:pPr algn="l">
              <a:lnSpc>
                <a:spcPct val="110000"/>
              </a:lnSpc>
              <a:spcAft>
                <a:spcPts val="0"/>
              </a:spcAft>
            </a:pPr>
            <a:r>
              <a:rPr sz="1700" b="0">
                <a:solidFill>
                  <a:srgbClr val="086EAD"/>
                </a:solidFill>
                <a:latin typeface="Times New Roman"/>
              </a:rPr>
              <a:t>$ python build/make_figures.py</a:t>
            </a:r>
          </a:p>
          <a:p>
            <a:pPr algn="l">
              <a:lnSpc>
                <a:spcPct val="110000"/>
              </a:lnSpc>
              <a:spcAft>
                <a:spcPts val="0"/>
              </a:spcAft>
            </a:pPr>
            <a:r>
              <a:rPr sz="1700" b="0">
                <a:solidFill>
                  <a:srgbClr val="15212C"/>
                </a:solidFill>
                <a:latin typeface="Times New Roman"/>
              </a:rPr>
              <a:t>    solver figures + headline cards        -&gt; Figs 3-8</a:t>
            </a:r>
          </a:p>
          <a:p>
            <a:pPr algn="l">
              <a:lnSpc>
                <a:spcPct val="110000"/>
              </a:lnSpc>
              <a:spcAft>
                <a:spcPts val="0"/>
              </a:spcAft>
            </a:pPr>
            <a:r>
              <a:rPr sz="1700" b="0">
                <a:solidFill>
                  <a:srgbClr val="086EAD"/>
                </a:solidFill>
                <a:latin typeface="Times New Roman"/>
              </a:rPr>
              <a:t>$ python -m pytest backend/tests/</a:t>
            </a:r>
          </a:p>
          <a:p>
            <a:pPr algn="l">
              <a:lnSpc>
                <a:spcPct val="110000"/>
              </a:lnSpc>
              <a:spcAft>
                <a:spcPts val="0"/>
              </a:spcAft>
            </a:pPr>
            <a:r>
              <a:rPr sz="1700" b="0">
                <a:solidFill>
                  <a:srgbClr val="2E7D32"/>
                </a:solidFill>
                <a:latin typeface="Times New Roman"/>
              </a:rPr>
              <a:t>    74 passed</a:t>
            </a:r>
          </a:p>
          <a:p>
            <a:pPr algn="l">
              <a:lnSpc>
                <a:spcPct val="110000"/>
              </a:lnSpc>
              <a:spcAft>
                <a:spcPts val="0"/>
              </a:spcAft>
            </a:pPr>
            <a:r>
              <a:rPr sz="1700" b="0">
                <a:solidFill>
                  <a:srgbClr val="15212C"/>
                </a:solidFill>
                <a:latin typeface="Times New Roman"/>
              </a:rPr>
              <a:t> </a:t>
            </a:r>
          </a:p>
          <a:p>
            <a:pPr algn="l">
              <a:lnSpc>
                <a:spcPct val="110000"/>
              </a:lnSpc>
              <a:spcAft>
                <a:spcPts val="0"/>
              </a:spcAft>
            </a:pPr>
            <a:r>
              <a:rPr sz="1700" b="0">
                <a:solidFill>
                  <a:srgbClr val="0072B5"/>
                </a:solidFill>
                <a:latin typeface="Times New Roman"/>
              </a:rPr>
              <a:t>backend/solver/verification.py</a:t>
            </a:r>
          </a:p>
          <a:p>
            <a:pPr algn="l">
              <a:lnSpc>
                <a:spcPct val="110000"/>
              </a:lnSpc>
              <a:spcAft>
                <a:spcPts val="0"/>
              </a:spcAft>
            </a:pPr>
            <a:r>
              <a:rPr sz="1700" b="0">
                <a:solidFill>
                  <a:srgbClr val="15212C"/>
                </a:solidFill>
                <a:latin typeface="Times New Roman"/>
              </a:rPr>
              <a:t>    run_quartic_manufactured_poisson()     -&gt; Fig. 3</a:t>
            </a:r>
          </a:p>
          <a:p>
            <a:pPr algn="l">
              <a:lnSpc>
                <a:spcPct val="110000"/>
              </a:lnSpc>
              <a:spcAft>
                <a:spcPts val="0"/>
              </a:spcAft>
            </a:pPr>
            <a:r>
              <a:rPr sz="1700" b="0">
                <a:solidFill>
                  <a:srgbClr val="15212C"/>
                </a:solidFill>
                <a:latin typeface="Times New Roman"/>
              </a:rPr>
              <a:t>    taylor_cone_half_angle_deg()           -&gt; card 2</a:t>
            </a:r>
          </a:p>
          <a:p>
            <a:pPr algn="l">
              <a:lnSpc>
                <a:spcPct val="110000"/>
              </a:lnSpc>
              <a:spcAft>
                <a:spcPts val="0"/>
              </a:spcAft>
            </a:pPr>
            <a:r>
              <a:rPr sz="1700" b="0">
                <a:solidFill>
                  <a:srgbClr val="0072B5"/>
                </a:solidFill>
                <a:latin typeface="Times New Roman"/>
              </a:rPr>
              <a:t>backend/solver/app_backend.py</a:t>
            </a:r>
          </a:p>
          <a:p>
            <a:pPr algn="l">
              <a:lnSpc>
                <a:spcPct val="110000"/>
              </a:lnSpc>
              <a:spcAft>
                <a:spcPts val="0"/>
              </a:spcAft>
            </a:pPr>
            <a:r>
              <a:rPr sz="1700" b="0">
                <a:solidFill>
                  <a:srgbClr val="15212C"/>
                </a:solidFill>
                <a:latin typeface="Times New Roman"/>
              </a:rPr>
              <a:t>    run_immersed_verification()            -&gt; Figs 4, 6</a:t>
            </a:r>
          </a:p>
          <a:p>
            <a:pPr algn="l">
              <a:lnSpc>
                <a:spcPct val="110000"/>
              </a:lnSpc>
              <a:spcAft>
                <a:spcPts val="0"/>
              </a:spcAft>
            </a:pPr>
            <a:r>
              <a:rPr sz="1700" b="0">
                <a:solidFill>
                  <a:srgbClr val="0072B5"/>
                </a:solidFill>
                <a:latin typeface="Times New Roman"/>
              </a:rPr>
              <a:t>backend/examples/08_immersed_refinement_study.py</a:t>
            </a:r>
          </a:p>
          <a:p>
            <a:pPr algn="l">
              <a:lnSpc>
                <a:spcPct val="110000"/>
              </a:lnSpc>
              <a:spcAft>
                <a:spcPts val="0"/>
              </a:spcAft>
            </a:pPr>
            <a:r>
              <a:rPr sz="1700" b="0">
                <a:solidFill>
                  <a:srgbClr val="15212C"/>
                </a:solidFill>
                <a:latin typeface="Times New Roman"/>
              </a:rPr>
              <a:t>    immersed vs. staircase inter-level orders</a:t>
            </a:r>
          </a:p>
          <a:p>
            <a:pPr algn="l">
              <a:lnSpc>
                <a:spcPct val="110000"/>
              </a:lnSpc>
              <a:spcAft>
                <a:spcPts val="0"/>
              </a:spcAft>
            </a:pPr>
            <a:r>
              <a:rPr sz="1700" b="0">
                <a:solidFill>
                  <a:srgbClr val="0072B5"/>
                </a:solidFill>
                <a:latin typeface="Times New Roman"/>
              </a:rPr>
              <a:t>backend/experimental/image_processing.py</a:t>
            </a:r>
          </a:p>
          <a:p>
            <a:pPr algn="l">
              <a:lnSpc>
                <a:spcPct val="110000"/>
              </a:lnSpc>
              <a:spcAft>
                <a:spcPts val="0"/>
              </a:spcAft>
            </a:pPr>
            <a:r>
              <a:rPr sz="1700" b="0">
                <a:solidFill>
                  <a:srgbClr val="15212C"/>
                </a:solidFill>
                <a:latin typeface="Times New Roman"/>
              </a:rPr>
              <a:t>    contour + registered axis extraction   -&gt; Fig. 10</a:t>
            </a:r>
          </a:p>
          <a:p>
            <a:pPr algn="l">
              <a:lnSpc>
                <a:spcPct val="110000"/>
              </a:lnSpc>
              <a:spcAft>
                <a:spcPts val="0"/>
              </a:spcAft>
            </a:pPr>
            <a:r>
              <a:rPr sz="1700" b="0">
                <a:solidFill>
                  <a:srgbClr val="0072B5"/>
                </a:solidFill>
                <a:latin typeface="Times New Roman"/>
              </a:rPr>
              <a:t>backend/experimental/profile_extraction.py</a:t>
            </a:r>
          </a:p>
          <a:p>
            <a:pPr algn="l">
              <a:lnSpc>
                <a:spcPct val="110000"/>
              </a:lnSpc>
              <a:spcAft>
                <a:spcPts val="0"/>
              </a:spcAft>
            </a:pPr>
            <a:r>
              <a:rPr sz="1700" b="0">
                <a:solidFill>
                  <a:srgbClr val="15212C"/>
                </a:solidFill>
                <a:latin typeface="Times New Roman"/>
              </a:rPr>
              <a:t>    flank fit, half-angle, visible height  -&gt; Figs 11-13</a:t>
            </a:r>
          </a:p>
          <a:p>
            <a:pPr algn="l">
              <a:lnSpc>
                <a:spcPct val="110000"/>
              </a:lnSpc>
              <a:spcAft>
                <a:spcPts val="0"/>
              </a:spcAft>
            </a:pPr>
            <a:r>
              <a:rPr sz="1700" b="0">
                <a:solidFill>
                  <a:srgbClr val="0072B5"/>
                </a:solidFill>
                <a:latin typeface="Times New Roman"/>
              </a:rPr>
              <a:t>backend/experimental/synthetic_validation.py</a:t>
            </a:r>
          </a:p>
          <a:p>
            <a:pPr algn="l">
              <a:lnSpc>
                <a:spcPct val="110000"/>
              </a:lnSpc>
              <a:spcAft>
                <a:spcPts val="0"/>
              </a:spcAft>
            </a:pPr>
            <a:r>
              <a:rPr sz="1700" b="0">
                <a:solidFill>
                  <a:srgbClr val="15212C"/>
                </a:solidFill>
                <a:latin typeface="Times New Roman"/>
              </a:rPr>
              <a:t>    108 analytic cone silhouettes          -&gt; Fig. 8</a:t>
            </a:r>
          </a:p>
        </p:txBody>
      </p:sp>
      <p:sp>
        <p:nvSpPr>
          <p:cNvPr id="45" name="repro-tail"/>
          <p:cNvSpPr txBox="1"/>
          <p:nvPr/>
        </p:nvSpPr>
        <p:spPr>
          <a:xfrm>
            <a:off x="402336" y="41027908"/>
            <a:ext cx="10405872" cy="914400"/>
          </a:xfrm>
          <a:prstGeom prst="rect">
            <a:avLst/>
          </a:prstGeom>
          <a:noFill/>
        </p:spPr>
        <p:txBody>
          <a:bodyPr wrap="square" lIns="0" rIns="0" tIns="0" bIns="0" anchor="t">
            <a:spAutoFit/>
          </a:bodyPr>
          <a:lstStyle/>
          <a:p>
            <a:pPr algn="l">
              <a:lnSpc>
                <a:spcPct val="106000"/>
              </a:lnSpc>
              <a:spcAft>
                <a:spcPts val="0"/>
              </a:spcAft>
            </a:pPr>
            <a:r>
              <a:rPr sz="1900" b="0">
                <a:solidFill>
                  <a:srgbClr val="15212C"/>
                </a:solidFill>
                <a:latin typeface="Times New Roman"/>
              </a:rPr>
              <a:t>The Streamlit app exposes the same parameters (voltage, surface tension, electrode spacing, domain radius, grid resolution, space-charge model) with classic and immersed boundary tabs.</a:t>
            </a:r>
          </a:p>
        </p:txBody>
      </p:sp>
      <p:sp>
        <p:nvSpPr>
          <p:cNvPr id="46" name="stress-frame"/>
          <p:cNvSpPr/>
          <p:nvPr/>
        </p:nvSpPr>
        <p:spPr>
          <a:xfrm>
            <a:off x="32826960" y="128016"/>
            <a:ext cx="10607040" cy="8924544"/>
          </a:xfrm>
          <a:prstGeom prst="roundRect">
            <a:avLst>
              <a:gd name="adj" fmla="val 3500"/>
            </a:avLst>
          </a:prstGeom>
          <a:solidFill>
            <a:srgbClr val="F7F9FC"/>
          </a:solidFill>
          <a:ln w="13970">
            <a:solidFill>
              <a:srgbClr val="4E89B9"/>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47" name="stress-header"/>
          <p:cNvSpPr/>
          <p:nvPr/>
        </p:nvSpPr>
        <p:spPr>
          <a:xfrm>
            <a:off x="32830617" y="131673"/>
            <a:ext cx="10599724" cy="804672"/>
          </a:xfrm>
          <a:prstGeom prst="roundRect">
            <a:avLst>
              <a:gd name="adj" fmla="val 16000"/>
            </a:avLst>
          </a:prstGeom>
          <a:gradFill rotWithShape="1">
            <a:gsLst>
              <a:gs pos="0">
                <a:srgbClr val="155AA1"/>
              </a:gs>
              <a:gs pos="100000">
                <a:srgbClr val="829DBA"/>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48" name="stress-heading"/>
          <p:cNvSpPr txBox="1"/>
          <p:nvPr/>
        </p:nvSpPr>
        <p:spPr>
          <a:xfrm>
            <a:off x="33064703" y="219456"/>
            <a:ext cx="10131552" cy="640080"/>
          </a:xfrm>
          <a:prstGeom prst="rect">
            <a:avLst/>
          </a:prstGeom>
          <a:noFill/>
        </p:spPr>
        <p:txBody>
          <a:bodyPr wrap="square" lIns="0" rIns="0" tIns="0" bIns="0" anchor="ctr">
            <a:spAutoFit/>
          </a:bodyPr>
          <a:lstStyle/>
          <a:p>
            <a:pPr algn="ctr">
              <a:lnSpc>
                <a:spcPct val="106000"/>
              </a:lnSpc>
              <a:spcAft>
                <a:spcPts val="0"/>
              </a:spcAft>
            </a:pPr>
            <a:r>
              <a:rPr sz="3200" b="1">
                <a:solidFill>
                  <a:srgbClr val="FFFFFF"/>
                </a:solidFill>
                <a:latin typeface="Times New Roman"/>
              </a:rPr>
              <a:t>SCOPE AND LIMITS</a:t>
            </a:r>
          </a:p>
        </p:txBody>
      </p:sp>
      <p:sp>
        <p:nvSpPr>
          <p:cNvPr id="49" name="scope-6200"/>
          <p:cNvSpPr txBox="1"/>
          <p:nvPr/>
        </p:nvSpPr>
        <p:spPr>
          <a:xfrm>
            <a:off x="33101279" y="1060704"/>
            <a:ext cx="10058400" cy="457200"/>
          </a:xfrm>
          <a:prstGeom prst="rect">
            <a:avLst/>
          </a:prstGeom>
          <a:noFill/>
        </p:spPr>
        <p:txBody>
          <a:bodyPr wrap="square" lIns="0" rIns="0" tIns="0" bIns="0" anchor="t">
            <a:spAutoFit/>
          </a:bodyPr>
          <a:lstStyle/>
          <a:p>
            <a:pPr algn="l">
              <a:lnSpc>
                <a:spcPct val="106000"/>
              </a:lnSpc>
              <a:spcAft>
                <a:spcPts val="0"/>
              </a:spcAft>
            </a:pPr>
            <a:r>
              <a:rPr sz="2000" b="1">
                <a:solidFill>
                  <a:srgbClr val="15212C"/>
                </a:solidFill>
                <a:latin typeface="Times New Roman"/>
              </a:rPr>
              <a:t>What is verified.</a:t>
            </a:r>
            <a:r>
              <a:rPr sz="2000" b="0">
                <a:solidFill>
                  <a:srgbClr val="15212C"/>
                </a:solidFill>
                <a:latin typeface="Times New Roman"/>
              </a:rPr>
              <a:t> The axisymmetric electrostatic operator, the gas-side interface field reconstruction, and the stress-balance diagnostic — against an exact manufactured solution, an independent P1 finite-element solve and the classical Taylor benchmark.</a:t>
            </a:r>
          </a:p>
        </p:txBody>
      </p:sp>
      <p:sp>
        <p:nvSpPr>
          <p:cNvPr id="50" name="scope-17497"/>
          <p:cNvSpPr txBox="1"/>
          <p:nvPr/>
        </p:nvSpPr>
        <p:spPr>
          <a:xfrm>
            <a:off x="33101279" y="2670048"/>
            <a:ext cx="10058400" cy="457200"/>
          </a:xfrm>
          <a:prstGeom prst="rect">
            <a:avLst/>
          </a:prstGeom>
          <a:noFill/>
        </p:spPr>
        <p:txBody>
          <a:bodyPr wrap="square" lIns="0" rIns="0" tIns="0" bIns="0" anchor="t">
            <a:spAutoFit/>
          </a:bodyPr>
          <a:lstStyle/>
          <a:p>
            <a:pPr algn="l">
              <a:lnSpc>
                <a:spcPct val="106000"/>
              </a:lnSpc>
              <a:spcAft>
                <a:spcPts val="0"/>
              </a:spcAft>
            </a:pPr>
            <a:r>
              <a:rPr sz="2000" b="1">
                <a:solidFill>
                  <a:srgbClr val="15212C"/>
                </a:solidFill>
                <a:latin typeface="Times New Roman"/>
              </a:rPr>
              <a:t>Reduced-order by design.</a:t>
            </a:r>
            <a:r>
              <a:rPr sz="2000" b="0">
                <a:solidFill>
                  <a:srgbClr val="15212C"/>
                </a:solidFill>
                <a:latin typeface="Times New Roman"/>
              </a:rPr>
              <a:t> This is an onset-level electrostatic model. It does not simulate cone-jet breakup, spray dynamics, droplet transport or full electrohydrodynamics.</a:t>
            </a:r>
          </a:p>
        </p:txBody>
      </p:sp>
      <p:sp>
        <p:nvSpPr>
          <p:cNvPr id="51" name="scope-27057"/>
          <p:cNvSpPr txBox="1"/>
          <p:nvPr/>
        </p:nvSpPr>
        <p:spPr>
          <a:xfrm>
            <a:off x="33101279" y="3956304"/>
            <a:ext cx="10058400" cy="457200"/>
          </a:xfrm>
          <a:prstGeom prst="rect">
            <a:avLst/>
          </a:prstGeom>
          <a:noFill/>
        </p:spPr>
        <p:txBody>
          <a:bodyPr wrap="square" lIns="0" rIns="0" tIns="0" bIns="0" anchor="t">
            <a:spAutoFit/>
          </a:bodyPr>
          <a:lstStyle/>
          <a:p>
            <a:pPr algn="l">
              <a:lnSpc>
                <a:spcPct val="106000"/>
              </a:lnSpc>
              <a:spcAft>
                <a:spcPts val="0"/>
              </a:spcAft>
            </a:pPr>
            <a:r>
              <a:rPr sz="2000" b="1">
                <a:solidFill>
                  <a:srgbClr val="15212C"/>
                </a:solidFill>
                <a:latin typeface="Times New Roman"/>
              </a:rPr>
              <a:t>Grounded-box angles.</a:t>
            </a:r>
            <a:r>
              <a:rPr sz="2000" b="0">
                <a:solidFill>
                  <a:srgbClr val="15212C"/>
                </a:solidFill>
                <a:latin typeface="Times New Roman"/>
              </a:rPr>
              <a:t> Argmin angles from a finite grounded domain are truncation artefacts: they move with domain size and are not reported as physical results.</a:t>
            </a:r>
          </a:p>
        </p:txBody>
      </p:sp>
      <p:sp>
        <p:nvSpPr>
          <p:cNvPr id="52" name="scope-98510"/>
          <p:cNvSpPr txBox="1"/>
          <p:nvPr/>
        </p:nvSpPr>
        <p:spPr>
          <a:xfrm>
            <a:off x="33101279" y="5242560"/>
            <a:ext cx="10058400" cy="457200"/>
          </a:xfrm>
          <a:prstGeom prst="rect">
            <a:avLst/>
          </a:prstGeom>
          <a:noFill/>
        </p:spPr>
        <p:txBody>
          <a:bodyPr wrap="square" lIns="0" rIns="0" tIns="0" bIns="0" anchor="t">
            <a:spAutoFit/>
          </a:bodyPr>
          <a:lstStyle/>
          <a:p>
            <a:pPr algn="l">
              <a:lnSpc>
                <a:spcPct val="106000"/>
              </a:lnSpc>
              <a:spcAft>
                <a:spcPts val="0"/>
              </a:spcAft>
            </a:pPr>
            <a:r>
              <a:rPr sz="2000" b="1">
                <a:solidFill>
                  <a:srgbClr val="15212C"/>
                </a:solidFill>
                <a:latin typeface="Times New Roman"/>
              </a:rPr>
              <a:t>Space charge.</a:t>
            </a:r>
            <a:r>
              <a:rPr sz="2000" b="0">
                <a:solidFill>
                  <a:srgbClr val="15212C"/>
                </a:solidFill>
                <a:latin typeface="Times New Roman"/>
              </a:rPr>
              <a:t> Only effective algebraic closures are implemented. There is no first-principles ion transport.</a:t>
            </a:r>
          </a:p>
        </p:txBody>
      </p:sp>
      <p:sp>
        <p:nvSpPr>
          <p:cNvPr id="53" name="scope-92329"/>
          <p:cNvSpPr txBox="1"/>
          <p:nvPr/>
        </p:nvSpPr>
        <p:spPr>
          <a:xfrm>
            <a:off x="33101279" y="6528816"/>
            <a:ext cx="10058400" cy="457200"/>
          </a:xfrm>
          <a:prstGeom prst="rect">
            <a:avLst/>
          </a:prstGeom>
          <a:noFill/>
        </p:spPr>
        <p:txBody>
          <a:bodyPr wrap="square" lIns="0" rIns="0" tIns="0" bIns="0" anchor="t">
            <a:spAutoFit/>
          </a:bodyPr>
          <a:lstStyle/>
          <a:p>
            <a:pPr algn="l">
              <a:lnSpc>
                <a:spcPct val="106000"/>
              </a:lnSpc>
              <a:spcAft>
                <a:spcPts val="0"/>
              </a:spcAft>
            </a:pPr>
            <a:r>
              <a:rPr sz="2000" b="1">
                <a:solidFill>
                  <a:srgbClr val="15212C"/>
                </a:solidFill>
                <a:latin typeface="Times New Roman"/>
              </a:rPr>
              <a:t>Experimental scope.</a:t>
            </a:r>
            <a:r>
              <a:rPr sz="2000" b="0">
                <a:solidFill>
                  <a:srgbClr val="15212C"/>
                </a:solidFill>
                <a:latin typeface="Times New Roman"/>
              </a:rPr>
              <a:t> The photographs analysed here are published data from Yang et al. (2025), processed by our pipeline. No laboratory work was performed for this poster, and no photograph is presented as our own experiment.</a:t>
            </a:r>
          </a:p>
        </p:txBody>
      </p:sp>
      <p:sp>
        <p:nvSpPr>
          <p:cNvPr id="54" name="scope-9180"/>
          <p:cNvSpPr txBox="1"/>
          <p:nvPr/>
        </p:nvSpPr>
        <p:spPr>
          <a:xfrm>
            <a:off x="33101279" y="8138160"/>
            <a:ext cx="10058400" cy="457200"/>
          </a:xfrm>
          <a:prstGeom prst="rect">
            <a:avLst/>
          </a:prstGeom>
          <a:noFill/>
        </p:spPr>
        <p:txBody>
          <a:bodyPr wrap="square" lIns="0" rIns="0" tIns="0" bIns="0" anchor="t">
            <a:spAutoFit/>
          </a:bodyPr>
          <a:lstStyle/>
          <a:p>
            <a:pPr algn="l">
              <a:lnSpc>
                <a:spcPct val="106000"/>
              </a:lnSpc>
              <a:spcAft>
                <a:spcPts val="0"/>
              </a:spcAft>
            </a:pPr>
            <a:r>
              <a:rPr sz="2000" b="1">
                <a:solidFill>
                  <a:srgbClr val="15212C"/>
                </a:solidFill>
                <a:latin typeface="Times New Roman"/>
              </a:rPr>
              <a:t>What we do not claim.</a:t>
            </a:r>
            <a:r>
              <a:rPr sz="2000" b="0">
                <a:solidFill>
                  <a:srgbClr val="15212C"/>
                </a:solidFill>
                <a:latin typeface="Times New Roman"/>
              </a:rPr>
              <a:t> The solver does not replace multiphysics software, does not predict a true onset voltage, and does not prove the physical cone shape.</a:t>
            </a:r>
          </a:p>
        </p:txBody>
      </p:sp>
      <p:sp>
        <p:nvSpPr>
          <p:cNvPr id="55" name="measurement-frame"/>
          <p:cNvSpPr/>
          <p:nvPr/>
        </p:nvSpPr>
        <p:spPr>
          <a:xfrm>
            <a:off x="32826960" y="9272016"/>
            <a:ext cx="10607040" cy="12252959"/>
          </a:xfrm>
          <a:prstGeom prst="roundRect">
            <a:avLst>
              <a:gd name="adj" fmla="val 3500"/>
            </a:avLst>
          </a:prstGeom>
          <a:solidFill>
            <a:srgbClr val="F7F9FC"/>
          </a:solidFill>
          <a:ln w="13970">
            <a:solidFill>
              <a:srgbClr val="4E89B9"/>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56" name="measurement-header"/>
          <p:cNvSpPr/>
          <p:nvPr/>
        </p:nvSpPr>
        <p:spPr>
          <a:xfrm>
            <a:off x="32830617" y="9275673"/>
            <a:ext cx="10599724" cy="804672"/>
          </a:xfrm>
          <a:prstGeom prst="roundRect">
            <a:avLst>
              <a:gd name="adj" fmla="val 16000"/>
            </a:avLst>
          </a:prstGeom>
          <a:gradFill rotWithShape="1">
            <a:gsLst>
              <a:gs pos="0">
                <a:srgbClr val="155AA1"/>
              </a:gs>
              <a:gs pos="100000">
                <a:srgbClr val="829DBA"/>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57" name="measurement-heading"/>
          <p:cNvSpPr txBox="1"/>
          <p:nvPr/>
        </p:nvSpPr>
        <p:spPr>
          <a:xfrm>
            <a:off x="33064703" y="9363456"/>
            <a:ext cx="10131552" cy="640080"/>
          </a:xfrm>
          <a:prstGeom prst="rect">
            <a:avLst/>
          </a:prstGeom>
          <a:noFill/>
        </p:spPr>
        <p:txBody>
          <a:bodyPr wrap="square" lIns="0" rIns="0" tIns="0" bIns="0" anchor="ctr">
            <a:spAutoFit/>
          </a:bodyPr>
          <a:lstStyle/>
          <a:p>
            <a:pPr algn="ctr">
              <a:lnSpc>
                <a:spcPct val="106000"/>
              </a:lnSpc>
              <a:spcAft>
                <a:spcPts val="0"/>
              </a:spcAft>
            </a:pPr>
            <a:r>
              <a:rPr sz="3200" b="1">
                <a:solidFill>
                  <a:srgbClr val="FFFFFF"/>
                </a:solidFill>
                <a:latin typeface="Times New Roman"/>
              </a:rPr>
              <a:t>METHOD AND PIPELINE</a:t>
            </a:r>
          </a:p>
        </p:txBody>
      </p:sp>
      <p:pic>
        <p:nvPicPr>
          <p:cNvPr id="58" name="fig02" descr="fig02_workflow.png"/>
          <p:cNvPicPr>
            <a:picLocks noChangeAspect="1"/>
          </p:cNvPicPr>
          <p:nvPr/>
        </p:nvPicPr>
        <p:blipFill>
          <a:blip r:embed="rId27"/>
          <a:stretch>
            <a:fillRect/>
          </a:stretch>
        </p:blipFill>
        <p:spPr>
          <a:xfrm>
            <a:off x="34015679" y="10204704"/>
            <a:ext cx="8229600" cy="6101794"/>
          </a:xfrm>
          <a:prstGeom prst="rect">
            <a:avLst/>
          </a:prstGeom>
        </p:spPr>
      </p:pic>
      <p:sp>
        <p:nvSpPr>
          <p:cNvPr id="59" name="fig02-cap"/>
          <p:cNvSpPr txBox="1"/>
          <p:nvPr/>
        </p:nvSpPr>
        <p:spPr>
          <a:xfrm>
            <a:off x="33101279" y="16502687"/>
            <a:ext cx="10058400" cy="533095"/>
          </a:xfrm>
          <a:prstGeom prst="rect">
            <a:avLst/>
          </a:prstGeom>
          <a:noFill/>
        </p:spPr>
        <p:txBody>
          <a:bodyPr wrap="square" lIns="0" rIns="0" tIns="0" bIns="0" anchor="t">
            <a:spAutoFit/>
          </a:bodyPr>
          <a:lstStyle/>
          <a:p>
            <a:pPr algn="l">
              <a:lnSpc>
                <a:spcPct val="106000"/>
              </a:lnSpc>
              <a:spcAft>
                <a:spcPts val="0"/>
              </a:spcAft>
            </a:pPr>
            <a:r>
              <a:rPr sz="1650" b="0">
                <a:solidFill>
                  <a:srgbClr val="4A5A66"/>
                </a:solidFill>
                <a:latin typeface="Times New Roman"/>
              </a:rPr>
              <a:t>Fig. 2. Computational workflow for the charge-free immersed formulation. Geometry and discretisation feed the electrostatic solution and two interface diagnostics; voltage-amplitude projection is optional.</a:t>
            </a:r>
          </a:p>
        </p:txBody>
      </p:sp>
      <p:sp>
        <p:nvSpPr>
          <p:cNvPr id="60" name="method-37551"/>
          <p:cNvSpPr txBox="1"/>
          <p:nvPr/>
        </p:nvSpPr>
        <p:spPr>
          <a:xfrm>
            <a:off x="33101279" y="17231971"/>
            <a:ext cx="10058400" cy="457200"/>
          </a:xfrm>
          <a:prstGeom prst="rect">
            <a:avLst/>
          </a:prstGeom>
          <a:noFill/>
        </p:spPr>
        <p:txBody>
          <a:bodyPr wrap="square" lIns="0" rIns="0" tIns="0" bIns="0" anchor="t">
            <a:spAutoFit/>
          </a:bodyPr>
          <a:lstStyle/>
          <a:p>
            <a:pPr algn="l">
              <a:lnSpc>
                <a:spcPct val="105000"/>
              </a:lnSpc>
              <a:spcAft>
                <a:spcPts val="0"/>
              </a:spcAft>
            </a:pPr>
            <a:r>
              <a:rPr sz="1900" b="1">
                <a:solidFill>
                  <a:srgbClr val="15212C"/>
                </a:solidFill>
                <a:latin typeface="Times New Roman"/>
              </a:rPr>
              <a:t>Discretisation.</a:t>
            </a:r>
            <a:r>
              <a:rPr sz="1900" b="0">
                <a:solidFill>
                  <a:srgbClr val="15212C"/>
                </a:solidFill>
                <a:latin typeface="Times New Roman"/>
              </a:rPr>
              <a:t> Sparse finite-difference axisymmetric Laplacian with a regularised axis stencil; the operator has a handful of non-zeros per row.</a:t>
            </a:r>
          </a:p>
        </p:txBody>
      </p:sp>
      <p:sp>
        <p:nvSpPr>
          <p:cNvPr id="61" name="method-78851"/>
          <p:cNvSpPr txBox="1"/>
          <p:nvPr/>
        </p:nvSpPr>
        <p:spPr>
          <a:xfrm>
            <a:off x="33101279" y="18096892"/>
            <a:ext cx="10058400" cy="457200"/>
          </a:xfrm>
          <a:prstGeom prst="rect">
            <a:avLst/>
          </a:prstGeom>
          <a:noFill/>
        </p:spPr>
        <p:txBody>
          <a:bodyPr wrap="square" lIns="0" rIns="0" tIns="0" bIns="0" anchor="t">
            <a:spAutoFit/>
          </a:bodyPr>
          <a:lstStyle/>
          <a:p>
            <a:pPr algn="l">
              <a:lnSpc>
                <a:spcPct val="105000"/>
              </a:lnSpc>
              <a:spcAft>
                <a:spcPts val="0"/>
              </a:spcAft>
            </a:pPr>
            <a:r>
              <a:rPr sz="1900" b="1">
                <a:solidFill>
                  <a:srgbClr val="15212C"/>
                </a:solidFill>
                <a:latin typeface="Times New Roman"/>
              </a:rPr>
              <a:t>Interface.</a:t>
            </a:r>
            <a:r>
              <a:rPr sz="1900" b="0">
                <a:solidFill>
                  <a:srgbClr val="15212C"/>
                </a:solidFill>
                <a:latin typeface="Times New Roman"/>
              </a:rPr>
              <a:t> Cubic-exact immersed-boundary stencil on the gas side; ≤1% normal-field error on refined grids, against 0.440% → 0.094% for the sphere reference.</a:t>
            </a:r>
          </a:p>
        </p:txBody>
      </p:sp>
      <p:sp>
        <p:nvSpPr>
          <p:cNvPr id="62" name="method-78213"/>
          <p:cNvSpPr txBox="1"/>
          <p:nvPr/>
        </p:nvSpPr>
        <p:spPr>
          <a:xfrm>
            <a:off x="33101279" y="18961812"/>
            <a:ext cx="10058400" cy="457200"/>
          </a:xfrm>
          <a:prstGeom prst="rect">
            <a:avLst/>
          </a:prstGeom>
          <a:noFill/>
        </p:spPr>
        <p:txBody>
          <a:bodyPr wrap="square" lIns="0" rIns="0" tIns="0" bIns="0" anchor="t">
            <a:spAutoFit/>
          </a:bodyPr>
          <a:lstStyle/>
          <a:p>
            <a:pPr algn="l">
              <a:lnSpc>
                <a:spcPct val="105000"/>
              </a:lnSpc>
              <a:spcAft>
                <a:spcPts val="0"/>
              </a:spcAft>
            </a:pPr>
            <a:r>
              <a:rPr sz="1900" b="1">
                <a:solidFill>
                  <a:srgbClr val="15212C"/>
                </a:solidFill>
                <a:latin typeface="Times New Roman"/>
              </a:rPr>
              <a:t>Balance.</a:t>
            </a:r>
            <a:r>
              <a:rPr sz="1900" b="0">
                <a:solidFill>
                  <a:srgbClr val="15212C"/>
                </a:solidFill>
                <a:latin typeface="Times New Roman"/>
              </a:rPr>
              <a:t> Curvature supplies γκ; the Maxwell pressure ½ε₀Eₙ² and a projected pressure offset Δp close the normal-stress balance into R.</a:t>
            </a:r>
          </a:p>
        </p:txBody>
      </p:sp>
      <p:sp>
        <p:nvSpPr>
          <p:cNvPr id="63" name="method-72301"/>
          <p:cNvSpPr txBox="1"/>
          <p:nvPr/>
        </p:nvSpPr>
        <p:spPr>
          <a:xfrm>
            <a:off x="33101279" y="19826732"/>
            <a:ext cx="10058400" cy="457200"/>
          </a:xfrm>
          <a:prstGeom prst="rect">
            <a:avLst/>
          </a:prstGeom>
          <a:noFill/>
        </p:spPr>
        <p:txBody>
          <a:bodyPr wrap="square" lIns="0" rIns="0" tIns="0" bIns="0" anchor="t">
            <a:spAutoFit/>
          </a:bodyPr>
          <a:lstStyle/>
          <a:p>
            <a:pPr algn="l">
              <a:lnSpc>
                <a:spcPct val="105000"/>
              </a:lnSpc>
              <a:spcAft>
                <a:spcPts val="0"/>
              </a:spcAft>
            </a:pPr>
            <a:r>
              <a:rPr sz="1900" b="1">
                <a:solidFill>
                  <a:srgbClr val="15212C"/>
                </a:solidFill>
                <a:latin typeface="Times New Roman"/>
              </a:rPr>
              <a:t>Diagnostics.</a:t>
            </a:r>
            <a:r>
              <a:rPr sz="1900" b="0">
                <a:solidFill>
                  <a:srgbClr val="15212C"/>
                </a:solidFill>
                <a:latin typeface="Times New Roman"/>
              </a:rPr>
              <a:t> Two complementary observables: the projected stress residual and the flank exponent p from Eₙ² ∝ ρᵖ, whose p = −1 crossing is the grid-convergent angle estimate.</a:t>
            </a:r>
          </a:p>
        </p:txBody>
      </p:sp>
      <p:sp>
        <p:nvSpPr>
          <p:cNvPr id="64" name="method-2520"/>
          <p:cNvSpPr txBox="1"/>
          <p:nvPr/>
        </p:nvSpPr>
        <p:spPr>
          <a:xfrm>
            <a:off x="33101279" y="20691652"/>
            <a:ext cx="10058400" cy="457200"/>
          </a:xfrm>
          <a:prstGeom prst="rect">
            <a:avLst/>
          </a:prstGeom>
          <a:noFill/>
        </p:spPr>
        <p:txBody>
          <a:bodyPr wrap="square" lIns="0" rIns="0" tIns="0" bIns="0" anchor="t">
            <a:spAutoFit/>
          </a:bodyPr>
          <a:lstStyle/>
          <a:p>
            <a:pPr algn="l">
              <a:lnSpc>
                <a:spcPct val="105000"/>
              </a:lnSpc>
              <a:spcAft>
                <a:spcPts val="0"/>
              </a:spcAft>
            </a:pPr>
            <a:r>
              <a:rPr sz="1900" b="1">
                <a:solidFill>
                  <a:srgbClr val="15212C"/>
                </a:solidFill>
                <a:latin typeface="Times New Roman"/>
              </a:rPr>
              <a:t>Reproducibility.</a:t>
            </a:r>
            <a:r>
              <a:rPr sz="1900" b="0">
                <a:solidFill>
                  <a:srgbClr val="15212C"/>
                </a:solidFill>
                <a:latin typeface="Times New Roman"/>
              </a:rPr>
              <a:t> Every number and figure on this poster regenerates from the committed solver in one command; 74 automated tests pass.</a:t>
            </a:r>
          </a:p>
        </p:txBody>
      </p:sp>
      <p:sp>
        <p:nvSpPr>
          <p:cNvPr id="65" name="conclusion-frame"/>
          <p:cNvSpPr/>
          <p:nvPr/>
        </p:nvSpPr>
        <p:spPr>
          <a:xfrm>
            <a:off x="32826960" y="21744431"/>
            <a:ext cx="10607040" cy="9235440"/>
          </a:xfrm>
          <a:prstGeom prst="roundRect">
            <a:avLst>
              <a:gd name="adj" fmla="val 3500"/>
            </a:avLst>
          </a:prstGeom>
          <a:solidFill>
            <a:srgbClr val="F7F9FC"/>
          </a:solidFill>
          <a:ln w="13970">
            <a:solidFill>
              <a:srgbClr val="4E89B9"/>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66" name="conclusion-header"/>
          <p:cNvSpPr/>
          <p:nvPr/>
        </p:nvSpPr>
        <p:spPr>
          <a:xfrm>
            <a:off x="32830617" y="21748089"/>
            <a:ext cx="10599724" cy="804672"/>
          </a:xfrm>
          <a:prstGeom prst="roundRect">
            <a:avLst>
              <a:gd name="adj" fmla="val 16000"/>
            </a:avLst>
          </a:prstGeom>
          <a:gradFill rotWithShape="1">
            <a:gsLst>
              <a:gs pos="0">
                <a:srgbClr val="155AA1"/>
              </a:gs>
              <a:gs pos="100000">
                <a:srgbClr val="829DBA"/>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67" name="conclusion-heading"/>
          <p:cNvSpPr txBox="1"/>
          <p:nvPr/>
        </p:nvSpPr>
        <p:spPr>
          <a:xfrm>
            <a:off x="33064703" y="21835872"/>
            <a:ext cx="10131552" cy="640080"/>
          </a:xfrm>
          <a:prstGeom prst="rect">
            <a:avLst/>
          </a:prstGeom>
          <a:noFill/>
        </p:spPr>
        <p:txBody>
          <a:bodyPr wrap="square" lIns="0" rIns="0" tIns="0" bIns="0" anchor="ctr">
            <a:spAutoFit/>
          </a:bodyPr>
          <a:lstStyle/>
          <a:p>
            <a:pPr algn="ctr">
              <a:lnSpc>
                <a:spcPct val="106000"/>
              </a:lnSpc>
              <a:spcAft>
                <a:spcPts val="0"/>
              </a:spcAft>
            </a:pPr>
            <a:r>
              <a:rPr sz="3200" b="1">
                <a:solidFill>
                  <a:srgbClr val="FFFFFF"/>
                </a:solidFill>
                <a:latin typeface="Times New Roman"/>
              </a:rPr>
              <a:t>CONCLUSION</a:t>
            </a:r>
          </a:p>
        </p:txBody>
      </p:sp>
      <p:sp>
        <p:nvSpPr>
          <p:cNvPr id="68" name="concl-60307"/>
          <p:cNvSpPr txBox="1"/>
          <p:nvPr/>
        </p:nvSpPr>
        <p:spPr>
          <a:xfrm>
            <a:off x="33101279" y="22677119"/>
            <a:ext cx="10058400" cy="457200"/>
          </a:xfrm>
          <a:prstGeom prst="rect">
            <a:avLst/>
          </a:prstGeom>
          <a:noFill/>
        </p:spPr>
        <p:txBody>
          <a:bodyPr wrap="square" lIns="0" rIns="0" tIns="0" bIns="0" anchor="t">
            <a:spAutoFit/>
          </a:bodyPr>
          <a:lstStyle/>
          <a:p>
            <a:pPr algn="l">
              <a:lnSpc>
                <a:spcPct val="106000"/>
              </a:lnSpc>
              <a:spcAft>
                <a:spcPts val="0"/>
              </a:spcAft>
            </a:pPr>
            <a:r>
              <a:rPr sz="2000" b="1">
                <a:solidFill>
                  <a:srgbClr val="15212C"/>
                </a:solidFill>
                <a:latin typeface="Times New Roman"/>
              </a:rPr>
              <a:t>Verified core.</a:t>
            </a:r>
            <a:r>
              <a:rPr sz="2000" b="0">
                <a:solidFill>
                  <a:srgbClr val="15212C"/>
                </a:solidFill>
                <a:latin typeface="Times New Roman"/>
              </a:rPr>
              <a:t> A transparent sparse solver reproduces its analytical Taylor benchmark to ≈0.1° through the flank-exponent observable, and closes the imposed-Taylor amplitude identity to 0.05%, on a laptop.</a:t>
            </a:r>
          </a:p>
        </p:txBody>
      </p:sp>
      <p:sp>
        <p:nvSpPr>
          <p:cNvPr id="69" name="concl-36933"/>
          <p:cNvSpPr txBox="1"/>
          <p:nvPr/>
        </p:nvSpPr>
        <p:spPr>
          <a:xfrm>
            <a:off x="33101279" y="24286464"/>
            <a:ext cx="10058400" cy="457200"/>
          </a:xfrm>
          <a:prstGeom prst="rect">
            <a:avLst/>
          </a:prstGeom>
          <a:noFill/>
        </p:spPr>
        <p:txBody>
          <a:bodyPr wrap="square" lIns="0" rIns="0" tIns="0" bIns="0" anchor="t">
            <a:spAutoFit/>
          </a:bodyPr>
          <a:lstStyle/>
          <a:p>
            <a:pPr algn="l">
              <a:lnSpc>
                <a:spcPct val="106000"/>
              </a:lnSpc>
              <a:spcAft>
                <a:spcPts val="0"/>
              </a:spcAft>
            </a:pPr>
            <a:r>
              <a:rPr sz="2000" b="1">
                <a:solidFill>
                  <a:srgbClr val="15212C"/>
                </a:solidFill>
                <a:latin typeface="Times New Roman"/>
              </a:rPr>
              <a:t>Independent agreement.</a:t>
            </a:r>
            <a:r>
              <a:rPr sz="2000" b="0">
                <a:solidFill>
                  <a:srgbClr val="15212C"/>
                </a:solidFill>
                <a:latin typeface="Times New Roman"/>
              </a:rPr>
              <a:t> Against a body-fitted P1 finite-element solve the finest grid agrees to 0.024% in potential, 0.226% in the vector field and 0.381% in the interface-normal field.</a:t>
            </a:r>
          </a:p>
        </p:txBody>
      </p:sp>
      <p:sp>
        <p:nvSpPr>
          <p:cNvPr id="70" name="concl-51306"/>
          <p:cNvSpPr txBox="1"/>
          <p:nvPr/>
        </p:nvSpPr>
        <p:spPr>
          <a:xfrm>
            <a:off x="33101279" y="25572720"/>
            <a:ext cx="10058400" cy="457200"/>
          </a:xfrm>
          <a:prstGeom prst="rect">
            <a:avLst/>
          </a:prstGeom>
          <a:noFill/>
        </p:spPr>
        <p:txBody>
          <a:bodyPr wrap="square" lIns="0" rIns="0" tIns="0" bIns="0" anchor="t">
            <a:spAutoFit/>
          </a:bodyPr>
          <a:lstStyle/>
          <a:p>
            <a:pPr algn="l">
              <a:lnSpc>
                <a:spcPct val="106000"/>
              </a:lnSpc>
              <a:spcAft>
                <a:spcPts val="0"/>
              </a:spcAft>
            </a:pPr>
            <a:r>
              <a:rPr sz="2000" b="1">
                <a:solidFill>
                  <a:srgbClr val="15212C"/>
                </a:solidFill>
                <a:latin typeface="Times New Roman"/>
              </a:rPr>
              <a:t>Measurement.</a:t>
            </a:r>
            <a:r>
              <a:rPr sz="2000" b="0">
                <a:solidFill>
                  <a:srgbClr val="15212C"/>
                </a:solidFill>
                <a:latin typeface="Times New Roman"/>
              </a:rPr>
              <a:t> The 108-case synthetic test bounds angle error at 0.299° and profile nRMSE at 1.406%. Applied to published ethanol photographs, the extracted half-angles differ from the separately reported series by 1.337° mean absolute at three matched voltages.</a:t>
            </a:r>
          </a:p>
        </p:txBody>
      </p:sp>
      <p:sp>
        <p:nvSpPr>
          <p:cNvPr id="71" name="concl-78206"/>
          <p:cNvSpPr txBox="1"/>
          <p:nvPr/>
        </p:nvSpPr>
        <p:spPr>
          <a:xfrm>
            <a:off x="33101279" y="27182064"/>
            <a:ext cx="10058400" cy="457200"/>
          </a:xfrm>
          <a:prstGeom prst="rect">
            <a:avLst/>
          </a:prstGeom>
          <a:noFill/>
        </p:spPr>
        <p:txBody>
          <a:bodyPr wrap="square" lIns="0" rIns="0" tIns="0" bIns="0" anchor="t">
            <a:spAutoFit/>
          </a:bodyPr>
          <a:lstStyle/>
          <a:p>
            <a:pPr algn="l">
              <a:lnSpc>
                <a:spcPct val="106000"/>
              </a:lnSpc>
              <a:spcAft>
                <a:spcPts val="0"/>
              </a:spcAft>
            </a:pPr>
            <a:r>
              <a:rPr sz="2000" b="1">
                <a:solidFill>
                  <a:srgbClr val="15212C"/>
                </a:solidFill>
                <a:latin typeface="Times New Roman"/>
              </a:rPr>
              <a:t>Balance diagnosis.</a:t>
            </a:r>
            <a:r>
              <a:rPr sz="2000" b="0">
                <a:solidFill>
                  <a:srgbClr val="15212C"/>
                </a:solidFill>
                <a:latin typeface="Times New Roman"/>
              </a:rPr>
              <a:t> With a fixed pressure calibrated at 1.7203 kV, mean residuals grow negative with voltage (−44 to −278 Pa) across five numerical settings — a systematic departure from a constant-pressure static balance.</a:t>
            </a:r>
          </a:p>
        </p:txBody>
      </p:sp>
      <p:sp>
        <p:nvSpPr>
          <p:cNvPr id="72" name="concl-29003"/>
          <p:cNvSpPr txBox="1"/>
          <p:nvPr/>
        </p:nvSpPr>
        <p:spPr>
          <a:xfrm>
            <a:off x="33101279" y="28791408"/>
            <a:ext cx="10058400" cy="457200"/>
          </a:xfrm>
          <a:prstGeom prst="rect">
            <a:avLst/>
          </a:prstGeom>
          <a:noFill/>
        </p:spPr>
        <p:txBody>
          <a:bodyPr wrap="square" lIns="0" rIns="0" tIns="0" bIns="0" anchor="t">
            <a:spAutoFit/>
          </a:bodyPr>
          <a:lstStyle/>
          <a:p>
            <a:pPr algn="l">
              <a:lnSpc>
                <a:spcPct val="106000"/>
              </a:lnSpc>
              <a:spcAft>
                <a:spcPts val="0"/>
              </a:spcAft>
            </a:pPr>
            <a:r>
              <a:rPr sz="2000" b="1">
                <a:solidFill>
                  <a:srgbClr val="15212C"/>
                </a:solidFill>
                <a:latin typeface="Times New Roman"/>
              </a:rPr>
              <a:t>Why it matters.</a:t>
            </a:r>
            <a:r>
              <a:rPr sz="2000" b="0">
                <a:solidFill>
                  <a:srgbClr val="15212C"/>
                </a:solidFill>
                <a:latin typeface="Times New Roman"/>
              </a:rPr>
              <a:t> A student or small laboratory can reproduce every number here with open-source Python and no specialised multiphysics licence.</a:t>
            </a:r>
          </a:p>
        </p:txBody>
      </p:sp>
      <p:sp>
        <p:nvSpPr>
          <p:cNvPr id="73" name="concl-53184"/>
          <p:cNvSpPr txBox="1"/>
          <p:nvPr/>
        </p:nvSpPr>
        <p:spPr>
          <a:xfrm>
            <a:off x="33101279" y="30077664"/>
            <a:ext cx="10058400" cy="457200"/>
          </a:xfrm>
          <a:prstGeom prst="rect">
            <a:avLst/>
          </a:prstGeom>
          <a:noFill/>
        </p:spPr>
        <p:txBody>
          <a:bodyPr wrap="square" lIns="0" rIns="0" tIns="0" bIns="0" anchor="t">
            <a:spAutoFit/>
          </a:bodyPr>
          <a:lstStyle/>
          <a:p>
            <a:pPr algn="l">
              <a:lnSpc>
                <a:spcPct val="106000"/>
              </a:lnSpc>
              <a:spcAft>
                <a:spcPts val="0"/>
              </a:spcAft>
            </a:pPr>
            <a:r>
              <a:rPr sz="2000" b="1">
                <a:solidFill>
                  <a:srgbClr val="15212C"/>
                </a:solidFill>
                <a:latin typeface="Times New Roman"/>
              </a:rPr>
              <a:t>Next.</a:t>
            </a:r>
            <a:r>
              <a:rPr sz="2000" b="0">
                <a:solidFill>
                  <a:srgbClr val="15212C"/>
                </a:solidFill>
                <a:latin typeface="Times New Roman"/>
              </a:rPr>
              <a:t> Supervised laboratory validation, sharper interface representation, space charge inside the optimisation loop, and more voltages, gaps and liquids.</a:t>
            </a:r>
          </a:p>
        </p:txBody>
      </p:sp>
      <p:sp>
        <p:nvSpPr>
          <p:cNvPr id="74" name="references-frame"/>
          <p:cNvSpPr/>
          <p:nvPr/>
        </p:nvSpPr>
        <p:spPr>
          <a:xfrm>
            <a:off x="32826960" y="31199328"/>
            <a:ext cx="10607040" cy="10607039"/>
          </a:xfrm>
          <a:prstGeom prst="roundRect">
            <a:avLst>
              <a:gd name="adj" fmla="val 3500"/>
            </a:avLst>
          </a:prstGeom>
          <a:solidFill>
            <a:srgbClr val="F7F9FC"/>
          </a:solidFill>
          <a:ln w="13970">
            <a:solidFill>
              <a:srgbClr val="4E89B9"/>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75" name="references-header"/>
          <p:cNvSpPr/>
          <p:nvPr/>
        </p:nvSpPr>
        <p:spPr>
          <a:xfrm>
            <a:off x="32830617" y="31202985"/>
            <a:ext cx="10599724" cy="804672"/>
          </a:xfrm>
          <a:prstGeom prst="roundRect">
            <a:avLst>
              <a:gd name="adj" fmla="val 16000"/>
            </a:avLst>
          </a:prstGeom>
          <a:gradFill rotWithShape="1">
            <a:gsLst>
              <a:gs pos="0">
                <a:srgbClr val="155AA1"/>
              </a:gs>
              <a:gs pos="100000">
                <a:srgbClr val="829DBA"/>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76" name="references-heading"/>
          <p:cNvSpPr txBox="1"/>
          <p:nvPr/>
        </p:nvSpPr>
        <p:spPr>
          <a:xfrm>
            <a:off x="33064703" y="31290768"/>
            <a:ext cx="10131552" cy="640080"/>
          </a:xfrm>
          <a:prstGeom prst="rect">
            <a:avLst/>
          </a:prstGeom>
          <a:noFill/>
        </p:spPr>
        <p:txBody>
          <a:bodyPr wrap="square" lIns="0" rIns="0" tIns="0" bIns="0" anchor="ctr">
            <a:spAutoFit/>
          </a:bodyPr>
          <a:lstStyle/>
          <a:p>
            <a:pPr algn="ctr">
              <a:lnSpc>
                <a:spcPct val="106000"/>
              </a:lnSpc>
              <a:spcAft>
                <a:spcPts val="0"/>
              </a:spcAft>
            </a:pPr>
            <a:r>
              <a:rPr sz="3200" b="1">
                <a:solidFill>
                  <a:srgbClr val="FFFFFF"/>
                </a:solidFill>
                <a:latin typeface="Times New Roman"/>
              </a:rPr>
              <a:t>REFERENCES</a:t>
            </a:r>
          </a:p>
        </p:txBody>
      </p:sp>
      <p:sp>
        <p:nvSpPr>
          <p:cNvPr id="77" name="ref-9679"/>
          <p:cNvSpPr txBox="1"/>
          <p:nvPr/>
        </p:nvSpPr>
        <p:spPr>
          <a:xfrm>
            <a:off x="33101279" y="32132016"/>
            <a:ext cx="10058400" cy="457200"/>
          </a:xfrm>
          <a:prstGeom prst="rect">
            <a:avLst/>
          </a:prstGeom>
          <a:noFill/>
        </p:spPr>
        <p:txBody>
          <a:bodyPr wrap="square" lIns="0" rIns="0" tIns="0" bIns="0" anchor="t">
            <a:spAutoFit/>
          </a:bodyPr>
          <a:lstStyle/>
          <a:p>
            <a:pPr algn="l" marL="274320" indent="0">
              <a:lnSpc>
                <a:spcPct val="103000"/>
              </a:lnSpc>
              <a:spcAft>
                <a:spcPts val="0"/>
              </a:spcAft>
            </a:pPr>
            <a:r>
              <a:rPr sz="1750" b="0">
                <a:solidFill>
                  <a:srgbClr val="15212C"/>
                </a:solidFill>
                <a:latin typeface="Times New Roman"/>
              </a:rPr>
              <a:t>[1] Taylor, G. I. Disintegration of water drops in an electric field. Proc. R. Soc. Lond. A 280(1382), 383–397 (1964).</a:t>
            </a:r>
          </a:p>
        </p:txBody>
      </p:sp>
      <p:sp>
        <p:nvSpPr>
          <p:cNvPr id="78" name="ref-4970"/>
          <p:cNvSpPr txBox="1"/>
          <p:nvPr/>
        </p:nvSpPr>
        <p:spPr>
          <a:xfrm>
            <a:off x="33101279" y="32965851"/>
            <a:ext cx="10058400" cy="457200"/>
          </a:xfrm>
          <a:prstGeom prst="rect">
            <a:avLst/>
          </a:prstGeom>
          <a:noFill/>
        </p:spPr>
        <p:txBody>
          <a:bodyPr wrap="square" lIns="0" rIns="0" tIns="0" bIns="0" anchor="t">
            <a:spAutoFit/>
          </a:bodyPr>
          <a:lstStyle/>
          <a:p>
            <a:pPr algn="l" marL="274320" indent="0">
              <a:lnSpc>
                <a:spcPct val="103000"/>
              </a:lnSpc>
              <a:spcAft>
                <a:spcPts val="0"/>
              </a:spcAft>
            </a:pPr>
            <a:r>
              <a:rPr sz="1750" b="0">
                <a:solidFill>
                  <a:srgbClr val="15212C"/>
                </a:solidFill>
                <a:latin typeface="Times New Roman"/>
              </a:rPr>
              <a:t>[2] Fernández de la Mora, J. The fluid dynamics of Taylor cones. Annu. Rev. Fluid Mech. 39, 217–243 (2007).</a:t>
            </a:r>
          </a:p>
        </p:txBody>
      </p:sp>
      <p:sp>
        <p:nvSpPr>
          <p:cNvPr id="79" name="ref-67166"/>
          <p:cNvSpPr txBox="1"/>
          <p:nvPr/>
        </p:nvSpPr>
        <p:spPr>
          <a:xfrm>
            <a:off x="33101279" y="33516985"/>
            <a:ext cx="10058400" cy="457200"/>
          </a:xfrm>
          <a:prstGeom prst="rect">
            <a:avLst/>
          </a:prstGeom>
          <a:noFill/>
        </p:spPr>
        <p:txBody>
          <a:bodyPr wrap="square" lIns="0" rIns="0" tIns="0" bIns="0" anchor="t">
            <a:spAutoFit/>
          </a:bodyPr>
          <a:lstStyle/>
          <a:p>
            <a:pPr algn="l" marL="274320" indent="0">
              <a:lnSpc>
                <a:spcPct val="103000"/>
              </a:lnSpc>
              <a:spcAft>
                <a:spcPts val="0"/>
              </a:spcAft>
            </a:pPr>
            <a:r>
              <a:rPr sz="1750" b="0">
                <a:solidFill>
                  <a:srgbClr val="15212C"/>
                </a:solidFill>
                <a:latin typeface="Times New Roman"/>
              </a:rPr>
              <a:t>[3] Melcher, J. R., &amp; Taylor, G. I. Electrohydrodynamics: a review of the role of interfacial shear stresses. Annu. Rev. Fluid Mech. 1, 111–146 (1969).</a:t>
            </a:r>
          </a:p>
        </p:txBody>
      </p:sp>
      <p:sp>
        <p:nvSpPr>
          <p:cNvPr id="80" name="ref-2345"/>
          <p:cNvSpPr txBox="1"/>
          <p:nvPr/>
        </p:nvSpPr>
        <p:spPr>
          <a:xfrm>
            <a:off x="33101279" y="34350821"/>
            <a:ext cx="10058400" cy="457200"/>
          </a:xfrm>
          <a:prstGeom prst="rect">
            <a:avLst/>
          </a:prstGeom>
          <a:noFill/>
        </p:spPr>
        <p:txBody>
          <a:bodyPr wrap="square" lIns="0" rIns="0" tIns="0" bIns="0" anchor="t">
            <a:spAutoFit/>
          </a:bodyPr>
          <a:lstStyle/>
          <a:p>
            <a:pPr algn="l" marL="274320" indent="0">
              <a:lnSpc>
                <a:spcPct val="103000"/>
              </a:lnSpc>
              <a:spcAft>
                <a:spcPts val="0"/>
              </a:spcAft>
            </a:pPr>
            <a:r>
              <a:rPr sz="1750" b="0">
                <a:solidFill>
                  <a:srgbClr val="15212C"/>
                </a:solidFill>
                <a:latin typeface="Times New Roman"/>
              </a:rPr>
              <a:t>[4] Saville, D. A. Electrohydrodynamics: the Taylor–Melcher leaky dielectric model. Annu. Rev. Fluid Mech. 29, 27–64 (1997).</a:t>
            </a:r>
          </a:p>
        </p:txBody>
      </p:sp>
      <p:sp>
        <p:nvSpPr>
          <p:cNvPr id="81" name="ref-25615"/>
          <p:cNvSpPr txBox="1"/>
          <p:nvPr/>
        </p:nvSpPr>
        <p:spPr>
          <a:xfrm>
            <a:off x="33101279" y="35184657"/>
            <a:ext cx="10058400" cy="457200"/>
          </a:xfrm>
          <a:prstGeom prst="rect">
            <a:avLst/>
          </a:prstGeom>
          <a:noFill/>
        </p:spPr>
        <p:txBody>
          <a:bodyPr wrap="square" lIns="0" rIns="0" tIns="0" bIns="0" anchor="t">
            <a:spAutoFit/>
          </a:bodyPr>
          <a:lstStyle/>
          <a:p>
            <a:pPr algn="l" marL="274320" indent="0">
              <a:lnSpc>
                <a:spcPct val="103000"/>
              </a:lnSpc>
              <a:spcAft>
                <a:spcPts val="0"/>
              </a:spcAft>
            </a:pPr>
            <a:r>
              <a:rPr sz="1750" b="0">
                <a:solidFill>
                  <a:srgbClr val="15212C"/>
                </a:solidFill>
                <a:latin typeface="Times New Roman"/>
              </a:rPr>
              <a:t>[5] Gañán-Calvo, A. M. Cone-jet analytical extension of Taylor's electrostatic solution. Phys. Rev. Lett. 79(2), 217–220 (1997).</a:t>
            </a:r>
          </a:p>
        </p:txBody>
      </p:sp>
      <p:sp>
        <p:nvSpPr>
          <p:cNvPr id="82" name="ref-31447"/>
          <p:cNvSpPr txBox="1"/>
          <p:nvPr/>
        </p:nvSpPr>
        <p:spPr>
          <a:xfrm>
            <a:off x="33101279" y="36018493"/>
            <a:ext cx="10058400" cy="457200"/>
          </a:xfrm>
          <a:prstGeom prst="rect">
            <a:avLst/>
          </a:prstGeom>
          <a:noFill/>
        </p:spPr>
        <p:txBody>
          <a:bodyPr wrap="square" lIns="0" rIns="0" tIns="0" bIns="0" anchor="t">
            <a:spAutoFit/>
          </a:bodyPr>
          <a:lstStyle/>
          <a:p>
            <a:pPr algn="l" marL="274320" indent="0">
              <a:lnSpc>
                <a:spcPct val="103000"/>
              </a:lnSpc>
              <a:spcAft>
                <a:spcPts val="0"/>
              </a:spcAft>
            </a:pPr>
            <a:r>
              <a:rPr sz="1750" b="0">
                <a:solidFill>
                  <a:srgbClr val="15212C"/>
                </a:solidFill>
                <a:latin typeface="Times New Roman"/>
              </a:rPr>
              <a:t>[6] Fernández de la Mora, J., &amp; Loscertales, I. G. The current emitted by highly conducting Taylor cones. J. Fluid Mech. 260, 155–184 (1994).</a:t>
            </a:r>
          </a:p>
        </p:txBody>
      </p:sp>
      <p:sp>
        <p:nvSpPr>
          <p:cNvPr id="83" name="ref-89082"/>
          <p:cNvSpPr txBox="1"/>
          <p:nvPr/>
        </p:nvSpPr>
        <p:spPr>
          <a:xfrm>
            <a:off x="33101279" y="36852328"/>
            <a:ext cx="10058400" cy="457200"/>
          </a:xfrm>
          <a:prstGeom prst="rect">
            <a:avLst/>
          </a:prstGeom>
          <a:noFill/>
        </p:spPr>
        <p:txBody>
          <a:bodyPr wrap="square" lIns="0" rIns="0" tIns="0" bIns="0" anchor="t">
            <a:spAutoFit/>
          </a:bodyPr>
          <a:lstStyle/>
          <a:p>
            <a:pPr algn="l" marL="274320" indent="0">
              <a:lnSpc>
                <a:spcPct val="103000"/>
              </a:lnSpc>
              <a:spcAft>
                <a:spcPts val="0"/>
              </a:spcAft>
            </a:pPr>
            <a:r>
              <a:rPr sz="1750" b="0">
                <a:solidFill>
                  <a:srgbClr val="15212C"/>
                </a:solidFill>
                <a:latin typeface="Times New Roman"/>
              </a:rPr>
              <a:t>[7] Hartman, R. P. A. et al. Electrohydrodynamic atomization in the cone–jet mode. J. Aerosol Sci. 30(7), 823–849 (1999).</a:t>
            </a:r>
          </a:p>
        </p:txBody>
      </p:sp>
      <p:sp>
        <p:nvSpPr>
          <p:cNvPr id="84" name="ref-30257"/>
          <p:cNvSpPr txBox="1"/>
          <p:nvPr/>
        </p:nvSpPr>
        <p:spPr>
          <a:xfrm>
            <a:off x="33101279" y="37686164"/>
            <a:ext cx="10058400" cy="457200"/>
          </a:xfrm>
          <a:prstGeom prst="rect">
            <a:avLst/>
          </a:prstGeom>
          <a:noFill/>
        </p:spPr>
        <p:txBody>
          <a:bodyPr wrap="square" lIns="0" rIns="0" tIns="0" bIns="0" anchor="t">
            <a:spAutoFit/>
          </a:bodyPr>
          <a:lstStyle/>
          <a:p>
            <a:pPr algn="l" marL="274320" indent="0">
              <a:lnSpc>
                <a:spcPct val="103000"/>
              </a:lnSpc>
              <a:spcAft>
                <a:spcPts val="0"/>
              </a:spcAft>
            </a:pPr>
            <a:r>
              <a:rPr sz="1750" b="0">
                <a:solidFill>
                  <a:srgbClr val="15212C"/>
                </a:solidFill>
                <a:latin typeface="Times New Roman"/>
              </a:rPr>
              <a:t>[8] Cloupeau, M., &amp; Prunet-Foch, B. Electrostatic spraying of liquids in cone-jet mode. J. Electrostat. 22(2), 135–159 (1989).</a:t>
            </a:r>
          </a:p>
        </p:txBody>
      </p:sp>
      <p:sp>
        <p:nvSpPr>
          <p:cNvPr id="85" name="ref-88950"/>
          <p:cNvSpPr txBox="1"/>
          <p:nvPr/>
        </p:nvSpPr>
        <p:spPr>
          <a:xfrm>
            <a:off x="33101279" y="38520000"/>
            <a:ext cx="10058400" cy="457200"/>
          </a:xfrm>
          <a:prstGeom prst="rect">
            <a:avLst/>
          </a:prstGeom>
          <a:noFill/>
        </p:spPr>
        <p:txBody>
          <a:bodyPr wrap="square" lIns="0" rIns="0" tIns="0" bIns="0" anchor="t">
            <a:spAutoFit/>
          </a:bodyPr>
          <a:lstStyle/>
          <a:p>
            <a:pPr algn="l" marL="274320" indent="0">
              <a:lnSpc>
                <a:spcPct val="103000"/>
              </a:lnSpc>
              <a:spcAft>
                <a:spcPts val="0"/>
              </a:spcAft>
            </a:pPr>
            <a:r>
              <a:rPr sz="1750" b="0">
                <a:solidFill>
                  <a:srgbClr val="15212C"/>
                </a:solidFill>
                <a:latin typeface="Times New Roman"/>
              </a:rPr>
              <a:t>[9] Cloupeau, M., &amp; Prunet-Foch, B. Electrohydrodynamic spraying functioning modes: a critical review. J. Aerosol Sci. 25(6), 1021–1036 (1994).</a:t>
            </a:r>
          </a:p>
        </p:txBody>
      </p:sp>
      <p:sp>
        <p:nvSpPr>
          <p:cNvPr id="86" name="ref-9252"/>
          <p:cNvSpPr txBox="1"/>
          <p:nvPr/>
        </p:nvSpPr>
        <p:spPr>
          <a:xfrm>
            <a:off x="33101279" y="39353836"/>
            <a:ext cx="10058400" cy="457200"/>
          </a:xfrm>
          <a:prstGeom prst="rect">
            <a:avLst/>
          </a:prstGeom>
          <a:noFill/>
        </p:spPr>
        <p:txBody>
          <a:bodyPr wrap="square" lIns="0" rIns="0" tIns="0" bIns="0" anchor="t">
            <a:spAutoFit/>
          </a:bodyPr>
          <a:lstStyle/>
          <a:p>
            <a:pPr algn="l" marL="274320" indent="0">
              <a:lnSpc>
                <a:spcPct val="103000"/>
              </a:lnSpc>
              <a:spcAft>
                <a:spcPts val="0"/>
              </a:spcAft>
            </a:pPr>
            <a:r>
              <a:rPr sz="1750" b="0">
                <a:solidFill>
                  <a:srgbClr val="15212C"/>
                </a:solidFill>
                <a:latin typeface="Times New Roman"/>
              </a:rPr>
              <a:t>[10] Karimi, M. et al. Onset voltage and stability island of electrospray in the cone-jet mode using a curved counter electrode. J. Electrostat. 98, 1–10 (2019).</a:t>
            </a:r>
          </a:p>
        </p:txBody>
      </p:sp>
      <p:sp>
        <p:nvSpPr>
          <p:cNvPr id="87" name="ref-97867"/>
          <p:cNvSpPr txBox="1"/>
          <p:nvPr/>
        </p:nvSpPr>
        <p:spPr>
          <a:xfrm>
            <a:off x="33101279" y="40187672"/>
            <a:ext cx="10058400" cy="457200"/>
          </a:xfrm>
          <a:prstGeom prst="rect">
            <a:avLst/>
          </a:prstGeom>
          <a:noFill/>
        </p:spPr>
        <p:txBody>
          <a:bodyPr wrap="square" lIns="0" rIns="0" tIns="0" bIns="0" anchor="t">
            <a:spAutoFit/>
          </a:bodyPr>
          <a:lstStyle/>
          <a:p>
            <a:pPr algn="l" marL="274320" indent="0">
              <a:lnSpc>
                <a:spcPct val="103000"/>
              </a:lnSpc>
              <a:spcAft>
                <a:spcPts val="0"/>
              </a:spcAft>
            </a:pPr>
            <a:r>
              <a:rPr sz="1750" b="0">
                <a:solidFill>
                  <a:srgbClr val="15212C"/>
                </a:solidFill>
                <a:latin typeface="Times New Roman"/>
              </a:rPr>
              <a:t>[11] Zhang, Z. A flexible new technique for camera calibration. IEEE Trans. Pattern Anal. Mach. Intell. 22(11), 1330–1334 (2000).</a:t>
            </a:r>
          </a:p>
        </p:txBody>
      </p:sp>
      <p:sp>
        <p:nvSpPr>
          <p:cNvPr id="88" name="ref-36588"/>
          <p:cNvSpPr txBox="1"/>
          <p:nvPr/>
        </p:nvSpPr>
        <p:spPr>
          <a:xfrm>
            <a:off x="33101279" y="41021508"/>
            <a:ext cx="10058400" cy="457200"/>
          </a:xfrm>
          <a:prstGeom prst="rect">
            <a:avLst/>
          </a:prstGeom>
          <a:noFill/>
        </p:spPr>
        <p:txBody>
          <a:bodyPr wrap="square" lIns="0" rIns="0" tIns="0" bIns="0" anchor="t">
            <a:spAutoFit/>
          </a:bodyPr>
          <a:lstStyle/>
          <a:p>
            <a:pPr algn="l" marL="274320" indent="0">
              <a:lnSpc>
                <a:spcPct val="103000"/>
              </a:lnSpc>
              <a:spcAft>
                <a:spcPts val="0"/>
              </a:spcAft>
            </a:pPr>
            <a:r>
              <a:rPr sz="1750" b="0">
                <a:solidFill>
                  <a:srgbClr val="15212C"/>
                </a:solidFill>
                <a:latin typeface="Times New Roman"/>
              </a:rPr>
              <a:t>[12] Yang, P., Peng, Y., Yi, H., &amp; Wu, J. Experimental study on ethanol electrostatic spray mode and Taylor cone-jet characteristics. J. Exp. Fluid Mech. 39(3), 54–62 (2025).</a:t>
            </a:r>
          </a:p>
        </p:txBody>
      </p:sp>
      <p:sp>
        <p:nvSpPr>
          <p:cNvPr id="89" name="workflow-frame"/>
          <p:cNvSpPr/>
          <p:nvPr/>
        </p:nvSpPr>
        <p:spPr>
          <a:xfrm>
            <a:off x="11301984" y="3145536"/>
            <a:ext cx="21305520" cy="5724144"/>
          </a:xfrm>
          <a:prstGeom prst="roundRect">
            <a:avLst>
              <a:gd name="adj" fmla="val 3500"/>
            </a:avLst>
          </a:prstGeom>
          <a:solidFill>
            <a:srgbClr val="F7F9FC"/>
          </a:solidFill>
          <a:ln w="13970">
            <a:solidFill>
              <a:srgbClr val="4E89B9"/>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90" name="workflow-header"/>
          <p:cNvSpPr/>
          <p:nvPr/>
        </p:nvSpPr>
        <p:spPr>
          <a:xfrm>
            <a:off x="11305641" y="3149193"/>
            <a:ext cx="21298204" cy="804672"/>
          </a:xfrm>
          <a:prstGeom prst="roundRect">
            <a:avLst>
              <a:gd name="adj" fmla="val 16000"/>
            </a:avLst>
          </a:prstGeom>
          <a:gradFill rotWithShape="1">
            <a:gsLst>
              <a:gs pos="0">
                <a:srgbClr val="155AA1"/>
              </a:gs>
              <a:gs pos="100000">
                <a:srgbClr val="829DBA"/>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91" name="workflow-heading"/>
          <p:cNvSpPr txBox="1"/>
          <p:nvPr/>
        </p:nvSpPr>
        <p:spPr>
          <a:xfrm>
            <a:off x="11539728" y="3236976"/>
            <a:ext cx="20830032" cy="640080"/>
          </a:xfrm>
          <a:prstGeom prst="rect">
            <a:avLst/>
          </a:prstGeom>
          <a:noFill/>
        </p:spPr>
        <p:txBody>
          <a:bodyPr wrap="square" lIns="0" rIns="0" tIns="0" bIns="0" anchor="ctr">
            <a:spAutoFit/>
          </a:bodyPr>
          <a:lstStyle/>
          <a:p>
            <a:pPr algn="ctr">
              <a:lnSpc>
                <a:spcPct val="106000"/>
              </a:lnSpc>
              <a:spcAft>
                <a:spcPts val="0"/>
              </a:spcAft>
            </a:pPr>
            <a:r>
              <a:rPr sz="3200" b="1">
                <a:solidFill>
                  <a:srgbClr val="FFFFFF"/>
                </a:solidFill>
                <a:latin typeface="Times New Roman"/>
              </a:rPr>
              <a:t>KEY VERIFIED RESULTS</a:t>
            </a:r>
          </a:p>
        </p:txBody>
      </p:sp>
      <p:sp>
        <p:nvSpPr>
          <p:cNvPr id="92" name="card-0"/>
          <p:cNvSpPr/>
          <p:nvPr/>
        </p:nvSpPr>
        <p:spPr>
          <a:xfrm>
            <a:off x="11576304" y="4078224"/>
            <a:ext cx="4005072" cy="2304288"/>
          </a:xfrm>
          <a:prstGeom prst="roundRect">
            <a:avLst>
              <a:gd name="adj" fmla="val 9000"/>
            </a:avLst>
          </a:prstGeom>
          <a:solidFill>
            <a:srgbClr val="F2F8FC"/>
          </a:solidFill>
          <a:ln w="13970">
            <a:solidFill>
              <a:srgbClr val="BBD6E8"/>
            </a:solid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93" name="card-0-big"/>
          <p:cNvSpPr txBox="1"/>
          <p:nvPr/>
        </p:nvSpPr>
        <p:spPr>
          <a:xfrm>
            <a:off x="11777472" y="4224528"/>
            <a:ext cx="3602736" cy="713232"/>
          </a:xfrm>
          <a:prstGeom prst="rect">
            <a:avLst/>
          </a:prstGeom>
          <a:noFill/>
        </p:spPr>
        <p:txBody>
          <a:bodyPr wrap="square" lIns="0" rIns="0" tIns="0" bIns="0" anchor="t">
            <a:spAutoFit/>
          </a:bodyPr>
          <a:lstStyle/>
          <a:p>
            <a:pPr algn="l">
              <a:lnSpc>
                <a:spcPct val="100000"/>
              </a:lnSpc>
              <a:spcAft>
                <a:spcPts val="0"/>
              </a:spcAft>
            </a:pPr>
            <a:r>
              <a:rPr sz="4000" b="1">
                <a:solidFill>
                  <a:srgbClr val="0072B5"/>
                </a:solidFill>
                <a:latin typeface="Times New Roman"/>
              </a:rPr>
              <a:t>2.02</a:t>
            </a:r>
          </a:p>
        </p:txBody>
      </p:sp>
      <p:sp>
        <p:nvSpPr>
          <p:cNvPr id="94" name="card-0-label"/>
          <p:cNvSpPr txBox="1"/>
          <p:nvPr/>
        </p:nvSpPr>
        <p:spPr>
          <a:xfrm>
            <a:off x="11777472" y="4937760"/>
            <a:ext cx="3602736" cy="292608"/>
          </a:xfrm>
          <a:prstGeom prst="rect">
            <a:avLst/>
          </a:prstGeom>
          <a:noFill/>
        </p:spPr>
        <p:txBody>
          <a:bodyPr wrap="square" lIns="0" rIns="0" tIns="0" bIns="0" anchor="t">
            <a:spAutoFit/>
          </a:bodyPr>
          <a:lstStyle/>
          <a:p>
            <a:pPr algn="l">
              <a:lnSpc>
                <a:spcPct val="100000"/>
              </a:lnSpc>
              <a:spcAft>
                <a:spcPts val="0"/>
              </a:spcAft>
            </a:pPr>
            <a:r>
              <a:rPr sz="1800" b="1">
                <a:solidFill>
                  <a:srgbClr val="C45A12"/>
                </a:solidFill>
                <a:latin typeface="Times New Roman"/>
              </a:rPr>
              <a:t>convergence order</a:t>
            </a:r>
          </a:p>
        </p:txBody>
      </p:sp>
      <p:sp>
        <p:nvSpPr>
          <p:cNvPr id="95" name="card-0-title"/>
          <p:cNvSpPr txBox="1"/>
          <p:nvPr/>
        </p:nvSpPr>
        <p:spPr>
          <a:xfrm>
            <a:off x="11777472" y="5248656"/>
            <a:ext cx="3602736" cy="548640"/>
          </a:xfrm>
          <a:prstGeom prst="rect">
            <a:avLst/>
          </a:prstGeom>
          <a:noFill/>
        </p:spPr>
        <p:txBody>
          <a:bodyPr wrap="square" lIns="0" rIns="0" tIns="0" bIns="0" anchor="t">
            <a:spAutoFit/>
          </a:bodyPr>
          <a:lstStyle/>
          <a:p>
            <a:pPr algn="l">
              <a:lnSpc>
                <a:spcPct val="102000"/>
              </a:lnSpc>
              <a:spcAft>
                <a:spcPts val="0"/>
              </a:spcAft>
            </a:pPr>
            <a:r>
              <a:rPr sz="1700" b="0">
                <a:solidFill>
                  <a:srgbClr val="15212C"/>
                </a:solidFill>
                <a:latin typeface="Times New Roman"/>
              </a:rPr>
              <a:t>Quartic manufactured Poisson</a:t>
            </a:r>
          </a:p>
        </p:txBody>
      </p:sp>
      <p:sp>
        <p:nvSpPr>
          <p:cNvPr id="96" name="card-0-sub"/>
          <p:cNvSpPr txBox="1"/>
          <p:nvPr/>
        </p:nvSpPr>
        <p:spPr>
          <a:xfrm>
            <a:off x="11777472" y="5833872"/>
            <a:ext cx="3602736" cy="475488"/>
          </a:xfrm>
          <a:prstGeom prst="rect">
            <a:avLst/>
          </a:prstGeom>
          <a:noFill/>
        </p:spPr>
        <p:txBody>
          <a:bodyPr wrap="square" lIns="0" rIns="0" tIns="0" bIns="0" anchor="t">
            <a:spAutoFit/>
          </a:bodyPr>
          <a:lstStyle/>
          <a:p>
            <a:pPr algn="l">
              <a:lnSpc>
                <a:spcPct val="102000"/>
              </a:lnSpc>
              <a:spcAft>
                <a:spcPts val="0"/>
              </a:spcAft>
            </a:pPr>
            <a:r>
              <a:rPr sz="1600" b="0">
                <a:solidFill>
                  <a:srgbClr val="4A5A66"/>
                </a:solidFill>
                <a:latin typeface="Times New Roman"/>
              </a:rPr>
              <a:t>L² orders 2.025 / 2.013 / 2.006 across four grids</a:t>
            </a:r>
          </a:p>
        </p:txBody>
      </p:sp>
      <p:sp>
        <p:nvSpPr>
          <p:cNvPr id="97" name="card-1"/>
          <p:cNvSpPr/>
          <p:nvPr/>
        </p:nvSpPr>
        <p:spPr>
          <a:xfrm>
            <a:off x="15764256" y="4078224"/>
            <a:ext cx="4005072" cy="2304288"/>
          </a:xfrm>
          <a:prstGeom prst="roundRect">
            <a:avLst>
              <a:gd name="adj" fmla="val 9000"/>
            </a:avLst>
          </a:prstGeom>
          <a:solidFill>
            <a:srgbClr val="F2F8FC"/>
          </a:solidFill>
          <a:ln w="13970">
            <a:solidFill>
              <a:srgbClr val="BBD6E8"/>
            </a:solid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98" name="card-1-big"/>
          <p:cNvSpPr txBox="1"/>
          <p:nvPr/>
        </p:nvSpPr>
        <p:spPr>
          <a:xfrm>
            <a:off x="15965424" y="4224528"/>
            <a:ext cx="3602736" cy="713232"/>
          </a:xfrm>
          <a:prstGeom prst="rect">
            <a:avLst/>
          </a:prstGeom>
          <a:noFill/>
        </p:spPr>
        <p:txBody>
          <a:bodyPr wrap="square" lIns="0" rIns="0" tIns="0" bIns="0" anchor="t">
            <a:spAutoFit/>
          </a:bodyPr>
          <a:lstStyle/>
          <a:p>
            <a:pPr algn="l">
              <a:lnSpc>
                <a:spcPct val="100000"/>
              </a:lnSpc>
              <a:spcAft>
                <a:spcPts val="0"/>
              </a:spcAft>
            </a:pPr>
            <a:r>
              <a:rPr sz="4000" b="1">
                <a:solidFill>
                  <a:srgbClr val="0072B5"/>
                </a:solidFill>
                <a:latin typeface="Times New Roman"/>
              </a:rPr>
              <a:t>49.2901°</a:t>
            </a:r>
          </a:p>
        </p:txBody>
      </p:sp>
      <p:sp>
        <p:nvSpPr>
          <p:cNvPr id="99" name="card-1-label"/>
          <p:cNvSpPr txBox="1"/>
          <p:nvPr/>
        </p:nvSpPr>
        <p:spPr>
          <a:xfrm>
            <a:off x="15965424" y="4937760"/>
            <a:ext cx="3602736" cy="292608"/>
          </a:xfrm>
          <a:prstGeom prst="rect">
            <a:avLst/>
          </a:prstGeom>
          <a:noFill/>
        </p:spPr>
        <p:txBody>
          <a:bodyPr wrap="square" lIns="0" rIns="0" tIns="0" bIns="0" anchor="t">
            <a:spAutoFit/>
          </a:bodyPr>
          <a:lstStyle/>
          <a:p>
            <a:pPr algn="l">
              <a:lnSpc>
                <a:spcPct val="100000"/>
              </a:lnSpc>
              <a:spcAft>
                <a:spcPts val="0"/>
              </a:spcAft>
            </a:pPr>
            <a:r>
              <a:rPr sz="1800" b="1">
                <a:solidFill>
                  <a:srgbClr val="C45A12"/>
                </a:solidFill>
                <a:latin typeface="Times New Roman"/>
              </a:rPr>
              <a:t>Taylor benchmark</a:t>
            </a:r>
          </a:p>
        </p:txBody>
      </p:sp>
      <p:sp>
        <p:nvSpPr>
          <p:cNvPr id="100" name="card-1-title"/>
          <p:cNvSpPr txBox="1"/>
          <p:nvPr/>
        </p:nvSpPr>
        <p:spPr>
          <a:xfrm>
            <a:off x="15965424" y="5248656"/>
            <a:ext cx="3602736" cy="548640"/>
          </a:xfrm>
          <a:prstGeom prst="rect">
            <a:avLst/>
          </a:prstGeom>
          <a:noFill/>
        </p:spPr>
        <p:txBody>
          <a:bodyPr wrap="square" lIns="0" rIns="0" tIns="0" bIns="0" anchor="t">
            <a:spAutoFit/>
          </a:bodyPr>
          <a:lstStyle/>
          <a:p>
            <a:pPr algn="l">
              <a:lnSpc>
                <a:spcPct val="102000"/>
              </a:lnSpc>
              <a:spcAft>
                <a:spcPts val="0"/>
              </a:spcAft>
            </a:pPr>
            <a:r>
              <a:rPr sz="1700" b="0">
                <a:solidFill>
                  <a:srgbClr val="15212C"/>
                </a:solidFill>
                <a:latin typeface="Times New Roman"/>
              </a:rPr>
              <a:t>Root of P₁/₂(cos θ) = 0</a:t>
            </a:r>
          </a:p>
        </p:txBody>
      </p:sp>
      <p:sp>
        <p:nvSpPr>
          <p:cNvPr id="101" name="card-1-sub"/>
          <p:cNvSpPr txBox="1"/>
          <p:nvPr/>
        </p:nvSpPr>
        <p:spPr>
          <a:xfrm>
            <a:off x="15965424" y="5833872"/>
            <a:ext cx="3602736" cy="475488"/>
          </a:xfrm>
          <a:prstGeom prst="rect">
            <a:avLst/>
          </a:prstGeom>
          <a:noFill/>
        </p:spPr>
        <p:txBody>
          <a:bodyPr wrap="square" lIns="0" rIns="0" tIns="0" bIns="0" anchor="t">
            <a:spAutoFit/>
          </a:bodyPr>
          <a:lstStyle/>
          <a:p>
            <a:pPr algn="l">
              <a:lnSpc>
                <a:spcPct val="102000"/>
              </a:lnSpc>
              <a:spcAft>
                <a:spcPts val="0"/>
              </a:spcAft>
            </a:pPr>
            <a:r>
              <a:rPr sz="1600" b="0">
                <a:solidFill>
                  <a:srgbClr val="4A5A66"/>
                </a:solidFill>
                <a:latin typeface="Times New Roman"/>
              </a:rPr>
              <a:t>computed by the solver, not quoted</a:t>
            </a:r>
          </a:p>
        </p:txBody>
      </p:sp>
      <p:sp>
        <p:nvSpPr>
          <p:cNvPr id="102" name="card-2"/>
          <p:cNvSpPr/>
          <p:nvPr/>
        </p:nvSpPr>
        <p:spPr>
          <a:xfrm>
            <a:off x="19952208" y="4078224"/>
            <a:ext cx="4005072" cy="2304288"/>
          </a:xfrm>
          <a:prstGeom prst="roundRect">
            <a:avLst>
              <a:gd name="adj" fmla="val 9000"/>
            </a:avLst>
          </a:prstGeom>
          <a:solidFill>
            <a:srgbClr val="F2F8FC"/>
          </a:solidFill>
          <a:ln w="13970">
            <a:solidFill>
              <a:srgbClr val="BBD6E8"/>
            </a:solid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03" name="card-2-big"/>
          <p:cNvSpPr txBox="1"/>
          <p:nvPr/>
        </p:nvSpPr>
        <p:spPr>
          <a:xfrm>
            <a:off x="20153376" y="4224528"/>
            <a:ext cx="3602736" cy="713232"/>
          </a:xfrm>
          <a:prstGeom prst="rect">
            <a:avLst/>
          </a:prstGeom>
          <a:noFill/>
        </p:spPr>
        <p:txBody>
          <a:bodyPr wrap="square" lIns="0" rIns="0" tIns="0" bIns="0" anchor="t">
            <a:spAutoFit/>
          </a:bodyPr>
          <a:lstStyle/>
          <a:p>
            <a:pPr algn="l">
              <a:lnSpc>
                <a:spcPct val="100000"/>
              </a:lnSpc>
              <a:spcAft>
                <a:spcPts val="0"/>
              </a:spcAft>
            </a:pPr>
            <a:r>
              <a:rPr sz="4000" b="1">
                <a:solidFill>
                  <a:srgbClr val="0072B5"/>
                </a:solidFill>
                <a:latin typeface="Times New Roman"/>
              </a:rPr>
              <a:t>1.00054</a:t>
            </a:r>
          </a:p>
        </p:txBody>
      </p:sp>
      <p:sp>
        <p:nvSpPr>
          <p:cNvPr id="104" name="card-2-label"/>
          <p:cNvSpPr txBox="1"/>
          <p:nvPr/>
        </p:nvSpPr>
        <p:spPr>
          <a:xfrm>
            <a:off x="20153376" y="4937760"/>
            <a:ext cx="3602736" cy="292608"/>
          </a:xfrm>
          <a:prstGeom prst="rect">
            <a:avLst/>
          </a:prstGeom>
          <a:noFill/>
        </p:spPr>
        <p:txBody>
          <a:bodyPr wrap="square" lIns="0" rIns="0" tIns="0" bIns="0" anchor="t">
            <a:spAutoFit/>
          </a:bodyPr>
          <a:lstStyle/>
          <a:p>
            <a:pPr algn="l">
              <a:lnSpc>
                <a:spcPct val="100000"/>
              </a:lnSpc>
              <a:spcAft>
                <a:spcPts val="0"/>
              </a:spcAft>
            </a:pPr>
            <a:r>
              <a:rPr sz="1800" b="1">
                <a:solidFill>
                  <a:srgbClr val="C45A12"/>
                </a:solidFill>
                <a:latin typeface="Times New Roman"/>
              </a:rPr>
              <a:t>amplitude identity</a:t>
            </a:r>
          </a:p>
        </p:txBody>
      </p:sp>
      <p:sp>
        <p:nvSpPr>
          <p:cNvPr id="105" name="card-2-title"/>
          <p:cNvSpPr txBox="1"/>
          <p:nvPr/>
        </p:nvSpPr>
        <p:spPr>
          <a:xfrm>
            <a:off x="20153376" y="5248656"/>
            <a:ext cx="3602736" cy="548640"/>
          </a:xfrm>
          <a:prstGeom prst="rect">
            <a:avLst/>
          </a:prstGeom>
          <a:noFill/>
        </p:spPr>
        <p:txBody>
          <a:bodyPr wrap="square" lIns="0" rIns="0" tIns="0" bIns="0" anchor="t">
            <a:spAutoFit/>
          </a:bodyPr>
          <a:lstStyle/>
          <a:p>
            <a:pPr algn="l">
              <a:lnSpc>
                <a:spcPct val="102000"/>
              </a:lnSpc>
              <a:spcAft>
                <a:spcPts val="0"/>
              </a:spcAft>
            </a:pPr>
            <a:r>
              <a:rPr sz="1700" b="0">
                <a:solidFill>
                  <a:srgbClr val="15212C"/>
                </a:solidFill>
                <a:latin typeface="Times New Roman"/>
              </a:rPr>
              <a:t>V₀*/A* under the imposed Taylor far field</a:t>
            </a:r>
          </a:p>
        </p:txBody>
      </p:sp>
      <p:sp>
        <p:nvSpPr>
          <p:cNvPr id="106" name="card-2-sub"/>
          <p:cNvSpPr txBox="1"/>
          <p:nvPr/>
        </p:nvSpPr>
        <p:spPr>
          <a:xfrm>
            <a:off x="20153376" y="5833872"/>
            <a:ext cx="3602736" cy="475488"/>
          </a:xfrm>
          <a:prstGeom prst="rect">
            <a:avLst/>
          </a:prstGeom>
          <a:noFill/>
        </p:spPr>
        <p:txBody>
          <a:bodyPr wrap="square" lIns="0" rIns="0" tIns="0" bIns="0" anchor="t">
            <a:spAutoFit/>
          </a:bodyPr>
          <a:lstStyle/>
          <a:p>
            <a:pPr algn="l">
              <a:lnSpc>
                <a:spcPct val="102000"/>
              </a:lnSpc>
              <a:spcAft>
                <a:spcPts val="0"/>
              </a:spcAft>
            </a:pPr>
            <a:r>
              <a:rPr sz="1600" b="0">
                <a:solidFill>
                  <a:srgbClr val="4A5A66"/>
                </a:solidFill>
                <a:latin typeface="Times New Roman"/>
              </a:rPr>
              <a:t>closes to 0.05% of the exact balance identity</a:t>
            </a:r>
          </a:p>
        </p:txBody>
      </p:sp>
      <p:sp>
        <p:nvSpPr>
          <p:cNvPr id="107" name="card-3"/>
          <p:cNvSpPr/>
          <p:nvPr/>
        </p:nvSpPr>
        <p:spPr>
          <a:xfrm>
            <a:off x="24140160" y="4078224"/>
            <a:ext cx="4005072" cy="2304288"/>
          </a:xfrm>
          <a:prstGeom prst="roundRect">
            <a:avLst>
              <a:gd name="adj" fmla="val 9000"/>
            </a:avLst>
          </a:prstGeom>
          <a:solidFill>
            <a:srgbClr val="F2F8FC"/>
          </a:solidFill>
          <a:ln w="13970">
            <a:solidFill>
              <a:srgbClr val="BBD6E8"/>
            </a:solid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08" name="card-3-big"/>
          <p:cNvSpPr txBox="1"/>
          <p:nvPr/>
        </p:nvSpPr>
        <p:spPr>
          <a:xfrm>
            <a:off x="24341327" y="4224528"/>
            <a:ext cx="3602736" cy="713232"/>
          </a:xfrm>
          <a:prstGeom prst="rect">
            <a:avLst/>
          </a:prstGeom>
          <a:noFill/>
        </p:spPr>
        <p:txBody>
          <a:bodyPr wrap="square" lIns="0" rIns="0" tIns="0" bIns="0" anchor="t">
            <a:spAutoFit/>
          </a:bodyPr>
          <a:lstStyle/>
          <a:p>
            <a:pPr algn="l">
              <a:lnSpc>
                <a:spcPct val="100000"/>
              </a:lnSpc>
              <a:spcAft>
                <a:spcPts val="0"/>
              </a:spcAft>
            </a:pPr>
            <a:r>
              <a:rPr sz="4000" b="1">
                <a:solidFill>
                  <a:srgbClr val="0072B5"/>
                </a:solidFill>
                <a:latin typeface="Times New Roman"/>
              </a:rPr>
              <a:t>49.14°–49.20°</a:t>
            </a:r>
          </a:p>
        </p:txBody>
      </p:sp>
      <p:sp>
        <p:nvSpPr>
          <p:cNvPr id="109" name="card-3-label"/>
          <p:cNvSpPr txBox="1"/>
          <p:nvPr/>
        </p:nvSpPr>
        <p:spPr>
          <a:xfrm>
            <a:off x="24341327" y="4937760"/>
            <a:ext cx="3602736" cy="292608"/>
          </a:xfrm>
          <a:prstGeom prst="rect">
            <a:avLst/>
          </a:prstGeom>
          <a:noFill/>
        </p:spPr>
        <p:txBody>
          <a:bodyPr wrap="square" lIns="0" rIns="0" tIns="0" bIns="0" anchor="t">
            <a:spAutoFit/>
          </a:bodyPr>
          <a:lstStyle/>
          <a:p>
            <a:pPr algn="l">
              <a:lnSpc>
                <a:spcPct val="100000"/>
              </a:lnSpc>
              <a:spcAft>
                <a:spcPts val="0"/>
              </a:spcAft>
            </a:pPr>
            <a:r>
              <a:rPr sz="1800" b="1">
                <a:solidFill>
                  <a:srgbClr val="C45A12"/>
                </a:solidFill>
                <a:latin typeface="Times New Roman"/>
              </a:rPr>
              <a:t>exponent crossing</a:t>
            </a:r>
          </a:p>
        </p:txBody>
      </p:sp>
      <p:sp>
        <p:nvSpPr>
          <p:cNvPr id="110" name="card-3-title"/>
          <p:cNvSpPr txBox="1"/>
          <p:nvPr/>
        </p:nvSpPr>
        <p:spPr>
          <a:xfrm>
            <a:off x="24341327" y="5248656"/>
            <a:ext cx="3602736" cy="548640"/>
          </a:xfrm>
          <a:prstGeom prst="rect">
            <a:avLst/>
          </a:prstGeom>
          <a:noFill/>
        </p:spPr>
        <p:txBody>
          <a:bodyPr wrap="square" lIns="0" rIns="0" tIns="0" bIns="0" anchor="t">
            <a:spAutoFit/>
          </a:bodyPr>
          <a:lstStyle/>
          <a:p>
            <a:pPr algn="l">
              <a:lnSpc>
                <a:spcPct val="102000"/>
              </a:lnSpc>
              <a:spcAft>
                <a:spcPts val="0"/>
              </a:spcAft>
            </a:pPr>
            <a:r>
              <a:rPr sz="1700" b="0">
                <a:solidFill>
                  <a:srgbClr val="15212C"/>
                </a:solidFill>
                <a:latin typeface="Times New Roman"/>
              </a:rPr>
              <a:t>Flank Eₙ² ∝ ρ⁻¹ crossing angle</a:t>
            </a:r>
          </a:p>
        </p:txBody>
      </p:sp>
      <p:sp>
        <p:nvSpPr>
          <p:cNvPr id="111" name="card-3-sub"/>
          <p:cNvSpPr txBox="1"/>
          <p:nvPr/>
        </p:nvSpPr>
        <p:spPr>
          <a:xfrm>
            <a:off x="24341327" y="5833872"/>
            <a:ext cx="3602736" cy="475488"/>
          </a:xfrm>
          <a:prstGeom prst="rect">
            <a:avLst/>
          </a:prstGeom>
          <a:noFill/>
        </p:spPr>
        <p:txBody>
          <a:bodyPr wrap="square" lIns="0" rIns="0" tIns="0" bIns="0" anchor="t">
            <a:spAutoFit/>
          </a:bodyPr>
          <a:lstStyle/>
          <a:p>
            <a:pPr algn="l">
              <a:lnSpc>
                <a:spcPct val="102000"/>
              </a:lnSpc>
              <a:spcAft>
                <a:spcPts val="0"/>
              </a:spcAft>
            </a:pPr>
            <a:r>
              <a:rPr sz="1600" b="0">
                <a:solidFill>
                  <a:srgbClr val="4A5A66"/>
                </a:solidFill>
                <a:latin typeface="Times New Roman"/>
              </a:rPr>
              <a:t>within 0.09°–0.15° of the ideal 49.2901°</a:t>
            </a:r>
          </a:p>
        </p:txBody>
      </p:sp>
      <p:sp>
        <p:nvSpPr>
          <p:cNvPr id="112" name="card-4"/>
          <p:cNvSpPr/>
          <p:nvPr/>
        </p:nvSpPr>
        <p:spPr>
          <a:xfrm>
            <a:off x="28328112" y="4078224"/>
            <a:ext cx="4005072" cy="2304288"/>
          </a:xfrm>
          <a:prstGeom prst="roundRect">
            <a:avLst>
              <a:gd name="adj" fmla="val 9000"/>
            </a:avLst>
          </a:prstGeom>
          <a:solidFill>
            <a:srgbClr val="F2F8FC"/>
          </a:solidFill>
          <a:ln w="13970">
            <a:solidFill>
              <a:srgbClr val="BBD6E8"/>
            </a:solid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13" name="card-4-big"/>
          <p:cNvSpPr txBox="1"/>
          <p:nvPr/>
        </p:nvSpPr>
        <p:spPr>
          <a:xfrm>
            <a:off x="28529280" y="4224528"/>
            <a:ext cx="3602736" cy="713232"/>
          </a:xfrm>
          <a:prstGeom prst="rect">
            <a:avLst/>
          </a:prstGeom>
          <a:noFill/>
        </p:spPr>
        <p:txBody>
          <a:bodyPr wrap="square" lIns="0" rIns="0" tIns="0" bIns="0" anchor="t">
            <a:spAutoFit/>
          </a:bodyPr>
          <a:lstStyle/>
          <a:p>
            <a:pPr algn="l">
              <a:lnSpc>
                <a:spcPct val="100000"/>
              </a:lnSpc>
              <a:spcAft>
                <a:spcPts val="0"/>
              </a:spcAft>
            </a:pPr>
            <a:r>
              <a:rPr sz="4000" b="1">
                <a:solidFill>
                  <a:srgbClr val="0072B5"/>
                </a:solidFill>
                <a:latin typeface="Times New Roman"/>
              </a:rPr>
              <a:t>0.00655 Pa</a:t>
            </a:r>
          </a:p>
        </p:txBody>
      </p:sp>
      <p:sp>
        <p:nvSpPr>
          <p:cNvPr id="114" name="card-4-label"/>
          <p:cNvSpPr txBox="1"/>
          <p:nvPr/>
        </p:nvSpPr>
        <p:spPr>
          <a:xfrm>
            <a:off x="28529280" y="4937760"/>
            <a:ext cx="3602736" cy="292608"/>
          </a:xfrm>
          <a:prstGeom prst="rect">
            <a:avLst/>
          </a:prstGeom>
          <a:noFill/>
        </p:spPr>
        <p:txBody>
          <a:bodyPr wrap="square" lIns="0" rIns="0" tIns="0" bIns="0" anchor="t">
            <a:spAutoFit/>
          </a:bodyPr>
          <a:lstStyle/>
          <a:p>
            <a:pPr algn="l">
              <a:lnSpc>
                <a:spcPct val="100000"/>
              </a:lnSpc>
              <a:spcAft>
                <a:spcPts val="0"/>
              </a:spcAft>
            </a:pPr>
            <a:r>
              <a:rPr sz="1800" b="1">
                <a:solidFill>
                  <a:srgbClr val="C45A12"/>
                </a:solidFill>
                <a:latin typeface="Times New Roman"/>
              </a:rPr>
              <a:t>residual minimum</a:t>
            </a:r>
          </a:p>
        </p:txBody>
      </p:sp>
      <p:sp>
        <p:nvSpPr>
          <p:cNvPr id="115" name="card-4-title"/>
          <p:cNvSpPr txBox="1"/>
          <p:nvPr/>
        </p:nvSpPr>
        <p:spPr>
          <a:xfrm>
            <a:off x="28529280" y="5248656"/>
            <a:ext cx="3602736" cy="548640"/>
          </a:xfrm>
          <a:prstGeom prst="rect">
            <a:avLst/>
          </a:prstGeom>
          <a:noFill/>
        </p:spPr>
        <p:txBody>
          <a:bodyPr wrap="square" lIns="0" rIns="0" tIns="0" bIns="0" anchor="t">
            <a:spAutoFit/>
          </a:bodyPr>
          <a:lstStyle/>
          <a:p>
            <a:pPr algn="l">
              <a:lnSpc>
                <a:spcPct val="102000"/>
              </a:lnSpc>
              <a:spcAft>
                <a:spcPts val="0"/>
              </a:spcAft>
            </a:pPr>
            <a:r>
              <a:rPr sz="1700" b="0">
                <a:solidFill>
                  <a:srgbClr val="15212C"/>
                </a:solidFill>
                <a:latin typeface="Times New Roman"/>
              </a:rPr>
              <a:t>Lowest projected residual RMS, 121×177</a:t>
            </a:r>
          </a:p>
        </p:txBody>
      </p:sp>
      <p:sp>
        <p:nvSpPr>
          <p:cNvPr id="116" name="card-4-sub"/>
          <p:cNvSpPr txBox="1"/>
          <p:nvPr/>
        </p:nvSpPr>
        <p:spPr>
          <a:xfrm>
            <a:off x="28529280" y="5833872"/>
            <a:ext cx="3602736" cy="475488"/>
          </a:xfrm>
          <a:prstGeom prst="rect">
            <a:avLst/>
          </a:prstGeom>
          <a:noFill/>
        </p:spPr>
        <p:txBody>
          <a:bodyPr wrap="square" lIns="0" rIns="0" tIns="0" bIns="0" anchor="t">
            <a:spAutoFit/>
          </a:bodyPr>
          <a:lstStyle/>
          <a:p>
            <a:pPr algn="l">
              <a:lnSpc>
                <a:spcPct val="102000"/>
              </a:lnSpc>
              <a:spcAft>
                <a:spcPts val="0"/>
              </a:spcAft>
            </a:pPr>
            <a:r>
              <a:rPr sz="1600" b="0">
                <a:solidFill>
                  <a:srgbClr val="4A5A66"/>
                </a:solidFill>
                <a:latin typeface="Times New Roman"/>
              </a:rPr>
              <a:t>flat landscape — the argmin is not the angle estimator</a:t>
            </a:r>
          </a:p>
        </p:txBody>
      </p:sp>
      <p:sp>
        <p:nvSpPr>
          <p:cNvPr id="117" name="cards-summary"/>
          <p:cNvSpPr txBox="1"/>
          <p:nvPr/>
        </p:nvSpPr>
        <p:spPr>
          <a:xfrm>
            <a:off x="11576304" y="6949440"/>
            <a:ext cx="20756880" cy="1280160"/>
          </a:xfrm>
          <a:prstGeom prst="rect">
            <a:avLst/>
          </a:prstGeom>
          <a:noFill/>
        </p:spPr>
        <p:txBody>
          <a:bodyPr wrap="square" lIns="0" rIns="0" tIns="0" bIns="0" anchor="t">
            <a:spAutoFit/>
          </a:bodyPr>
          <a:lstStyle/>
          <a:p>
            <a:pPr algn="l">
              <a:lnSpc>
                <a:spcPct val="106000"/>
              </a:lnSpc>
              <a:spcAft>
                <a:spcPts val="0"/>
              </a:spcAft>
            </a:pPr>
            <a:r>
              <a:rPr sz="2000" b="0">
                <a:solidFill>
                  <a:srgbClr val="15212C"/>
                </a:solidFill>
                <a:latin typeface="Times New Roman"/>
              </a:rPr>
              <a:t>Five headline numbers. The exponent crossing is grid-convergent and lands within 0.09°–0.15° of the Taylor ideal, so it is the angle estimator we trust. The projected-residual landscape is flat to within its discretisation floor, so its argmin is reported only as a diagnostic, never as a physical angle. The amplitude identity closes under the imposed analytical far field, and every one of these values regenerates from the committed solver in a single command.</a:t>
            </a:r>
          </a:p>
        </p:txBody>
      </p:sp>
      <p:sp>
        <p:nvSpPr>
          <p:cNvPr id="118" name="verification-frame"/>
          <p:cNvSpPr/>
          <p:nvPr/>
        </p:nvSpPr>
        <p:spPr>
          <a:xfrm>
            <a:off x="11301984" y="9089136"/>
            <a:ext cx="21305520" cy="15965424"/>
          </a:xfrm>
          <a:prstGeom prst="roundRect">
            <a:avLst>
              <a:gd name="adj" fmla="val 3500"/>
            </a:avLst>
          </a:prstGeom>
          <a:solidFill>
            <a:srgbClr val="F7F9FC"/>
          </a:solidFill>
          <a:ln w="13970">
            <a:solidFill>
              <a:srgbClr val="4E89B9"/>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19" name="verification-header"/>
          <p:cNvSpPr/>
          <p:nvPr/>
        </p:nvSpPr>
        <p:spPr>
          <a:xfrm>
            <a:off x="11305641" y="9092793"/>
            <a:ext cx="21298204" cy="804672"/>
          </a:xfrm>
          <a:prstGeom prst="roundRect">
            <a:avLst>
              <a:gd name="adj" fmla="val 16000"/>
            </a:avLst>
          </a:prstGeom>
          <a:gradFill rotWithShape="1">
            <a:gsLst>
              <a:gs pos="0">
                <a:srgbClr val="155AA1"/>
              </a:gs>
              <a:gs pos="100000">
                <a:srgbClr val="829DBA"/>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20" name="verification-heading"/>
          <p:cNvSpPr txBox="1"/>
          <p:nvPr/>
        </p:nvSpPr>
        <p:spPr>
          <a:xfrm>
            <a:off x="11539728" y="9180576"/>
            <a:ext cx="20830032" cy="640080"/>
          </a:xfrm>
          <a:prstGeom prst="rect">
            <a:avLst/>
          </a:prstGeom>
          <a:noFill/>
        </p:spPr>
        <p:txBody>
          <a:bodyPr wrap="square" lIns="0" rIns="0" tIns="0" bIns="0" anchor="ctr">
            <a:spAutoFit/>
          </a:bodyPr>
          <a:lstStyle/>
          <a:p>
            <a:pPr algn="ctr">
              <a:lnSpc>
                <a:spcPct val="106000"/>
              </a:lnSpc>
              <a:spcAft>
                <a:spcPts val="0"/>
              </a:spcAft>
            </a:pPr>
            <a:r>
              <a:rPr sz="3200" b="1">
                <a:solidFill>
                  <a:srgbClr val="FFFFFF"/>
                </a:solidFill>
                <a:latin typeface="Times New Roman"/>
              </a:rPr>
              <a:t>NUMERICAL VERIFICATION (PAPER §6)</a:t>
            </a:r>
          </a:p>
        </p:txBody>
      </p:sp>
      <p:pic>
        <p:nvPicPr>
          <p:cNvPr id="121" name="fig-fig03" descr="fig03_convergence.png"/>
          <p:cNvPicPr>
            <a:picLocks noChangeAspect="1"/>
          </p:cNvPicPr>
          <p:nvPr/>
        </p:nvPicPr>
        <p:blipFill>
          <a:blip r:embed="rId28"/>
          <a:stretch>
            <a:fillRect/>
          </a:stretch>
        </p:blipFill>
        <p:spPr>
          <a:xfrm>
            <a:off x="11795019" y="10021824"/>
            <a:ext cx="9831280" cy="3906469"/>
          </a:xfrm>
          <a:prstGeom prst="rect">
            <a:avLst/>
          </a:prstGeom>
        </p:spPr>
      </p:pic>
      <p:sp>
        <p:nvSpPr>
          <p:cNvPr id="122" name="cap-fig03"/>
          <p:cNvSpPr txBox="1"/>
          <p:nvPr/>
        </p:nvSpPr>
        <p:spPr>
          <a:xfrm>
            <a:off x="11576304" y="14056309"/>
            <a:ext cx="10268712" cy="799642"/>
          </a:xfrm>
          <a:prstGeom prst="rect">
            <a:avLst/>
          </a:prstGeom>
          <a:noFill/>
        </p:spPr>
        <p:txBody>
          <a:bodyPr wrap="square" lIns="0" rIns="0" tIns="0" bIns="0" anchor="t">
            <a:spAutoFit/>
          </a:bodyPr>
          <a:lstStyle/>
          <a:p>
            <a:pPr algn="l">
              <a:lnSpc>
                <a:spcPct val="104000"/>
              </a:lnSpc>
              <a:spcAft>
                <a:spcPts val="0"/>
              </a:spcAft>
            </a:pPr>
            <a:r>
              <a:rPr sz="1650" b="1">
                <a:solidFill>
                  <a:srgbClr val="086EAD"/>
                </a:solidFill>
                <a:latin typeface="Times New Roman"/>
              </a:rPr>
              <a:t>Fig. 3. Regular-grid convergence.</a:t>
            </a:r>
            <a:r>
              <a:rPr sz="1650" b="0">
                <a:solidFill>
                  <a:srgbClr val="4A5A66"/>
                </a:solidFill>
                <a:latin typeface="Times New Roman"/>
              </a:rPr>
              <a:t> Errors are measured against the exact manufactured potential; h is the radial spacing. The finite-difference stencil and an independently assembled bilinear Q1 finite element fall on the same asymptotic slope, consistent with second-order accuracy.</a:t>
            </a:r>
          </a:p>
        </p:txBody>
      </p:sp>
      <p:pic>
        <p:nvPicPr>
          <p:cNvPr id="123" name="fig-fig04" descr="fig04_curved.png"/>
          <p:cNvPicPr>
            <a:picLocks noChangeAspect="1"/>
          </p:cNvPicPr>
          <p:nvPr/>
        </p:nvPicPr>
        <p:blipFill>
          <a:blip r:embed="rId29"/>
          <a:stretch>
            <a:fillRect/>
          </a:stretch>
        </p:blipFill>
        <p:spPr>
          <a:xfrm>
            <a:off x="22283187" y="10021824"/>
            <a:ext cx="9831280" cy="3906469"/>
          </a:xfrm>
          <a:prstGeom prst="rect">
            <a:avLst/>
          </a:prstGeom>
        </p:spPr>
      </p:pic>
      <p:sp>
        <p:nvSpPr>
          <p:cNvPr id="124" name="cap-fig04"/>
          <p:cNvSpPr txBox="1"/>
          <p:nvPr/>
        </p:nvSpPr>
        <p:spPr>
          <a:xfrm>
            <a:off x="22064472" y="14056309"/>
            <a:ext cx="10268712" cy="799642"/>
          </a:xfrm>
          <a:prstGeom prst="rect">
            <a:avLst/>
          </a:prstGeom>
          <a:noFill/>
        </p:spPr>
        <p:txBody>
          <a:bodyPr wrap="square" lIns="0" rIns="0" tIns="0" bIns="0" anchor="t">
            <a:spAutoFit/>
          </a:bodyPr>
          <a:lstStyle/>
          <a:p>
            <a:pPr algn="l">
              <a:lnSpc>
                <a:spcPct val="104000"/>
              </a:lnSpc>
              <a:spcAft>
                <a:spcPts val="0"/>
              </a:spcAft>
            </a:pPr>
            <a:r>
              <a:rPr sz="1650" b="1">
                <a:solidFill>
                  <a:srgbClr val="086EAD"/>
                </a:solidFill>
                <a:latin typeface="Times New Roman"/>
              </a:rPr>
              <a:t>Fig. 4. Curved-boundary refinement.</a:t>
            </a:r>
            <a:r>
              <a:rPr sz="1650" b="0">
                <a:solidFill>
                  <a:srgbClr val="4A5A66"/>
                </a:solidFill>
                <a:latin typeface="Times New Roman"/>
              </a:rPr>
              <a:t> Potential changes are compared at the same 56 gas-side points on 31×45 → 87×129. The immersed representation decays monotonically with refinement; the legacy staircase mask reverses, which is the justification for the immersed treatment.</a:t>
            </a:r>
          </a:p>
        </p:txBody>
      </p:sp>
      <p:pic>
        <p:nvPicPr>
          <p:cNvPr id="125" name="fig-fig05" descr="fig05_fdfem.png"/>
          <p:cNvPicPr>
            <a:picLocks noChangeAspect="1"/>
          </p:cNvPicPr>
          <p:nvPr/>
        </p:nvPicPr>
        <p:blipFill>
          <a:blip r:embed="rId30"/>
          <a:stretch>
            <a:fillRect/>
          </a:stretch>
        </p:blipFill>
        <p:spPr>
          <a:xfrm>
            <a:off x="11576304" y="15038831"/>
            <a:ext cx="6822157" cy="4760975"/>
          </a:xfrm>
          <a:prstGeom prst="rect">
            <a:avLst/>
          </a:prstGeom>
        </p:spPr>
      </p:pic>
      <p:sp>
        <p:nvSpPr>
          <p:cNvPr id="126" name="cap-fig05"/>
          <p:cNvSpPr txBox="1"/>
          <p:nvPr/>
        </p:nvSpPr>
        <p:spPr>
          <a:xfrm>
            <a:off x="18636205" y="15038831"/>
            <a:ext cx="3208810" cy="4834128"/>
          </a:xfrm>
          <a:prstGeom prst="rect">
            <a:avLst/>
          </a:prstGeom>
          <a:noFill/>
        </p:spPr>
        <p:txBody>
          <a:bodyPr wrap="square" lIns="0" rIns="0" tIns="0" bIns="0" anchor="t">
            <a:spAutoFit/>
          </a:bodyPr>
          <a:lstStyle/>
          <a:p>
            <a:pPr algn="l">
              <a:lnSpc>
                <a:spcPct val="104000"/>
              </a:lnSpc>
              <a:spcAft>
                <a:spcPts val="0"/>
              </a:spcAft>
            </a:pPr>
            <a:r>
              <a:rPr sz="1650" b="1">
                <a:solidFill>
                  <a:srgbClr val="086EAD"/>
                </a:solidFill>
                <a:latin typeface="Times New Roman"/>
              </a:rPr>
              <a:t>Fig. 5. Independent fixed-cone FD–FEM comparison.</a:t>
            </a:r>
            <a:r>
              <a:rPr sz="1650" b="0">
                <a:solidFill>
                  <a:srgbClr val="4A5A66"/>
                </a:solidFill>
                <a:latin typeface="Times New Roman"/>
              </a:rPr>
              <a:t> (a) Gas-point potential differences. (b) Interface-normal field. (c) Maxwell pressure p_E = ε₀Eₙ²/2 at 1000 V. (d) Amplitude-projected residual. Finest-level relative RMS differences: 0.024% potential, 0.226% vector field, 0.381% interface-normal field, 0.817% Maxwell pressure. The FEM solution was produced outside this repository.</a:t>
            </a:r>
          </a:p>
        </p:txBody>
      </p:sp>
      <p:pic>
        <p:nvPicPr>
          <p:cNvPr id="127" name="fig-fig06" descr="fig06_angle.png"/>
          <p:cNvPicPr>
            <a:picLocks noChangeAspect="1"/>
          </p:cNvPicPr>
          <p:nvPr/>
        </p:nvPicPr>
        <p:blipFill>
          <a:blip r:embed="rId31"/>
          <a:stretch>
            <a:fillRect/>
          </a:stretch>
        </p:blipFill>
        <p:spPr>
          <a:xfrm>
            <a:off x="22858696" y="15038831"/>
            <a:ext cx="8680262" cy="3639921"/>
          </a:xfrm>
          <a:prstGeom prst="rect">
            <a:avLst/>
          </a:prstGeom>
        </p:spPr>
      </p:pic>
      <p:sp>
        <p:nvSpPr>
          <p:cNvPr id="128" name="cap-fig06"/>
          <p:cNvSpPr txBox="1"/>
          <p:nvPr/>
        </p:nvSpPr>
        <p:spPr>
          <a:xfrm>
            <a:off x="22064472" y="18806769"/>
            <a:ext cx="10268712" cy="1066190"/>
          </a:xfrm>
          <a:prstGeom prst="rect">
            <a:avLst/>
          </a:prstGeom>
          <a:noFill/>
        </p:spPr>
        <p:txBody>
          <a:bodyPr wrap="square" lIns="0" rIns="0" tIns="0" bIns="0" anchor="t">
            <a:spAutoFit/>
          </a:bodyPr>
          <a:lstStyle/>
          <a:p>
            <a:pPr algn="l">
              <a:lnSpc>
                <a:spcPct val="104000"/>
              </a:lnSpc>
              <a:spcAft>
                <a:spcPts val="0"/>
              </a:spcAft>
            </a:pPr>
            <a:r>
              <a:rPr sz="1650" b="1">
                <a:solidFill>
                  <a:srgbClr val="086EAD"/>
                </a:solidFill>
                <a:latin typeface="Times New Roman"/>
              </a:rPr>
              <a:t>Fig. 6. Angle sensitivity.</a:t>
            </a:r>
            <a:r>
              <a:rPr sz="1650" b="0">
                <a:solidFill>
                  <a:srgbClr val="4A5A66"/>
                </a:solidFill>
                <a:latin typeface="Times New Roman"/>
              </a:rPr>
              <a:t> Candidate half-angles 46°–52° with mesh, domain size, cap size, flank window and outer boundary varied. Residual minima move from 48.0° to 50.0°, while the p = −1 exponent crossing stays within 49.067°–49.176°. The two diagnostics resolve different things: the crossing measures consistency with the imposed Taylor scaling, the minimum reflects the finite-domain stress balance.</a:t>
            </a:r>
          </a:p>
        </p:txBody>
      </p:sp>
      <p:pic>
        <p:nvPicPr>
          <p:cNvPr id="129" name="fig-fig07" descr="fig07_multistart.png"/>
          <p:cNvPicPr>
            <a:picLocks noChangeAspect="1"/>
          </p:cNvPicPr>
          <p:nvPr/>
        </p:nvPicPr>
        <p:blipFill>
          <a:blip r:embed="rId32"/>
          <a:stretch>
            <a:fillRect/>
          </a:stretch>
        </p:blipFill>
        <p:spPr>
          <a:xfrm>
            <a:off x="11877496" y="20055839"/>
            <a:ext cx="9666327" cy="3906469"/>
          </a:xfrm>
          <a:prstGeom prst="rect">
            <a:avLst/>
          </a:prstGeom>
        </p:spPr>
      </p:pic>
      <p:sp>
        <p:nvSpPr>
          <p:cNvPr id="130" name="cap-fig07"/>
          <p:cNvSpPr txBox="1"/>
          <p:nvPr/>
        </p:nvSpPr>
        <p:spPr>
          <a:xfrm>
            <a:off x="11576304" y="24090325"/>
            <a:ext cx="10268712" cy="799642"/>
          </a:xfrm>
          <a:prstGeom prst="rect">
            <a:avLst/>
          </a:prstGeom>
          <a:noFill/>
        </p:spPr>
        <p:txBody>
          <a:bodyPr wrap="square" lIns="0" rIns="0" tIns="0" bIns="0" anchor="t">
            <a:spAutoFit/>
          </a:bodyPr>
          <a:lstStyle/>
          <a:p>
            <a:pPr algn="l">
              <a:lnSpc>
                <a:spcPct val="104000"/>
              </a:lnSpc>
              <a:spcAft>
                <a:spcPts val="0"/>
              </a:spcAft>
            </a:pPr>
            <a:r>
              <a:rPr sz="1650" b="1">
                <a:solidFill>
                  <a:srgbClr val="086EAD"/>
                </a:solidFill>
                <a:latin typeface="Times New Roman"/>
              </a:rPr>
              <a:t>Fig. 7. Multistart optimisation.</a:t>
            </a:r>
            <a:r>
              <a:rPr sz="1650" b="0">
                <a:solidFill>
                  <a:srgbClr val="4A5A66"/>
                </a:solidFill>
                <a:latin typeface="Times New Roman"/>
              </a:rPr>
              <a:t> Five angle–apex-radius starts on the 31×45 grid. Final half-angles span 40.199°–42.791° and apex radii 0.0704–0.0887 m, yet projected RMS residuals stay within 0.01257–0.01333 Pa. The flat objective reveals an angle–radius ambiguity in the fitted parameterisation.</a:t>
            </a:r>
          </a:p>
        </p:txBody>
      </p:sp>
      <p:pic>
        <p:nvPicPr>
          <p:cNvPr id="131" name="fig-fig08" descr="fig08_synthetic.png"/>
          <p:cNvPicPr>
            <a:picLocks noChangeAspect="1"/>
          </p:cNvPicPr>
          <p:nvPr/>
        </p:nvPicPr>
        <p:blipFill>
          <a:blip r:embed="rId33"/>
          <a:stretch>
            <a:fillRect/>
          </a:stretch>
        </p:blipFill>
        <p:spPr>
          <a:xfrm>
            <a:off x="22365664" y="20055839"/>
            <a:ext cx="9666327" cy="3906469"/>
          </a:xfrm>
          <a:prstGeom prst="rect">
            <a:avLst/>
          </a:prstGeom>
        </p:spPr>
      </p:pic>
      <p:sp>
        <p:nvSpPr>
          <p:cNvPr id="132" name="cap-fig08"/>
          <p:cNvSpPr txBox="1"/>
          <p:nvPr/>
        </p:nvSpPr>
        <p:spPr>
          <a:xfrm>
            <a:off x="22064472" y="24090325"/>
            <a:ext cx="10268712" cy="799642"/>
          </a:xfrm>
          <a:prstGeom prst="rect">
            <a:avLst/>
          </a:prstGeom>
          <a:noFill/>
        </p:spPr>
        <p:txBody>
          <a:bodyPr wrap="square" lIns="0" rIns="0" tIns="0" bIns="0" anchor="t">
            <a:spAutoFit/>
          </a:bodyPr>
          <a:lstStyle/>
          <a:p>
            <a:pPr algn="l">
              <a:lnSpc>
                <a:spcPct val="104000"/>
              </a:lnSpc>
              <a:spcAft>
                <a:spcPts val="0"/>
              </a:spcAft>
            </a:pPr>
            <a:r>
              <a:rPr sz="1650" b="1">
                <a:solidFill>
                  <a:srgbClr val="086EAD"/>
                </a:solidFill>
                <a:latin typeface="Times New Roman"/>
              </a:rPr>
              <a:t>Fig. 8. Synthetic-image accuracy.</a:t>
            </a:r>
            <a:r>
              <a:rPr sz="1650" b="0">
                <a:solidFill>
                  <a:srgbClr val="4A5A66"/>
                </a:solidFill>
                <a:latin typeface="Times New Roman"/>
              </a:rPr>
              <a:t> 108 analytic cone silhouettes: four half-angles (40°, 45°, 49.29°, 55°), three visible lengths (100/200/400 px), three registered rotations (−5°/0°/+5°) and three paired noise–blur settings. Maximum absolute angle error 0.299° and profile nRMSE 1.406% — all 108 cases inside the preset 1° and 2% criteria.</a:t>
            </a:r>
          </a:p>
        </p:txBody>
      </p:sp>
      <p:sp>
        <p:nvSpPr>
          <p:cNvPr id="133" name="publicdata-frame"/>
          <p:cNvSpPr/>
          <p:nvPr/>
        </p:nvSpPr>
        <p:spPr>
          <a:xfrm>
            <a:off x="11301984" y="25274016"/>
            <a:ext cx="21305520" cy="16532351"/>
          </a:xfrm>
          <a:prstGeom prst="roundRect">
            <a:avLst>
              <a:gd name="adj" fmla="val 3500"/>
            </a:avLst>
          </a:prstGeom>
          <a:solidFill>
            <a:srgbClr val="F7F9FC"/>
          </a:solidFill>
          <a:ln w="13970">
            <a:solidFill>
              <a:srgbClr val="4E89B9"/>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34" name="publicdata-header"/>
          <p:cNvSpPr/>
          <p:nvPr/>
        </p:nvSpPr>
        <p:spPr>
          <a:xfrm>
            <a:off x="11305641" y="25277673"/>
            <a:ext cx="21298204" cy="804672"/>
          </a:xfrm>
          <a:prstGeom prst="roundRect">
            <a:avLst>
              <a:gd name="adj" fmla="val 16000"/>
            </a:avLst>
          </a:prstGeom>
          <a:gradFill rotWithShape="1">
            <a:gsLst>
              <a:gs pos="0">
                <a:srgbClr val="155AA1"/>
              </a:gs>
              <a:gs pos="100000">
                <a:srgbClr val="829DBA"/>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35" name="publicdata-heading"/>
          <p:cNvSpPr txBox="1"/>
          <p:nvPr/>
        </p:nvSpPr>
        <p:spPr>
          <a:xfrm>
            <a:off x="11539728" y="25365456"/>
            <a:ext cx="20830032" cy="640080"/>
          </a:xfrm>
          <a:prstGeom prst="rect">
            <a:avLst/>
          </a:prstGeom>
          <a:noFill/>
        </p:spPr>
        <p:txBody>
          <a:bodyPr wrap="square" lIns="0" rIns="0" tIns="0" bIns="0" anchor="ctr">
            <a:spAutoFit/>
          </a:bodyPr>
          <a:lstStyle/>
          <a:p>
            <a:pPr algn="ctr">
              <a:lnSpc>
                <a:spcPct val="106000"/>
              </a:lnSpc>
              <a:spcAft>
                <a:spcPts val="0"/>
              </a:spcAft>
            </a:pPr>
            <a:r>
              <a:rPr sz="3200" b="1">
                <a:solidFill>
                  <a:srgbClr val="FFFFFF"/>
                </a:solidFill>
                <a:latin typeface="Times New Roman"/>
              </a:rPr>
              <a:t>PUBLIC-DATA ANALYSIS (PAPER §7)</a:t>
            </a:r>
          </a:p>
        </p:txBody>
      </p:sp>
      <p:pic>
        <p:nvPicPr>
          <p:cNvPr id="136" name="fig-fig09" descr="fig09_axisym.png"/>
          <p:cNvPicPr>
            <a:picLocks noChangeAspect="1"/>
          </p:cNvPicPr>
          <p:nvPr/>
        </p:nvPicPr>
        <p:blipFill>
          <a:blip r:embed="rId34"/>
          <a:stretch>
            <a:fillRect/>
          </a:stretch>
        </p:blipFill>
        <p:spPr>
          <a:xfrm>
            <a:off x="11576304" y="26206704"/>
            <a:ext cx="6359797" cy="4949952"/>
          </a:xfrm>
          <a:prstGeom prst="rect">
            <a:avLst/>
          </a:prstGeom>
        </p:spPr>
      </p:pic>
      <p:sp>
        <p:nvSpPr>
          <p:cNvPr id="137" name="cap-fig09"/>
          <p:cNvSpPr txBox="1"/>
          <p:nvPr/>
        </p:nvSpPr>
        <p:spPr>
          <a:xfrm>
            <a:off x="18173845" y="26206704"/>
            <a:ext cx="3671170" cy="5023104"/>
          </a:xfrm>
          <a:prstGeom prst="rect">
            <a:avLst/>
          </a:prstGeom>
          <a:noFill/>
        </p:spPr>
        <p:txBody>
          <a:bodyPr wrap="square" lIns="0" rIns="0" tIns="0" bIns="0" anchor="t">
            <a:spAutoFit/>
          </a:bodyPr>
          <a:lstStyle/>
          <a:p>
            <a:pPr algn="l">
              <a:lnSpc>
                <a:spcPct val="104000"/>
              </a:lnSpc>
              <a:spcAft>
                <a:spcPts val="0"/>
              </a:spcAft>
            </a:pPr>
            <a:r>
              <a:rPr sz="1650" b="1">
                <a:solidFill>
                  <a:srgbClr val="086EAD"/>
                </a:solidFill>
                <a:latin typeface="Times New Roman"/>
              </a:rPr>
              <a:t>Fig. 9. Axisymmetric representation of the published case.</a:t>
            </a:r>
            <a:r>
              <a:rPr sz="1650" b="0">
                <a:solidFill>
                  <a:srgbClr val="4A5A66"/>
                </a:solidFill>
                <a:latin typeface="Times New Roman"/>
              </a:rPr>
              <a:t> Geometry of the Yang et al. (2025) ethanol experiment: flow rate Q = 0.10 µL/s, nozzle-to-plate spacing H = 2 mm, aperture diameter D = 2 mm, nozzle outer/inner diameter 0.30/0.16 mm. Plate and aperture dimensions are reported inputs; the 80 mm outer-domain radius and the 5 mm exposed needle length are numerical settings.</a:t>
            </a:r>
          </a:p>
        </p:txBody>
      </p:sp>
      <p:pic>
        <p:nvPicPr>
          <p:cNvPr id="138" name="fig-fig10" descr="fig10_photos.png"/>
          <p:cNvPicPr>
            <a:picLocks noChangeAspect="1"/>
          </p:cNvPicPr>
          <p:nvPr/>
        </p:nvPicPr>
        <p:blipFill>
          <a:blip r:embed="rId35"/>
          <a:stretch>
            <a:fillRect/>
          </a:stretch>
        </p:blipFill>
        <p:spPr>
          <a:xfrm>
            <a:off x="22064472" y="26206704"/>
            <a:ext cx="6426186" cy="4949952"/>
          </a:xfrm>
          <a:prstGeom prst="rect">
            <a:avLst/>
          </a:prstGeom>
        </p:spPr>
      </p:pic>
      <p:sp>
        <p:nvSpPr>
          <p:cNvPr id="139" name="cap-fig10"/>
          <p:cNvSpPr txBox="1"/>
          <p:nvPr/>
        </p:nvSpPr>
        <p:spPr>
          <a:xfrm>
            <a:off x="28728402" y="26206704"/>
            <a:ext cx="3604781" cy="5023104"/>
          </a:xfrm>
          <a:prstGeom prst="rect">
            <a:avLst/>
          </a:prstGeom>
          <a:noFill/>
        </p:spPr>
        <p:txBody>
          <a:bodyPr wrap="square" lIns="0" rIns="0" tIns="0" bIns="0" anchor="t">
            <a:spAutoFit/>
          </a:bodyPr>
          <a:lstStyle/>
          <a:p>
            <a:pPr algn="l">
              <a:lnSpc>
                <a:spcPct val="104000"/>
              </a:lnSpc>
              <a:spcAft>
                <a:spcPts val="0"/>
              </a:spcAft>
            </a:pPr>
            <a:r>
              <a:rPr sz="1650" b="1">
                <a:solidFill>
                  <a:srgbClr val="086EAD"/>
                </a:solidFill>
                <a:latin typeface="Times New Roman"/>
              </a:rPr>
              <a:t>Fig. 10. Published ethanol photographs with extracted contours.</a:t>
            </a:r>
            <a:r>
              <a:rPr sz="1650" b="0">
                <a:solidFill>
                  <a:srgbClr val="4A5A66"/>
                </a:solidFill>
                <a:latin typeface="Times New Roman"/>
              </a:rPr>
              <a:t> Source: Yang et al. (2025), Figure 5 — this is their experiment, not ours; the contour and axis overlays are our analysis. Acquired at 1.80, 1.95, 2.10 and 2.30 kV with a common calibration of 300/191 = 1.57068 µm/pixel and a grayscale threshold of 110. The extracted half-angle rises from 22.26° to 41.64° as voltage increases.</a:t>
            </a:r>
          </a:p>
        </p:txBody>
      </p:sp>
      <p:pic>
        <p:nvPicPr>
          <p:cNvPr id="140" name="fig-fig11" descr="fig11_profiles.png"/>
          <p:cNvPicPr>
            <a:picLocks noChangeAspect="1"/>
          </p:cNvPicPr>
          <p:nvPr/>
        </p:nvPicPr>
        <p:blipFill>
          <a:blip r:embed="rId36"/>
          <a:stretch>
            <a:fillRect/>
          </a:stretch>
        </p:blipFill>
        <p:spPr>
          <a:xfrm>
            <a:off x="11720933" y="31412688"/>
            <a:ext cx="9979453" cy="4095445"/>
          </a:xfrm>
          <a:prstGeom prst="rect">
            <a:avLst/>
          </a:prstGeom>
        </p:spPr>
      </p:pic>
      <p:sp>
        <p:nvSpPr>
          <p:cNvPr id="141" name="cap-fig11"/>
          <p:cNvSpPr txBox="1"/>
          <p:nvPr/>
        </p:nvSpPr>
        <p:spPr>
          <a:xfrm>
            <a:off x="11576304" y="35636149"/>
            <a:ext cx="10268712" cy="799642"/>
          </a:xfrm>
          <a:prstGeom prst="rect">
            <a:avLst/>
          </a:prstGeom>
          <a:noFill/>
        </p:spPr>
        <p:txBody>
          <a:bodyPr wrap="square" lIns="0" rIns="0" tIns="0" bIns="0" anchor="t">
            <a:spAutoFit/>
          </a:bodyPr>
          <a:lstStyle/>
          <a:p>
            <a:pPr algn="l">
              <a:lnSpc>
                <a:spcPct val="104000"/>
              </a:lnSpc>
              <a:spcAft>
                <a:spcPts val="0"/>
              </a:spcAft>
            </a:pPr>
            <a:r>
              <a:rPr sz="1650" b="1">
                <a:solidFill>
                  <a:srgbClr val="086EAD"/>
                </a:solidFill>
                <a:latin typeface="Times New Roman"/>
              </a:rPr>
              <a:t>Fig. 11. Registered profiles and visible heights.</a:t>
            </a:r>
            <a:r>
              <a:rPr sz="1650" b="0">
                <a:solidFill>
                  <a:srgbClr val="4A5A66"/>
                </a:solidFill>
                <a:latin typeface="Times New Roman"/>
              </a:rPr>
              <a:t> Dashed flank fits summarise the extracted contours. Presenting the profiles on a common physical scale shows the cone widening and shortening: visible height falls from 301.6 µm at 1.80 kV to 224.6, 174.3 and 147.6 µm.</a:t>
            </a:r>
          </a:p>
        </p:txBody>
      </p:sp>
      <p:pic>
        <p:nvPicPr>
          <p:cNvPr id="142" name="fig-fig12" descr="fig12_angles.png"/>
          <p:cNvPicPr>
            <a:picLocks noChangeAspect="1"/>
          </p:cNvPicPr>
          <p:nvPr/>
        </p:nvPicPr>
        <p:blipFill>
          <a:blip r:embed="rId37"/>
          <a:stretch>
            <a:fillRect/>
          </a:stretch>
        </p:blipFill>
        <p:spPr>
          <a:xfrm>
            <a:off x="22209101" y="31412688"/>
            <a:ext cx="9979453" cy="4095445"/>
          </a:xfrm>
          <a:prstGeom prst="rect">
            <a:avLst/>
          </a:prstGeom>
        </p:spPr>
      </p:pic>
      <p:sp>
        <p:nvSpPr>
          <p:cNvPr id="143" name="cap-fig12"/>
          <p:cNvSpPr txBox="1"/>
          <p:nvPr/>
        </p:nvSpPr>
        <p:spPr>
          <a:xfrm>
            <a:off x="22064472" y="35636149"/>
            <a:ext cx="10268712" cy="799642"/>
          </a:xfrm>
          <a:prstGeom prst="rect">
            <a:avLst/>
          </a:prstGeom>
          <a:noFill/>
        </p:spPr>
        <p:txBody>
          <a:bodyPr wrap="square" lIns="0" rIns="0" tIns="0" bIns="0" anchor="t">
            <a:spAutoFit/>
          </a:bodyPr>
          <a:lstStyle/>
          <a:p>
            <a:pPr algn="l">
              <a:lnSpc>
                <a:spcPct val="104000"/>
              </a:lnSpc>
              <a:spcAft>
                <a:spcPts val="0"/>
              </a:spcAft>
            </a:pPr>
            <a:r>
              <a:rPr sz="1650" b="1">
                <a:solidFill>
                  <a:srgbClr val="086EAD"/>
                </a:solidFill>
                <a:latin typeface="Times New Roman"/>
              </a:rPr>
              <a:t>Fig. 12. Photo-derived vs. reported half-angles.</a:t>
            </a:r>
            <a:r>
              <a:rPr sz="1650" b="0">
                <a:solidFill>
                  <a:srgbClr val="4A5A66"/>
                </a:solidFill>
                <a:latin typeface="Times New Roman"/>
              </a:rPr>
              <a:t> Comparison is restricted to the three voltage pairs whose mismatch is below 0.005 kV. Absolute differences are 1.970°, 1.520° and 0.522°, giving a mean absolute difference of 1.337° and an RMS difference of 1.468°. Both series rise with voltage; the largest matched discrepancy is at 1.80 kV.</a:t>
            </a:r>
          </a:p>
        </p:txBody>
      </p:sp>
      <p:pic>
        <p:nvPicPr>
          <p:cNvPr id="144" name="fig-fig13" descr="fig13_threshold.png"/>
          <p:cNvPicPr>
            <a:picLocks noChangeAspect="1"/>
          </p:cNvPicPr>
          <p:nvPr/>
        </p:nvPicPr>
        <p:blipFill>
          <a:blip r:embed="rId38"/>
          <a:stretch>
            <a:fillRect/>
          </a:stretch>
        </p:blipFill>
        <p:spPr>
          <a:xfrm>
            <a:off x="12045684" y="36618672"/>
            <a:ext cx="9329951" cy="3828897"/>
          </a:xfrm>
          <a:prstGeom prst="rect">
            <a:avLst/>
          </a:prstGeom>
        </p:spPr>
      </p:pic>
      <p:sp>
        <p:nvSpPr>
          <p:cNvPr id="145" name="cap-fig13"/>
          <p:cNvSpPr txBox="1"/>
          <p:nvPr/>
        </p:nvSpPr>
        <p:spPr>
          <a:xfrm>
            <a:off x="11576304" y="40575585"/>
            <a:ext cx="10268712" cy="1066190"/>
          </a:xfrm>
          <a:prstGeom prst="rect">
            <a:avLst/>
          </a:prstGeom>
          <a:noFill/>
        </p:spPr>
        <p:txBody>
          <a:bodyPr wrap="square" lIns="0" rIns="0" tIns="0" bIns="0" anchor="t">
            <a:spAutoFit/>
          </a:bodyPr>
          <a:lstStyle/>
          <a:p>
            <a:pPr algn="l">
              <a:lnSpc>
                <a:spcPct val="104000"/>
              </a:lnSpc>
              <a:spcAft>
                <a:spcPts val="0"/>
              </a:spcAft>
            </a:pPr>
            <a:r>
              <a:rPr sz="1650" b="1">
                <a:solidFill>
                  <a:srgbClr val="086EAD"/>
                </a:solidFill>
                <a:latin typeface="Times New Roman"/>
              </a:rPr>
              <a:t>Fig. 13. Extraction sensitivity.</a:t>
            </a:r>
            <a:r>
              <a:rPr sz="1650" b="0">
                <a:solidFill>
                  <a:srgbClr val="4A5A66"/>
                </a:solidFill>
                <a:latin typeface="Times New Roman"/>
              </a:rPr>
              <a:t> Repeating the segmentation at grayscale thresholds 90/110/130 shifts the three voltage-matched half-angles by at most 0.204° and the unpaired 2.30 kV case by 0.322°. At the nominal threshold the straight-flank fit RMS is 1.082, 0.837, 0.848 and 0.579 µm in ascending voltage order — so threshold sensitivity is smaller than the inter-source discrepancy.</a:t>
            </a:r>
          </a:p>
        </p:txBody>
      </p:sp>
      <p:pic>
        <p:nvPicPr>
          <p:cNvPr id="146" name="fig-fig14" descr="fig14_fieldbalance.png"/>
          <p:cNvPicPr>
            <a:picLocks noChangeAspect="1"/>
          </p:cNvPicPr>
          <p:nvPr/>
        </p:nvPicPr>
        <p:blipFill>
          <a:blip r:embed="rId39"/>
          <a:stretch>
            <a:fillRect/>
          </a:stretch>
        </p:blipFill>
        <p:spPr>
          <a:xfrm>
            <a:off x="22858603" y="36618672"/>
            <a:ext cx="8680449" cy="3562349"/>
          </a:xfrm>
          <a:prstGeom prst="rect">
            <a:avLst/>
          </a:prstGeom>
        </p:spPr>
      </p:pic>
      <p:sp>
        <p:nvSpPr>
          <p:cNvPr id="147" name="cap-fig14"/>
          <p:cNvSpPr txBox="1"/>
          <p:nvPr/>
        </p:nvSpPr>
        <p:spPr>
          <a:xfrm>
            <a:off x="22064472" y="40309038"/>
            <a:ext cx="10268712" cy="1332738"/>
          </a:xfrm>
          <a:prstGeom prst="rect">
            <a:avLst/>
          </a:prstGeom>
          <a:noFill/>
        </p:spPr>
        <p:txBody>
          <a:bodyPr wrap="square" lIns="0" rIns="0" tIns="0" bIns="0" anchor="t">
            <a:spAutoFit/>
          </a:bodyPr>
          <a:lstStyle/>
          <a:p>
            <a:pPr algn="l">
              <a:lnSpc>
                <a:spcPct val="104000"/>
              </a:lnSpc>
              <a:spcAft>
                <a:spcPts val="0"/>
              </a:spcAft>
            </a:pPr>
            <a:r>
              <a:rPr sz="1650" b="1">
                <a:solidFill>
                  <a:srgbClr val="086EAD"/>
                </a:solidFill>
                <a:latin typeface="Times New Roman"/>
              </a:rPr>
              <a:t>Fig. 14. Field and balance checks.</a:t>
            </a:r>
            <a:r>
              <a:rPr sz="1650" b="0">
                <a:solidFill>
                  <a:srgbClr val="4A5A66"/>
                </a:solidFill>
                <a:latin typeface="Times New Roman"/>
              </a:rPr>
              <a:t> (a) Sphere-reference normal-field error falls from 0.440% mean / 1.245% max to 0.094% mean / 0.328% max when the local spacing is refined from 6 to 2 µm. (b) With pressure calibrated at 1.7203 kV (Δp ≈ 6.458 Pa) and held fixed, mean residuals at the reported angles are ≈ 0, −44, −123, −201 and −278 Pa. The negative high-voltage trend persists across five numerical settings, indicating a systematic departure from the constant-pressure static balance.</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10393</Words>
  <Application>WPS 演示</Application>
  <PresentationFormat>Converted Presentation</PresentationFormat>
  <Paragraphs>357</Paragraphs>
  <Slides>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Arial</vt:lpstr>
      <vt:lpstr>宋体</vt:lpstr>
      <vt:lpstr>Wingdings</vt:lpstr>
      <vt:lpstr>Arial</vt:lpstr>
      <vt:lpstr>Times New Roman</vt:lpstr>
      <vt:lpstr>DejaVu Math TeX Gyre</vt:lpstr>
      <vt:lpstr>MS PGothic</vt:lpstr>
      <vt:lpstr>微软雅黑</vt:lpstr>
      <vt:lpstr>Arial Unicode MS</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Sunshine</cp:lastModifiedBy>
  <cp:revision>8</cp:revision>
  <dcterms:created xsi:type="dcterms:W3CDTF">2026-10-11T12:15:00Z</dcterms:created>
  <dcterms:modified xsi:type="dcterms:W3CDTF">2026-10-12T06:55:22Z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C5DFEE0A1E7B662C747DCB6A054C50A0_43</vt:lpwstr>
  </property>
  <property fmtid="{D5CDD505-2E9C-101B-9397-08002B2CF9AE}" pid="3" name="KSOProductBuildVer">
    <vt:lpwstr>2052-12.1.0.28505</vt:lpwstr>
  </property>
</Properties>
</file>