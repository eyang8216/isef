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43559730" cy="4355973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Relative RMS difference</c:f>
              <c:strCache>
                <c:ptCount val="1"/>
                <c:pt idx="0">
                  <c:v>Relative RMS difference</c:v>
                </c:pt>
              </c:strCache>
            </c:strRef>
          </c:tx>
          <c:spPr>
            <a:solidFill>
              <a:srgbClr val="157AB2"/>
            </a:solidFill>
          </c:spPr>
          <c:invertIfNegative val="0"/>
          <c:dPt>
            <c:idx val="0"/>
            <c:invertIfNegative val="0"/>
            <c:bubble3D val="0"/>
            <c:spPr>
              <a:solidFill>
                <a:srgbClr val="157AB2"/>
              </a:solidFill>
            </c:spPr>
          </c:dPt>
          <c:dPt>
            <c:idx val="1"/>
            <c:invertIfNegative val="0"/>
            <c:bubble3D val="0"/>
            <c:spPr>
              <a:solidFill>
                <a:srgbClr val="079B9C"/>
              </a:solidFill>
            </c:spPr>
          </c:dPt>
          <c:dPt>
            <c:idx val="2"/>
            <c:invertIfNegative val="0"/>
            <c:bubble3D val="0"/>
            <c:spPr>
              <a:solidFill>
                <a:srgbClr val="C88B23"/>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Potential</c:v>
                </c:pt>
                <c:pt idx="1">
                  <c:v>Vector field</c:v>
                </c:pt>
                <c:pt idx="2">
                  <c:v>Maxwell pressure</c:v>
                </c:pt>
              </c:strCache>
            </c:strRef>
          </c:cat>
          <c:val>
            <c:numRef>
              <c:f>'Chart Data'!$B$2:$B$4</c:f>
              <c:numCache>
                <c:formatCode>0.0</c:formatCode>
                <c:ptCount val="3"/>
                <c:pt idx="0">
                  <c:v>0.024</c:v>
                </c:pt>
                <c:pt idx="1">
                  <c:v>0.226</c:v>
                </c:pt>
                <c:pt idx="2">
                  <c:v>0.817</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2025" b="0" i="0" u="none" strike="noStrike" kern="1200" baseline="0">
                <a:solidFill>
                  <a:srgbClr val="15212C"/>
                </a:solidFill>
                <a:latin typeface="+mn-lt"/>
                <a:ea typeface="+mn-ea"/>
                <a:cs typeface="+mn-cs"/>
              </a:defRPr>
            </a:pPr>
          </a:p>
        </c:txPr>
        <c:crossAx val="48672768"/>
        <c:crosses val="autoZero"/>
        <c:auto val="1"/>
        <c:lblAlgn val="ctr"/>
        <c:lblOffset val="100"/>
        <c:noMultiLvlLbl val="0"/>
      </c:catAx>
      <c:valAx>
        <c:axId val="48672768"/>
        <c:scaling>
          <c:orientation val="minMax"/>
          <c:max val="1"/>
          <c:min val="0"/>
        </c:scaling>
        <c:delete val="0"/>
        <c:axPos val="b"/>
        <c:majorGridlines>
          <c:spPr>
            <a:ln w="9525">
              <a:solidFill>
                <a:srgbClr val="D7E0E8"/>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875" b="0" i="0" u="none" strike="noStrike" kern="1200" baseline="0">
                <a:solidFill>
                  <a:srgbClr val="395668"/>
                </a:solidFill>
                <a:latin typeface="+mn-lt"/>
                <a:ea typeface="+mn-ea"/>
                <a:cs typeface="+mn-cs"/>
              </a:defRPr>
            </a:pPr>
          </a:p>
        </c:txPr>
        <c:crossAx val="48650112"/>
        <c:crosses val="autoZero"/>
        <c:crossBetween val="between"/>
        <c:majorUnit val="0.2"/>
      </c:valAx>
      <c:spPr>
        <a:solidFill>
          <a:srgbClr val="F7F9FC"/>
        </a:solidFill>
      </c:spPr>
    </c:plotArea>
    <c:plotVisOnly val="1"/>
    <c:dispBlanksAs val="gap"/>
    <c:showDLblsOverMax val="0"/>
    <c:extLst>
      <c:ext uri="{0b15fc19-7d7d-44ad-8c2d-2c3a37ce22c3}">
        <chartProps xmlns="https://web.wps.cn/et/2018/main" chartId="{327a259b-1cb4-4fca-bbbd-99138cc060d6}"/>
      </c:ext>
    </c:extLst>
  </c:chart>
  <c:spPr>
    <a:solidFill>
      <a:srgbClr val="F7F9FC"/>
    </a:solidFill>
    <a:ln w="0">
      <a:noFill/>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 and metric definitions for the academic poster.</a:t>
            </a:r>
          </a:p>
          <a:p>
            <a:r>
              <a:t>Computational figures: 论文修改对照与图件交付/figures/en and figures/zh. Corresponding numerical data: 论文修改对照与图件交付/data/.</a:t>
            </a:r>
          </a:p>
          <a:p>
            <a:r>
              <a:t>Public experimental case: Yang Pengfei, Peng Yuxing, Yi Hongliang and Wu Jian (2025), Journal of Experiments in Fluid Mechanics 39(3):54–62, DOI 10.11729/syltlx20220040.</a:t>
            </a:r>
          </a:p>
          <a:p>
            <a:r>
              <a:t>Publisher PDF: https://pubs-data.cstam.org.cn/lxqkw-data/syltlx/2025/3/PDF/2022-040a.pdf</a:t>
            </a:r>
          </a:p>
          <a:p>
            <a:r>
              <a:t>The four photos are at 1.80, 1.95, 2.10 and 2.30 kV. Published angle markers include five voltages ending at 2.2503 kV. Measurement MAE uses the three matching voltages 1.80, 1.95 and 2.10 kV.</a:t>
            </a:r>
          </a:p>
          <a:p>
            <a:r>
              <a:t>Image measurement MAE 1.337459301 deg, max 1.970428562 deg. This crosscheck uses published markers from the same study rather than repeated measurement of the identical frame.</a:t>
            </a:r>
          </a:p>
          <a:p>
            <a:r>
              <a:t>Synthetic measurement figures use the original 108 analytic image cases, max half-angle error 0.298517 deg, max profile nRMSE 1.405869%. Software regression test count is distinct from experiment count.</a:t>
            </a:r>
          </a:p>
          <a:p>
            <a:r>
              <a:t>Application photographs: NASA/JPL-Caltech, https://microdevices.jpl.nasa.gov/capabilities/advanced-microfabrication-technologies/electrospray-propulsion/; © ESA, https://www.esa.int/ESA_Multimedia/Images/2023/03/Microfabricated_electrospray_emitter_and_fluidic_barrier.</a:t>
            </a:r>
          </a:p>
          <a:p>
            <a:r>
              <a:t>ESA image credit and Standard Licence are retained. Publisher experimental images are attributed for research review. No additional image reuse license is asserted.</a:t>
            </a:r>
          </a:p>
          <a:p>
            <a:r>
              <a:t>Additional application image: IENAI Space, ESA Pinhole propulsion for satellites, https://www.esa.int/ESA_Multimedia/Images/2023/12/Pinhole_propulsion_for_satellites . Image copyright IENAI Space. Educational research poster.</a:t>
            </a:r>
          </a:p>
          <a:p>
            <a:r>
              <a:t>Hardware crops reproduce portions of Yang et al. Figure 1. They illustrate the published apparatus, and are not photos of newly conducted project experiments.</a:t>
            </a:r>
          </a:p>
          <a:p>
            <a:r>
              <a:t>Poster experimental figures: revision_2026-10-09/scripts/render_experiment_figures.py. Inputs are the retained CSV measurements, contour samples and field libraries. Figure-data checksums accompany the rendered figures.</a:t>
            </a:r>
          </a:p>
          <a:p>
            <a:r>
              <a:t>The image/report angle comparison uses three voltage-matched points from Yang et al. Figures 5 and 6. The mean absolute difference is 1.337459301 degrees. Missing photo/marker pairs are blank in the data-pairing table.</a:t>
            </a:r>
          </a:p>
          <a:p>
            <a:r>
              <a:t>Numerical residual: R = gamma*kappa - epsilon*En^2/2 - Delta p, with the spatially constant offset removed by the surface mean. The separate fixed-pressure diagnostic fixes the offset at the first reported voltage and evaluates the other reported geometries.</a:t>
            </a:r>
          </a:p>
          <a:p>
            <a:r>
              <a:t>Threshold sensitivity reuses the 90, 110 and 130 segmentation thresholds. The maximum half-angle range across the three matched voltages is 0.203613622 degrees. Flank-fit RMS measures distance to the fitted line on the same extracted contour.</a:t>
            </a:r>
          </a:p>
          <a:p>
            <a:r>
              <a:t>Application photographs illustrate electrospray propulsion. Experimental apparatus photographs reproduce Yang et al. Figure 1. Figure 1 of this poster is a conceptual schematic. Figure 2 is a model geometry drawing with a separate equipment montage.</a:t>
            </a:r>
          </a:p>
          <a:p>
            <a:r>
              <a:t>Figure 15 source: retained fixed-cone FD–FEM benchmark, finest level. Relative RMS differences: potential 0.024%, vector electric field 0.226%, Maxwell pressure 0.817%. Figure 16 is a generated conceptual illustration of proposed future work, not an experimental photograph.</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jpe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jpeg"/><Relationship Id="rId25" Type="http://schemas.openxmlformats.org/officeDocument/2006/relationships/notesSlide" Target="../notesSlides/notesSlide1.xml"/><Relationship Id="rId24" Type="http://schemas.openxmlformats.org/officeDocument/2006/relationships/slideLayout" Target="../slideLayouts/slideLayout1.xml"/><Relationship Id="rId23" Type="http://schemas.openxmlformats.org/officeDocument/2006/relationships/image" Target="../media/image22.png"/><Relationship Id="rId22" Type="http://schemas.openxmlformats.org/officeDocument/2006/relationships/image" Target="../media/image21.png"/><Relationship Id="rId21" Type="http://schemas.openxmlformats.org/officeDocument/2006/relationships/image" Target="../media/image20.png"/><Relationship Id="rId20" Type="http://schemas.openxmlformats.org/officeDocument/2006/relationships/image" Target="../media/image19.png"/><Relationship Id="rId2" Type="http://schemas.openxmlformats.org/officeDocument/2006/relationships/image" Target="../media/image1.jpeg"/><Relationship Id="rId19" Type="http://schemas.openxmlformats.org/officeDocument/2006/relationships/image" Target="../media/image18.png"/><Relationship Id="rId18"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15" Type="http://schemas.openxmlformats.org/officeDocument/2006/relationships/image" Target="../media/image14.png"/><Relationship Id="rId14" Type="http://schemas.openxmlformats.org/officeDocument/2006/relationships/image" Target="../media/image13.png"/><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8" name="white-canvas"/>
          <p:cNvSpPr>
            <a:spLocks noGrp="1"/>
          </p:cNvSpPr>
          <p:nvPr/>
        </p:nvSpPr>
        <p:spPr>
          <a:xfrm>
            <a:off x="0" y="0"/>
            <a:ext cx="43559730" cy="43559730"/>
          </a:xfrm>
          <a:prstGeom prst="rect">
            <a:avLst/>
          </a:prstGeom>
          <a:solidFill>
            <a:srgbClr val="FFFFFF"/>
          </a:solidFill>
          <a:ln w="0">
            <a:noFill/>
          </a:ln>
        </p:spPr>
      </p:sp>
      <p:sp>
        <p:nvSpPr>
          <p:cNvPr id="2" name="title-band"/>
          <p:cNvSpPr>
            <a:spLocks noGrp="1"/>
          </p:cNvSpPr>
          <p:nvPr/>
        </p:nvSpPr>
        <p:spPr>
          <a:xfrm>
            <a:off x="11315700" y="95250"/>
            <a:ext cx="21450300" cy="2952750"/>
          </a:xfrm>
          <a:prstGeom prst="rect">
            <a:avLst/>
          </a:prstGeom>
          <a:gradFill>
            <a:gsLst>
              <a:gs pos="0">
                <a:srgbClr val="074D8B"/>
              </a:gs>
              <a:gs pos="100000">
                <a:srgbClr val="2A91B5"/>
              </a:gs>
            </a:gsLst>
            <a:lin ang="0"/>
          </a:gradFill>
          <a:ln w="0">
            <a:noFill/>
          </a:ln>
        </p:spPr>
      </p:sp>
      <p:sp>
        <p:nvSpPr>
          <p:cNvPr id="3" name="poster-title"/>
          <p:cNvSpPr>
            <a:spLocks noGrp="1"/>
          </p:cNvSpPr>
          <p:nvPr/>
        </p:nvSpPr>
        <p:spPr>
          <a:xfrm>
            <a:off x="11649075" y="219075"/>
            <a:ext cx="20783550" cy="1285875"/>
          </a:xfrm>
          <a:prstGeom prst="rect">
            <a:avLst/>
          </a:prstGeom>
          <a:noFill/>
          <a:ln w="0">
            <a:noFill/>
          </a:ln>
        </p:spPr>
        <p:txBody>
          <a:bodyPr wrap="square" lIns="0" tIns="0" rIns="0" bIns="0" anchor="t">
            <a:noAutofit/>
          </a:bodyPr>
          <a:lstStyle>
            <a:defPPr algn="ctr"/>
          </a:lstStyle>
          <a:p>
            <a:pPr algn="ctr">
              <a:lnSpc>
                <a:spcPct val="108000"/>
              </a:lnSpc>
              <a:buNone/>
              <a:defRPr sz="9300" b="1">
                <a:solidFill>
                  <a:srgbClr val="FFFFFF"/>
                </a:solidFill>
                <a:latin typeface="Times New Roman" panose="02020603050405020304"/>
                <a:ea typeface="Times New Roman" panose="02020603050405020304"/>
                <a:cs typeface="Times New Roman" panose="02020603050405020304"/>
              </a:defRPr>
            </a:pPr>
            <a:r>
              <a:rPr sz="9300" b="1">
                <a:solidFill>
                  <a:srgbClr val="FFFFFF"/>
                </a:solidFill>
                <a:latin typeface="Times New Roman" panose="02020603050405020304"/>
                <a:ea typeface="Times New Roman" panose="02020603050405020304"/>
                <a:cs typeface="Times New Roman" panose="02020603050405020304"/>
              </a:rPr>
              <a:t>Taylor-Cone Analysis</a:t>
            </a:r>
            <a:endParaRPr sz="9300" b="1">
              <a:solidFill>
                <a:srgbClr val="FFFFFF"/>
              </a:solidFill>
              <a:latin typeface="Times New Roman" panose="02020603050405020304"/>
              <a:ea typeface="Times New Roman" panose="02020603050405020304"/>
              <a:cs typeface="Times New Roman" panose="02020603050405020304"/>
            </a:endParaRPr>
          </a:p>
        </p:txBody>
      </p:sp>
      <p:sp>
        <p:nvSpPr>
          <p:cNvPr id="4" name="poster-subtitle"/>
          <p:cNvSpPr>
            <a:spLocks noGrp="1"/>
          </p:cNvSpPr>
          <p:nvPr/>
        </p:nvSpPr>
        <p:spPr>
          <a:xfrm>
            <a:off x="11696700" y="1495425"/>
            <a:ext cx="20688300" cy="628650"/>
          </a:xfrm>
          <a:prstGeom prst="rect">
            <a:avLst/>
          </a:prstGeom>
          <a:noFill/>
          <a:ln w="0">
            <a:noFill/>
          </a:ln>
        </p:spPr>
        <p:txBody>
          <a:bodyPr wrap="square" lIns="0" tIns="0" rIns="0" bIns="0" anchor="t">
            <a:noAutofit/>
          </a:bodyPr>
          <a:lstStyle>
            <a:defPPr algn="ctr">
              <a:defRPr sz="3300" b="0">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300" b="0">
                <a:solidFill>
                  <a:srgbClr val="FFFFFF"/>
                </a:solidFill>
                <a:latin typeface="Times New Roman" panose="02020603050405020304"/>
                <a:ea typeface="Times New Roman" panose="02020603050405020304"/>
                <a:cs typeface="Times New Roman" panose="02020603050405020304"/>
              </a:defRPr>
            </a:pPr>
            <a:r>
              <a:rPr sz="3300" b="0">
                <a:solidFill>
                  <a:srgbClr val="FFFFFF"/>
                </a:solidFill>
                <a:latin typeface="Times New Roman" panose="02020603050405020304"/>
                <a:ea typeface="Times New Roman" panose="02020603050405020304"/>
                <a:cs typeface="Times New Roman" panose="02020603050405020304"/>
              </a:rPr>
              <a:t>Numerical Verification and Experimental Image Analysis</a:t>
            </a:r>
            <a:endParaRPr sz="3300" b="0">
              <a:solidFill>
                <a:srgbClr val="FFFFFF"/>
              </a:solidFill>
              <a:latin typeface="Times New Roman" panose="02020603050405020304"/>
              <a:ea typeface="Times New Roman" panose="02020603050405020304"/>
              <a:cs typeface="Times New Roman" panose="02020603050405020304"/>
            </a:endParaRPr>
          </a:p>
        </p:txBody>
      </p:sp>
      <p:sp>
        <p:nvSpPr>
          <p:cNvPr id="5" name="authors"/>
          <p:cNvSpPr>
            <a:spLocks noGrp="1"/>
          </p:cNvSpPr>
          <p:nvPr/>
        </p:nvSpPr>
        <p:spPr>
          <a:xfrm>
            <a:off x="11696700" y="2190750"/>
            <a:ext cx="20688300" cy="400050"/>
          </a:xfrm>
          <a:prstGeom prst="rect">
            <a:avLst/>
          </a:prstGeom>
          <a:noFill/>
          <a:ln w="0">
            <a:noFill/>
          </a:ln>
        </p:spPr>
        <p:txBody>
          <a:bodyPr wrap="square" lIns="0" tIns="0" rIns="0" bIns="0" anchor="t">
            <a:noAutofit/>
          </a:bodyPr>
          <a:lstStyle>
            <a:defPPr algn="ctr"/>
          </a:lstStyle>
          <a:p>
            <a:pPr algn="ctr">
              <a:lnSpc>
                <a:spcPct val="108000"/>
              </a:lnSpc>
              <a:buNone/>
              <a:defRPr sz="2550" b="0">
                <a:solidFill>
                  <a:srgbClr val="FFFFFF"/>
                </a:solidFill>
                <a:latin typeface="Times New Roman" panose="02020603050405020304"/>
                <a:ea typeface="Times New Roman" panose="02020603050405020304"/>
                <a:cs typeface="Times New Roman" panose="02020603050405020304"/>
              </a:defRPr>
            </a:pPr>
            <a:r>
              <a:rPr sz="2550" b="0">
                <a:solidFill>
                  <a:srgbClr val="FFFFFF"/>
                </a:solidFill>
                <a:latin typeface="Times New Roman" panose="02020603050405020304"/>
                <a:ea typeface="Times New Roman" panose="02020603050405020304"/>
                <a:cs typeface="Times New Roman" panose="02020603050405020304"/>
              </a:rPr>
              <a:t>Ethan Yang · Elliot Dong · Curtis Lau</a:t>
            </a:r>
            <a:endParaRPr sz="2550" b="0">
              <a:solidFill>
                <a:srgbClr val="FFFFFF"/>
              </a:solidFill>
              <a:latin typeface="Times New Roman" panose="02020603050405020304"/>
              <a:ea typeface="Times New Roman" panose="02020603050405020304"/>
              <a:cs typeface="Times New Roman" panose="02020603050405020304"/>
            </a:endParaRPr>
          </a:p>
        </p:txBody>
      </p:sp>
      <p:sp>
        <p:nvSpPr>
          <p:cNvPr id="6" name="school"/>
          <p:cNvSpPr>
            <a:spLocks noGrp="1"/>
          </p:cNvSpPr>
          <p:nvPr/>
        </p:nvSpPr>
        <p:spPr>
          <a:xfrm>
            <a:off x="11696700" y="2609850"/>
            <a:ext cx="20688300" cy="342900"/>
          </a:xfrm>
          <a:prstGeom prst="rect">
            <a:avLst/>
          </a:prstGeom>
          <a:noFill/>
          <a:ln w="0">
            <a:noFill/>
          </a:ln>
        </p:spPr>
        <p:txBody>
          <a:bodyPr wrap="square" lIns="0" tIns="0" rIns="0" bIns="0" anchor="t">
            <a:noAutofit/>
          </a:bodyPr>
          <a:lstStyle>
            <a:defPPr algn="ctr"/>
          </a:lstStyle>
          <a:p>
            <a:pPr algn="ctr">
              <a:lnSpc>
                <a:spcPct val="108000"/>
              </a:lnSpc>
              <a:buNone/>
              <a:defRPr sz="2025" b="0">
                <a:solidFill>
                  <a:srgbClr val="FFFFFF"/>
                </a:solidFill>
                <a:latin typeface="Times New Roman" panose="02020603050405020304"/>
                <a:ea typeface="Times New Roman" panose="02020603050405020304"/>
                <a:cs typeface="Times New Roman" panose="02020603050405020304"/>
              </a:defRPr>
            </a:pPr>
            <a:r>
              <a:rPr sz="2025" b="0">
                <a:solidFill>
                  <a:srgbClr val="FFFFFF"/>
                </a:solidFill>
                <a:latin typeface="Times New Roman" panose="02020603050405020304"/>
                <a:ea typeface="Times New Roman" panose="02020603050405020304"/>
                <a:cs typeface="Times New Roman" panose="02020603050405020304"/>
              </a:rPr>
              <a:t>Independent Schools Foundation Academy</a:t>
            </a:r>
            <a:endParaRPr sz="2025" b="0">
              <a:solidFill>
                <a:srgbClr val="FFFFFF"/>
              </a:solidFill>
              <a:latin typeface="Times New Roman" panose="02020603050405020304"/>
              <a:ea typeface="Times New Roman" panose="02020603050405020304"/>
              <a:cs typeface="Times New Roman" panose="02020603050405020304"/>
            </a:endParaRPr>
          </a:p>
        </p:txBody>
      </p:sp>
      <p:sp>
        <p:nvSpPr>
          <p:cNvPr id="7" name="introduction-frame"/>
          <p:cNvSpPr>
            <a:spLocks noGrp="1"/>
          </p:cNvSpPr>
          <p:nvPr/>
        </p:nvSpPr>
        <p:spPr>
          <a:xfrm>
            <a:off x="95250" y="95250"/>
            <a:ext cx="11087100" cy="10287000"/>
          </a:xfrm>
          <a:prstGeom prst="roundRect">
            <a:avLst>
              <a:gd name="adj" fmla="val 1481"/>
            </a:avLst>
          </a:prstGeom>
          <a:solidFill>
            <a:srgbClr val="F7F9FC"/>
          </a:solidFill>
          <a:ln w="16193">
            <a:solidFill>
              <a:srgbClr val="4E89B9"/>
            </a:solidFill>
            <a:prstDash val="dash"/>
          </a:ln>
        </p:spPr>
      </p:sp>
      <p:sp>
        <p:nvSpPr>
          <p:cNvPr id="8" name="introduction-header"/>
          <p:cNvSpPr>
            <a:spLocks noGrp="1"/>
          </p:cNvSpPr>
          <p:nvPr/>
        </p:nvSpPr>
        <p:spPr>
          <a:xfrm>
            <a:off x="95250" y="9525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9" name="introduction-heading"/>
          <p:cNvSpPr>
            <a:spLocks noGrp="1"/>
          </p:cNvSpPr>
          <p:nvPr/>
        </p:nvSpPr>
        <p:spPr>
          <a:xfrm>
            <a:off x="333375" y="22860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INTRODUCTION</a:t>
            </a:r>
            <a:endParaRPr sz="3800" b="1">
              <a:solidFill>
                <a:srgbClr val="FFFFFF"/>
              </a:solidFill>
              <a:latin typeface="Times New Roman" panose="02020603050405020304"/>
              <a:ea typeface="Times New Roman" panose="02020603050405020304"/>
              <a:cs typeface="Times New Roman" panose="02020603050405020304"/>
            </a:endParaRPr>
          </a:p>
        </p:txBody>
      </p:sp>
      <p:pic>
        <p:nvPicPr>
          <p:cNvPr id="167" name="application-0"/>
          <p:cNvPicPr>
            <a:picLocks noChangeAspect="1"/>
          </p:cNvPicPr>
          <p:nvPr/>
        </p:nvPicPr>
        <p:blipFill>
          <a:blip r:embed="rId2"/>
          <a:stretch>
            <a:fillRect/>
          </a:stretch>
        </p:blipFill>
        <p:spPr>
          <a:xfrm>
            <a:off x="585788" y="1123950"/>
            <a:ext cx="2543175" cy="1695450"/>
          </a:xfrm>
          <a:prstGeom prst="rect">
            <a:avLst/>
          </a:prstGeom>
        </p:spPr>
      </p:pic>
      <p:sp>
        <p:nvSpPr>
          <p:cNvPr id="11" name="application-label-0"/>
          <p:cNvSpPr>
            <a:spLocks noGrp="1"/>
          </p:cNvSpPr>
          <p:nvPr/>
        </p:nvSpPr>
        <p:spPr>
          <a:xfrm>
            <a:off x="381000" y="2847975"/>
            <a:ext cx="2952750" cy="333375"/>
          </a:xfrm>
          <a:prstGeom prst="rect">
            <a:avLst/>
          </a:prstGeom>
          <a:noFill/>
          <a:ln w="0">
            <a:noFill/>
          </a:ln>
        </p:spPr>
        <p:txBody>
          <a:bodyPr wrap="square" lIns="0" tIns="0" rIns="0" bIns="0" anchor="t">
            <a:noAutofit/>
          </a:bodyPr>
          <a:lstStyle/>
          <a:p>
            <a:pPr algn="ctr">
              <a:lnSpc>
                <a:spcPct val="108000"/>
              </a:lnSpc>
              <a:buNone/>
              <a:defRPr sz="1950" b="1">
                <a:solidFill>
                  <a:srgbClr val="0072B5"/>
                </a:solidFill>
                <a:latin typeface="Times New Roman" panose="02020603050405020304"/>
                <a:ea typeface="Times New Roman" panose="02020603050405020304"/>
                <a:cs typeface="Times New Roman" panose="02020603050405020304"/>
              </a:defRPr>
            </a:pPr>
            <a:r>
              <a:rPr sz="1950" b="1">
                <a:solidFill>
                  <a:srgbClr val="0072B5"/>
                </a:solidFill>
                <a:latin typeface="Times New Roman" panose="02020603050405020304"/>
                <a:ea typeface="Times New Roman" panose="02020603050405020304"/>
                <a:cs typeface="Times New Roman" panose="02020603050405020304"/>
              </a:rPr>
              <a:t>Emitter alignment</a:t>
            </a:r>
            <a:endParaRPr sz="1950" b="1">
              <a:solidFill>
                <a:srgbClr val="0072B5"/>
              </a:solidFill>
              <a:latin typeface="Times New Roman" panose="02020603050405020304"/>
              <a:ea typeface="Times New Roman" panose="02020603050405020304"/>
              <a:cs typeface="Times New Roman" panose="02020603050405020304"/>
            </a:endParaRPr>
          </a:p>
        </p:txBody>
      </p:sp>
      <p:pic>
        <p:nvPicPr>
          <p:cNvPr id="169" name="application-1"/>
          <p:cNvPicPr>
            <a:picLocks noChangeAspect="1"/>
          </p:cNvPicPr>
          <p:nvPr/>
        </p:nvPicPr>
        <p:blipFill>
          <a:blip r:embed="rId3"/>
          <a:stretch>
            <a:fillRect/>
          </a:stretch>
        </p:blipFill>
        <p:spPr>
          <a:xfrm>
            <a:off x="404132" y="3171825"/>
            <a:ext cx="2906486" cy="1695450"/>
          </a:xfrm>
          <a:prstGeom prst="rect">
            <a:avLst/>
          </a:prstGeom>
        </p:spPr>
      </p:pic>
      <p:sp>
        <p:nvSpPr>
          <p:cNvPr id="13" name="application-label-1"/>
          <p:cNvSpPr>
            <a:spLocks noGrp="1"/>
          </p:cNvSpPr>
          <p:nvPr/>
        </p:nvSpPr>
        <p:spPr>
          <a:xfrm>
            <a:off x="381000" y="4895850"/>
            <a:ext cx="2952750" cy="333375"/>
          </a:xfrm>
          <a:prstGeom prst="rect">
            <a:avLst/>
          </a:prstGeom>
          <a:noFill/>
          <a:ln w="0">
            <a:noFill/>
          </a:ln>
        </p:spPr>
        <p:txBody>
          <a:bodyPr wrap="square" lIns="0" tIns="0" rIns="0" bIns="0" anchor="t">
            <a:noAutofit/>
          </a:bodyPr>
          <a:lstStyle/>
          <a:p>
            <a:pPr algn="ctr">
              <a:lnSpc>
                <a:spcPct val="108000"/>
              </a:lnSpc>
              <a:buNone/>
              <a:defRPr sz="1950" b="1">
                <a:solidFill>
                  <a:srgbClr val="0072B5"/>
                </a:solidFill>
                <a:latin typeface="Times New Roman" panose="02020603050405020304"/>
                <a:ea typeface="Times New Roman" panose="02020603050405020304"/>
                <a:cs typeface="Times New Roman" panose="02020603050405020304"/>
              </a:defRPr>
            </a:pPr>
            <a:r>
              <a:rPr sz="1950" b="1">
                <a:solidFill>
                  <a:srgbClr val="0072B5"/>
                </a:solidFill>
                <a:latin typeface="Times New Roman" panose="02020603050405020304"/>
                <a:ea typeface="Times New Roman" panose="02020603050405020304"/>
                <a:cs typeface="Times New Roman" panose="02020603050405020304"/>
              </a:rPr>
              <a:t>Vacuum testing</a:t>
            </a:r>
            <a:endParaRPr sz="1950" b="1">
              <a:solidFill>
                <a:srgbClr val="0072B5"/>
              </a:solidFill>
              <a:latin typeface="Times New Roman" panose="02020603050405020304"/>
              <a:ea typeface="Times New Roman" panose="02020603050405020304"/>
              <a:cs typeface="Times New Roman" panose="02020603050405020304"/>
            </a:endParaRPr>
          </a:p>
        </p:txBody>
      </p:sp>
      <p:pic>
        <p:nvPicPr>
          <p:cNvPr id="171" name="application-2"/>
          <p:cNvPicPr>
            <a:picLocks noChangeAspect="1"/>
          </p:cNvPicPr>
          <p:nvPr/>
        </p:nvPicPr>
        <p:blipFill>
          <a:blip r:embed="rId4"/>
          <a:stretch>
            <a:fillRect/>
          </a:stretch>
        </p:blipFill>
        <p:spPr>
          <a:xfrm>
            <a:off x="1221830" y="5219700"/>
            <a:ext cx="1271091" cy="1695450"/>
          </a:xfrm>
          <a:prstGeom prst="rect">
            <a:avLst/>
          </a:prstGeom>
        </p:spPr>
      </p:pic>
      <p:sp>
        <p:nvSpPr>
          <p:cNvPr id="15" name="application-label-2"/>
          <p:cNvSpPr>
            <a:spLocks noGrp="1"/>
          </p:cNvSpPr>
          <p:nvPr/>
        </p:nvSpPr>
        <p:spPr>
          <a:xfrm>
            <a:off x="381000" y="6943725"/>
            <a:ext cx="2952750" cy="333375"/>
          </a:xfrm>
          <a:prstGeom prst="rect">
            <a:avLst/>
          </a:prstGeom>
          <a:noFill/>
          <a:ln w="0">
            <a:noFill/>
          </a:ln>
        </p:spPr>
        <p:txBody>
          <a:bodyPr wrap="square" lIns="0" tIns="0" rIns="0" bIns="0" anchor="t">
            <a:noAutofit/>
          </a:bodyPr>
          <a:lstStyle/>
          <a:p>
            <a:pPr algn="ctr">
              <a:lnSpc>
                <a:spcPct val="108000"/>
              </a:lnSpc>
              <a:buNone/>
              <a:defRPr sz="1950" b="1">
                <a:solidFill>
                  <a:srgbClr val="0072B5"/>
                </a:solidFill>
                <a:latin typeface="Times New Roman" panose="02020603050405020304"/>
                <a:ea typeface="Times New Roman" panose="02020603050405020304"/>
                <a:cs typeface="Times New Roman" panose="02020603050405020304"/>
              </a:defRPr>
            </a:pPr>
            <a:r>
              <a:rPr sz="1950" b="1">
                <a:solidFill>
                  <a:srgbClr val="0072B5"/>
                </a:solidFill>
                <a:latin typeface="Times New Roman" panose="02020603050405020304"/>
                <a:ea typeface="Times New Roman" panose="02020603050405020304"/>
                <a:cs typeface="Times New Roman" panose="02020603050405020304"/>
              </a:rPr>
              <a:t>Microfabricated emitter</a:t>
            </a:r>
            <a:endParaRPr sz="1950" b="1">
              <a:solidFill>
                <a:srgbClr val="0072B5"/>
              </a:solidFill>
              <a:latin typeface="Times New Roman" panose="02020603050405020304"/>
              <a:ea typeface="Times New Roman" panose="02020603050405020304"/>
              <a:cs typeface="Times New Roman" panose="02020603050405020304"/>
            </a:endParaRPr>
          </a:p>
        </p:txBody>
      </p:sp>
      <p:pic>
        <p:nvPicPr>
          <p:cNvPr id="173" name="application-3"/>
          <p:cNvPicPr>
            <a:picLocks noChangeAspect="1"/>
          </p:cNvPicPr>
          <p:nvPr/>
        </p:nvPicPr>
        <p:blipFill>
          <a:blip r:embed="rId5"/>
          <a:stretch>
            <a:fillRect/>
          </a:stretch>
        </p:blipFill>
        <p:spPr>
          <a:xfrm>
            <a:off x="585788" y="7267575"/>
            <a:ext cx="2543175" cy="1695450"/>
          </a:xfrm>
          <a:prstGeom prst="rect">
            <a:avLst/>
          </a:prstGeom>
        </p:spPr>
      </p:pic>
      <p:sp>
        <p:nvSpPr>
          <p:cNvPr id="17" name="application-label-3"/>
          <p:cNvSpPr>
            <a:spLocks noGrp="1"/>
          </p:cNvSpPr>
          <p:nvPr/>
        </p:nvSpPr>
        <p:spPr>
          <a:xfrm>
            <a:off x="381000" y="8991600"/>
            <a:ext cx="2952750" cy="333375"/>
          </a:xfrm>
          <a:prstGeom prst="rect">
            <a:avLst/>
          </a:prstGeom>
          <a:noFill/>
          <a:ln w="0">
            <a:noFill/>
          </a:ln>
        </p:spPr>
        <p:txBody>
          <a:bodyPr wrap="square" lIns="0" tIns="0" rIns="0" bIns="0" anchor="t">
            <a:noAutofit/>
          </a:bodyPr>
          <a:lstStyle/>
          <a:p>
            <a:pPr algn="ctr">
              <a:lnSpc>
                <a:spcPct val="108000"/>
              </a:lnSpc>
              <a:buNone/>
              <a:defRPr sz="1950" b="1">
                <a:solidFill>
                  <a:srgbClr val="0072B5"/>
                </a:solidFill>
                <a:latin typeface="Times New Roman" panose="02020603050405020304"/>
                <a:ea typeface="Times New Roman" panose="02020603050405020304"/>
                <a:cs typeface="Times New Roman" panose="02020603050405020304"/>
              </a:defRPr>
            </a:pPr>
            <a:r>
              <a:rPr sz="1950" b="1">
                <a:solidFill>
                  <a:srgbClr val="0072B5"/>
                </a:solidFill>
                <a:latin typeface="Times New Roman" panose="02020603050405020304"/>
                <a:ea typeface="Times New Roman" panose="02020603050405020304"/>
                <a:cs typeface="Times New Roman" panose="02020603050405020304"/>
              </a:rPr>
              <a:t>Emitter arrays</a:t>
            </a:r>
            <a:endParaRPr sz="1950" b="1">
              <a:solidFill>
                <a:srgbClr val="0072B5"/>
              </a:solidFill>
              <a:latin typeface="Times New Roman" panose="02020603050405020304"/>
              <a:ea typeface="Times New Roman" panose="02020603050405020304"/>
              <a:cs typeface="Times New Roman" panose="02020603050405020304"/>
            </a:endParaRPr>
          </a:p>
        </p:txBody>
      </p:sp>
      <p:sp>
        <p:nvSpPr>
          <p:cNvPr id="18" name="background"/>
          <p:cNvSpPr>
            <a:spLocks noGrp="1"/>
          </p:cNvSpPr>
          <p:nvPr/>
        </p:nvSpPr>
        <p:spPr>
          <a:xfrm>
            <a:off x="3667125" y="1123950"/>
            <a:ext cx="7229475" cy="514350"/>
          </a:xfrm>
          <a:prstGeom prst="rect">
            <a:avLst/>
          </a:prstGeom>
          <a:noFill/>
          <a:ln w="0">
            <a:noFill/>
          </a:ln>
        </p:spPr>
        <p:txBody>
          <a:bodyPr wrap="square" lIns="0" tIns="0" rIns="0" bIns="0" anchor="t">
            <a:noAutofit/>
          </a:bodyPr>
          <a:lstStyle>
            <a:defPPr algn="l">
              <a:defRPr sz="2800" b="1">
                <a:solidFill>
                  <a:srgbClr val="0072B5"/>
                </a:solidFill>
                <a:latin typeface="Times New Roman" panose="02020603050405020304"/>
                <a:ea typeface="Times New Roman" panose="02020603050405020304"/>
                <a:cs typeface="Times New Roman" panose="02020603050405020304"/>
              </a:defRPr>
            </a:defP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800" b="1">
                <a:solidFill>
                  <a:srgbClr val="0072B5"/>
                </a:solidFill>
                <a:latin typeface="Times New Roman" panose="02020603050405020304"/>
                <a:ea typeface="Times New Roman" panose="02020603050405020304"/>
                <a:cs typeface="Times New Roman" panose="02020603050405020304"/>
              </a:rPr>
              <a:t>1. Electrospray applications</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19" name="background-bullets"/>
          <p:cNvSpPr>
            <a:spLocks noGrp="1"/>
          </p:cNvSpPr>
          <p:nvPr/>
        </p:nvSpPr>
        <p:spPr>
          <a:xfrm>
            <a:off x="3667125" y="1647825"/>
            <a:ext cx="7229475" cy="2495550"/>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Electric stress. </a:t>
            </a:r>
            <a:r>
              <a:rPr b="0">
                <a:solidFill>
                  <a:srgbClr val="15212C"/>
                </a:solidFill>
              </a:rPr>
              <a:t>An applied voltage stretches the liquid surface while surface tension resists deformation.</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Application. </a:t>
            </a:r>
            <a:r>
              <a:rPr b="0">
                <a:solidFill>
                  <a:srgbClr val="15212C"/>
                </a:solidFill>
              </a:rPr>
              <a:t>Cone geometry controls the local field in miniature electrospray emitters.</a:t>
            </a:r>
            <a:endParaRPr b="0">
              <a:solidFill>
                <a:srgbClr val="15212C"/>
              </a:solidFill>
            </a:endParaRPr>
          </a:p>
        </p:txBody>
      </p:sp>
      <p:sp>
        <p:nvSpPr>
          <p:cNvPr id="20" name="question"/>
          <p:cNvSpPr>
            <a:spLocks noGrp="1"/>
          </p:cNvSpPr>
          <p:nvPr/>
        </p:nvSpPr>
        <p:spPr>
          <a:xfrm>
            <a:off x="3667125" y="4219575"/>
            <a:ext cx="7229475" cy="514350"/>
          </a:xfrm>
          <a:prstGeom prst="rect">
            <a:avLst/>
          </a:prstGeom>
          <a:noFill/>
          <a:ln w="0">
            <a:noFill/>
          </a:ln>
        </p:spPr>
        <p:txBody>
          <a:bodyPr wrap="square" lIns="0" tIns="0" rIns="0" bIns="0" anchor="t">
            <a:noAutofit/>
          </a:body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800" b="1">
                <a:solidFill>
                  <a:srgbClr val="0072B5"/>
                </a:solidFill>
                <a:latin typeface="Times New Roman" panose="02020603050405020304"/>
                <a:ea typeface="Times New Roman" panose="02020603050405020304"/>
                <a:cs typeface="Times New Roman" panose="02020603050405020304"/>
              </a:rPr>
              <a:t>2. Research question</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21" name="question-bullets"/>
          <p:cNvSpPr>
            <a:spLocks noGrp="1"/>
          </p:cNvSpPr>
          <p:nvPr/>
        </p:nvSpPr>
        <p:spPr>
          <a:xfrm>
            <a:off x="3667125" y="4743450"/>
            <a:ext cx="7229475" cy="2495550"/>
          </a:xfrm>
          <a:prstGeom prst="rect">
            <a:avLst/>
          </a:prstGeom>
          <a:noFill/>
          <a:ln w="0">
            <a:noFill/>
          </a:ln>
        </p:spPr>
        <p:txBody>
          <a:bodyPr wrap="square" lIns="0" tIns="0" rIns="0" bIns="0" anchor="t">
            <a:noAutofit/>
          </a:bodyPr>
          <a:lstStyle/>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Field accuracy</a:t>
            </a:r>
            <a:r>
              <a:rPr b="1">
                <a:solidFill>
                  <a:srgbClr val="0072B5"/>
                </a:solidFill>
              </a:rPr>
              <a:t>：</a:t>
            </a:r>
            <a:r>
              <a:rPr b="1">
                <a:solidFill>
                  <a:srgbClr val="0072B5"/>
                </a:solidFill>
              </a:rPr>
              <a:t> </a:t>
            </a:r>
            <a:r>
              <a:t>How accurately does a lightweight solver recover the electric field and interface stress?</a:t>
            </a:r>
          </a:p>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Shape measurement</a:t>
            </a:r>
            <a:r>
              <a:rPr b="1">
                <a:solidFill>
                  <a:srgbClr val="0072B5"/>
                </a:solidFill>
              </a:rPr>
              <a:t>：</a:t>
            </a:r>
            <a:r>
              <a:rPr b="1">
                <a:solidFill>
                  <a:srgbClr val="0072B5"/>
                </a:solidFill>
              </a:rPr>
              <a:t> </a:t>
            </a:r>
            <a:r>
              <a:t>Can image-derived angles support a quantitative experimental comparison?</a:t>
            </a:r>
          </a:p>
        </p:txBody>
      </p:sp>
      <p:sp>
        <p:nvSpPr>
          <p:cNvPr id="22" name="approach"/>
          <p:cNvSpPr>
            <a:spLocks noGrp="1"/>
          </p:cNvSpPr>
          <p:nvPr/>
        </p:nvSpPr>
        <p:spPr>
          <a:xfrm>
            <a:off x="3667125" y="7296150"/>
            <a:ext cx="7229475" cy="514350"/>
          </a:xfrm>
          <a:prstGeom prst="rect">
            <a:avLst/>
          </a:prstGeom>
          <a:noFill/>
          <a:ln w="0">
            <a:noFill/>
          </a:ln>
        </p:spPr>
        <p:txBody>
          <a:bodyPr wrap="square" lIns="0" tIns="0" rIns="0" bIns="0" anchor="t">
            <a:noAutofit/>
          </a:body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800" b="1">
                <a:solidFill>
                  <a:srgbClr val="0072B5"/>
                </a:solidFill>
                <a:latin typeface="Times New Roman" panose="02020603050405020304"/>
                <a:ea typeface="Times New Roman" panose="02020603050405020304"/>
                <a:cs typeface="Times New Roman" panose="02020603050405020304"/>
              </a:rPr>
              <a:t>3. Our approach</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23" name="approach-bullets"/>
          <p:cNvSpPr>
            <a:spLocks noGrp="1"/>
          </p:cNvSpPr>
          <p:nvPr/>
        </p:nvSpPr>
        <p:spPr>
          <a:xfrm>
            <a:off x="3667125" y="7829550"/>
            <a:ext cx="7229475" cy="2200275"/>
          </a:xfrm>
          <a:prstGeom prst="rect">
            <a:avLst/>
          </a:prstGeom>
          <a:noFill/>
          <a:ln w="0">
            <a:noFill/>
          </a:ln>
        </p:spPr>
        <p:txBody>
          <a:bodyPr wrap="square" lIns="0" tIns="0" rIns="0" bIns="0" anchor="t">
            <a:noAutofit/>
          </a:bodyPr>
          <a:lstStyle>
            <a:defPPr algn="l">
              <a:defRPr sz="2400">
                <a:solidFill>
                  <a:srgbClr val="171D25"/>
                </a:solidFill>
                <a:latin typeface="Times New Roman" panose="02020603050405020304"/>
                <a:ea typeface="Times New Roman" panose="02020603050405020304"/>
                <a:cs typeface="Times New Roman" panose="02020603050405020304"/>
              </a:defRPr>
            </a:defPPr>
          </a:lstStyle>
          <a:p>
            <a:pPr marL="228600" indent="-127000" algn="l">
              <a:lnSpc>
                <a:spcPct val="108000"/>
              </a:lnSpc>
              <a:spcAft>
                <a:spcPts val="700"/>
              </a:spcAft>
              <a:buChar char="•"/>
              <a:defRPr sz="2400">
                <a:solidFill>
                  <a:srgbClr val="171D25"/>
                </a:solidFill>
                <a:latin typeface="Times New Roman" panose="02020603050405020304"/>
                <a:ea typeface="Times New Roman" panose="02020603050405020304"/>
                <a:cs typeface="Times New Roman" panose="02020603050405020304"/>
              </a:defRPr>
            </a:pPr>
            <a:r>
              <a:rPr sz="2400" b="1">
                <a:solidFill>
                  <a:srgbClr val="0072B5"/>
                </a:solidFill>
                <a:latin typeface="Times New Roman" panose="02020603050405020304"/>
                <a:ea typeface="Times New Roman" panose="02020603050405020304"/>
                <a:cs typeface="Times New Roman" panose="02020603050405020304"/>
              </a:rPr>
              <a:t>Numerical verification. </a:t>
            </a:r>
            <a:r>
              <a:rPr sz="2400" b="0">
                <a:solidFill>
                  <a:srgbClr val="171D25"/>
                </a:solidFill>
                <a:latin typeface="Times New Roman" panose="02020603050405020304"/>
                <a:ea typeface="Times New Roman" panose="02020603050405020304"/>
                <a:cs typeface="Times New Roman" panose="02020603050405020304"/>
              </a:rPr>
              <a:t>Compare finite differences with FEM and analytical references.</a:t>
            </a:r>
            <a:endParaRPr sz="2400" b="0">
              <a:solidFill>
                <a:srgbClr val="171D25"/>
              </a:solidFill>
              <a:latin typeface="Times New Roman" panose="02020603050405020304"/>
              <a:ea typeface="Times New Roman" panose="02020603050405020304"/>
              <a:cs typeface="Times New Roman" panose="02020603050405020304"/>
            </a:endParaRPr>
          </a:p>
          <a:p>
            <a:pPr marL="228600" indent="-127000" algn="l">
              <a:lnSpc>
                <a:spcPct val="108000"/>
              </a:lnSpc>
              <a:spcAft>
                <a:spcPts val="700"/>
              </a:spcAft>
              <a:buChar char="•"/>
              <a:defRPr sz="2400">
                <a:solidFill>
                  <a:srgbClr val="171D25"/>
                </a:solidFill>
                <a:latin typeface="Times New Roman" panose="02020603050405020304"/>
                <a:ea typeface="Times New Roman" panose="02020603050405020304"/>
                <a:cs typeface="Times New Roman" panose="02020603050405020304"/>
              </a:defRPr>
            </a:pPr>
            <a:r>
              <a:rPr sz="2400" b="1">
                <a:solidFill>
                  <a:srgbClr val="0072B5"/>
                </a:solidFill>
                <a:latin typeface="Times New Roman" panose="02020603050405020304"/>
                <a:ea typeface="Times New Roman" panose="02020603050405020304"/>
                <a:cs typeface="Times New Roman" panose="02020603050405020304"/>
              </a:rPr>
              <a:t>Experimental images. </a:t>
            </a:r>
            <a:r>
              <a:rPr sz="2400" b="0">
                <a:solidFill>
                  <a:srgbClr val="171D25"/>
                </a:solidFill>
                <a:latin typeface="Times New Roman" panose="02020603050405020304"/>
                <a:ea typeface="Times New Roman" panose="02020603050405020304"/>
                <a:cs typeface="Times New Roman" panose="02020603050405020304"/>
              </a:rPr>
              <a:t>Extract four ethanol cone profiles and compare angles at three matched voltages.</a:t>
            </a:r>
            <a:endParaRPr sz="2400" b="0">
              <a:solidFill>
                <a:srgbClr val="171D25"/>
              </a:solidFill>
              <a:latin typeface="Times New Roman" panose="02020603050405020304"/>
              <a:ea typeface="Times New Roman" panose="02020603050405020304"/>
              <a:cs typeface="Times New Roman" panose="02020603050405020304"/>
            </a:endParaRPr>
          </a:p>
        </p:txBody>
      </p:sp>
      <p:sp>
        <p:nvSpPr>
          <p:cNvPr id="25" name="physical-model-frame"/>
          <p:cNvSpPr>
            <a:spLocks noGrp="1"/>
          </p:cNvSpPr>
          <p:nvPr/>
        </p:nvSpPr>
        <p:spPr>
          <a:xfrm>
            <a:off x="95250" y="10515600"/>
            <a:ext cx="11087100" cy="10572750"/>
          </a:xfrm>
          <a:prstGeom prst="roundRect">
            <a:avLst>
              <a:gd name="adj" fmla="val 1441"/>
            </a:avLst>
          </a:prstGeom>
          <a:solidFill>
            <a:srgbClr val="F7F9FC"/>
          </a:solidFill>
          <a:ln w="16193">
            <a:solidFill>
              <a:srgbClr val="4E89B9"/>
            </a:solidFill>
            <a:prstDash val="dash"/>
          </a:ln>
        </p:spPr>
      </p:sp>
      <p:sp>
        <p:nvSpPr>
          <p:cNvPr id="26" name="physical-model-header"/>
          <p:cNvSpPr>
            <a:spLocks noGrp="1"/>
          </p:cNvSpPr>
          <p:nvPr/>
        </p:nvSpPr>
        <p:spPr>
          <a:xfrm>
            <a:off x="95250" y="1051560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27" name="physical-model-heading"/>
          <p:cNvSpPr>
            <a:spLocks noGrp="1"/>
          </p:cNvSpPr>
          <p:nvPr/>
        </p:nvSpPr>
        <p:spPr>
          <a:xfrm>
            <a:off x="333375" y="1064895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PHYSICAL MODEL</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28" name="model-summary"/>
          <p:cNvSpPr>
            <a:spLocks noGrp="1"/>
          </p:cNvSpPr>
          <p:nvPr/>
        </p:nvSpPr>
        <p:spPr>
          <a:xfrm>
            <a:off x="381000" y="11544300"/>
            <a:ext cx="10515600" cy="1028700"/>
          </a:xfrm>
          <a:prstGeom prst="rect">
            <a:avLst/>
          </a:prstGeom>
          <a:noFill/>
          <a:ln w="0">
            <a:noFill/>
          </a:ln>
        </p:spPr>
        <p:txBody>
          <a:bodyPr wrap="square" lIns="0" tIns="0" rIns="0" bIns="0" anchor="t">
            <a:noAutofit/>
          </a:bodyPr>
          <a:lstStyle/>
          <a:p>
            <a:pPr algn="l">
              <a:lnSpc>
                <a:spcPct val="108000"/>
              </a:lnSpc>
              <a:buNone/>
              <a:defRPr sz="2400" b="0">
                <a:solidFill>
                  <a:srgbClr val="171D25"/>
                </a:solidFill>
                <a:latin typeface="Times New Roman" panose="02020603050405020304"/>
                <a:ea typeface="Times New Roman" panose="02020603050405020304"/>
                <a:cs typeface="Times New Roman" panose="02020603050405020304"/>
              </a:defRPr>
            </a:pPr>
            <a:r>
              <a:rPr sz="2400" b="0">
                <a:solidFill>
                  <a:srgbClr val="171D25"/>
                </a:solidFill>
                <a:latin typeface="Times New Roman" panose="02020603050405020304"/>
                <a:ea typeface="Times New Roman" panose="02020603050405020304"/>
                <a:cs typeface="Times New Roman" panose="02020603050405020304"/>
              </a:rPr>
              <a:t>The axisymmetric model links candidate cone geometry to electric potential, normal field, curvature and stress balance.</a:t>
            </a:r>
            <a:endParaRPr sz="2400" b="0">
              <a:solidFill>
                <a:srgbClr val="171D25"/>
              </a:solidFill>
              <a:latin typeface="Times New Roman" panose="02020603050405020304"/>
              <a:ea typeface="Times New Roman" panose="02020603050405020304"/>
              <a:cs typeface="Times New Roman" panose="02020603050405020304"/>
            </a:endParaRPr>
          </a:p>
        </p:txBody>
      </p:sp>
      <p:pic>
        <p:nvPicPr>
          <p:cNvPr id="186" name="cone-system"/>
          <p:cNvPicPr>
            <a:picLocks noChangeAspect="1"/>
          </p:cNvPicPr>
          <p:nvPr/>
        </p:nvPicPr>
        <p:blipFill>
          <a:blip r:embed="rId6"/>
          <a:stretch>
            <a:fillRect/>
          </a:stretch>
        </p:blipFill>
        <p:spPr>
          <a:xfrm>
            <a:off x="795741" y="12639675"/>
            <a:ext cx="4123518" cy="4095750"/>
          </a:xfrm>
          <a:prstGeom prst="rect">
            <a:avLst/>
          </a:prstGeom>
        </p:spPr>
      </p:pic>
      <p:sp>
        <p:nvSpPr>
          <p:cNvPr id="30" name="equations"/>
          <p:cNvSpPr>
            <a:spLocks noGrp="1"/>
          </p:cNvSpPr>
          <p:nvPr/>
        </p:nvSpPr>
        <p:spPr>
          <a:xfrm>
            <a:off x="5638800" y="12677775"/>
            <a:ext cx="5257800" cy="514350"/>
          </a:xfrm>
          <a:prstGeom prst="rect">
            <a:avLst/>
          </a:prstGeom>
          <a:noFill/>
          <a:ln w="0">
            <a:noFill/>
          </a:ln>
        </p:spPr>
        <p:txBody>
          <a:bodyPr wrap="square" lIns="0" tIns="0" rIns="0" bIns="0" anchor="t">
            <a:noAutofit/>
          </a:body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800" b="1">
                <a:solidFill>
                  <a:srgbClr val="0072B5"/>
                </a:solidFill>
                <a:latin typeface="Times New Roman" panose="02020603050405020304"/>
                <a:ea typeface="Times New Roman" panose="02020603050405020304"/>
                <a:cs typeface="Times New Roman" panose="02020603050405020304"/>
              </a:rPr>
              <a:t>Governing equations</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32" name="ideal-angle"/>
          <p:cNvSpPr>
            <a:spLocks noGrp="1"/>
          </p:cNvSpPr>
          <p:nvPr/>
        </p:nvSpPr>
        <p:spPr>
          <a:xfrm>
            <a:off x="5638800" y="16068675"/>
            <a:ext cx="5257800" cy="514350"/>
          </a:xfrm>
          <a:prstGeom prst="rect">
            <a:avLst/>
          </a:prstGeom>
          <a:noFill/>
          <a:ln w="0">
            <a:noFill/>
          </a:ln>
        </p:spPr>
        <p:txBody>
          <a:bodyPr wrap="square" lIns="0" tIns="0" rIns="0" bIns="0" anchor="t">
            <a:noAutofit/>
          </a:bodyPr>
          <a:lstStyle>
            <a:defPPr algn="l">
              <a:defRPr sz="2250" b="1">
                <a:solidFill>
                  <a:srgbClr val="C45A12"/>
                </a:solidFill>
                <a:latin typeface="Times New Roman" panose="02020603050405020304"/>
                <a:ea typeface="Times New Roman" panose="02020603050405020304"/>
                <a:cs typeface="Times New Roman" panose="02020603050405020304"/>
              </a:defRPr>
            </a:defPPr>
          </a:lstStyle>
          <a:p>
            <a:pPr algn="l">
              <a:lnSpc>
                <a:spcPct val="108000"/>
              </a:lnSpc>
              <a:buNone/>
              <a:defRPr sz="2250" b="1">
                <a:solidFill>
                  <a:srgbClr val="C45A12"/>
                </a:solidFill>
                <a:latin typeface="Times New Roman" panose="02020603050405020304"/>
                <a:ea typeface="Times New Roman" panose="02020603050405020304"/>
                <a:cs typeface="Times New Roman" panose="02020603050405020304"/>
              </a:defRPr>
            </a:pPr>
            <a:r>
              <a:rPr sz="2250" b="1">
                <a:solidFill>
                  <a:srgbClr val="C45A12"/>
                </a:solidFill>
                <a:latin typeface="Times New Roman" panose="02020603050405020304"/>
                <a:ea typeface="Times New Roman" panose="02020603050405020304"/>
                <a:cs typeface="Times New Roman" panose="02020603050405020304"/>
              </a:rPr>
              <a:t>Ideal Taylor reference: 49.29°</a:t>
            </a:r>
            <a:endParaRPr sz="2400" b="1">
              <a:solidFill>
                <a:srgbClr val="C45A12"/>
              </a:solidFill>
              <a:latin typeface="Times New Roman" panose="02020603050405020304"/>
              <a:ea typeface="Times New Roman" panose="02020603050405020304"/>
              <a:cs typeface="Times New Roman" panose="02020603050405020304"/>
            </a:endParaRPr>
          </a:p>
        </p:txBody>
      </p:sp>
      <p:sp>
        <p:nvSpPr>
          <p:cNvPr id="33" name="model-caption"/>
          <p:cNvSpPr>
            <a:spLocks noGrp="1"/>
          </p:cNvSpPr>
          <p:nvPr/>
        </p:nvSpPr>
        <p:spPr>
          <a:xfrm>
            <a:off x="381000" y="16830675"/>
            <a:ext cx="10515600" cy="523875"/>
          </a:xfrm>
          <a:prstGeom prst="rect">
            <a:avLst/>
          </a:prstGeom>
          <a:noFill/>
          <a:ln w="0">
            <a:noFill/>
          </a:ln>
        </p:spPr>
        <p:txBody>
          <a:bodyPr wrap="square" lIns="0" tIns="0" rIns="0" bIns="0" anchor="t">
            <a:noAutofit/>
          </a:bodyPr>
          <a:lstStyle>
            <a:defPPr algn="l">
              <a:defRPr sz="2100" b="0">
                <a:solidFill>
                  <a:srgbClr val="385466"/>
                </a:solidFill>
                <a:latin typeface="Times New Roman" panose="02020603050405020304"/>
                <a:ea typeface="Times New Roman" panose="02020603050405020304"/>
                <a:cs typeface="Times New Roman" panose="02020603050405020304"/>
              </a:defRPr>
            </a:defPPr>
          </a:lstStyle>
          <a:p>
            <a:pPr algn="l">
              <a:lnSpc>
                <a:spcPct val="108000"/>
              </a:lnSpc>
              <a:buNone/>
              <a:defRPr sz="2100" b="0">
                <a:solidFill>
                  <a:srgbClr val="385466"/>
                </a:solidFill>
                <a:latin typeface="Times New Roman" panose="02020603050405020304"/>
                <a:ea typeface="Times New Roman" panose="02020603050405020304"/>
                <a:cs typeface="Times New Roman" panose="02020603050405020304"/>
              </a:defRPr>
            </a:pPr>
            <a:r>
              <a:rPr sz="2100" b="0">
                <a:solidFill>
                  <a:srgbClr val="385466"/>
                </a:solidFill>
                <a:latin typeface="Times New Roman" panose="02020603050405020304"/>
                <a:ea typeface="Times New Roman" panose="02020603050405020304"/>
                <a:cs typeface="Times New Roman" panose="02020603050405020304"/>
              </a:rPr>
              <a:t>Fig. 1. Conceptual cone and electrode geometry.</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34" name="model-details-bullets"/>
          <p:cNvSpPr>
            <a:spLocks noGrp="1"/>
          </p:cNvSpPr>
          <p:nvPr/>
        </p:nvSpPr>
        <p:spPr>
          <a:xfrm>
            <a:off x="381000" y="17468850"/>
            <a:ext cx="10515600" cy="33623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Geometry. </a:t>
            </a:r>
            <a:r>
              <a:rPr b="0">
                <a:solidFill>
                  <a:srgbClr val="15212C"/>
                </a:solidFill>
              </a:rPr>
              <a:t>Half-angle and rounded tip radius define a candidate interface. Electrical boundaries determine the surrounding field.</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Field recovery. </a:t>
            </a:r>
            <a:r>
              <a:rPr b="0">
                <a:solidFill>
                  <a:srgbClr val="15212C"/>
                </a:solidFill>
              </a:rPr>
              <a:t>Sparse finite differences solve potential and reconstruct the gas-side normal field.</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Stress balance. </a:t>
            </a:r>
            <a:r>
              <a:rPr b="0">
                <a:solidFill>
                  <a:srgbClr val="15212C"/>
                </a:solidFill>
              </a:rPr>
              <a:t>Curvature gives γκ. A pressure offset Δp completes the normal-stress balance.</a:t>
            </a:r>
            <a:endParaRPr b="0">
              <a:solidFill>
                <a:srgbClr val="15212C"/>
              </a:solidFill>
            </a:endParaRPr>
          </a:p>
        </p:txBody>
      </p:sp>
      <p:sp>
        <p:nvSpPr>
          <p:cNvPr id="35" name="setup-frame"/>
          <p:cNvSpPr>
            <a:spLocks noGrp="1"/>
          </p:cNvSpPr>
          <p:nvPr/>
        </p:nvSpPr>
        <p:spPr>
          <a:xfrm>
            <a:off x="95250" y="21221700"/>
            <a:ext cx="11087100" cy="11449050"/>
          </a:xfrm>
          <a:prstGeom prst="roundRect">
            <a:avLst>
              <a:gd name="adj" fmla="val 1375"/>
            </a:avLst>
          </a:prstGeom>
          <a:solidFill>
            <a:srgbClr val="F7F9FC"/>
          </a:solidFill>
          <a:ln w="16193">
            <a:solidFill>
              <a:srgbClr val="4E89B9"/>
            </a:solidFill>
            <a:prstDash val="dash"/>
          </a:ln>
        </p:spPr>
      </p:sp>
      <p:sp>
        <p:nvSpPr>
          <p:cNvPr id="36" name="setup-header"/>
          <p:cNvSpPr>
            <a:spLocks noGrp="1"/>
          </p:cNvSpPr>
          <p:nvPr/>
        </p:nvSpPr>
        <p:spPr>
          <a:xfrm>
            <a:off x="95250" y="2122170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37" name="setup-heading"/>
          <p:cNvSpPr>
            <a:spLocks noGrp="1"/>
          </p:cNvSpPr>
          <p:nvPr/>
        </p:nvSpPr>
        <p:spPr>
          <a:xfrm>
            <a:off x="333375" y="2135505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EXPERIMENT SETUP</a:t>
            </a:r>
            <a:endParaRPr sz="3800" b="1">
              <a:solidFill>
                <a:srgbClr val="FFFFFF"/>
              </a:solidFill>
              <a:latin typeface="Times New Roman" panose="02020603050405020304"/>
              <a:ea typeface="Times New Roman" panose="02020603050405020304"/>
              <a:cs typeface="Times New Roman" panose="02020603050405020304"/>
            </a:endParaRPr>
          </a:p>
        </p:txBody>
      </p:sp>
      <p:pic>
        <p:nvPicPr>
          <p:cNvPr id="195" name="needle-plate"/>
          <p:cNvPicPr>
            <a:picLocks noChangeAspect="1"/>
          </p:cNvPicPr>
          <p:nvPr/>
        </p:nvPicPr>
        <p:blipFill>
          <a:blip r:embed="rId7"/>
          <a:srcRect/>
          <a:stretch>
            <a:fillRect/>
          </a:stretch>
        </p:blipFill>
        <p:spPr>
          <a:xfrm>
            <a:off x="381000" y="22303008"/>
            <a:ext cx="4857750" cy="3780985"/>
          </a:xfrm>
          <a:prstGeom prst="rect">
            <a:avLst/>
          </a:prstGeom>
        </p:spPr>
      </p:pic>
      <p:sp>
        <p:nvSpPr>
          <p:cNvPr id="39" name="setup-context-bullets"/>
          <p:cNvSpPr>
            <a:spLocks noGrp="1"/>
          </p:cNvSpPr>
          <p:nvPr/>
        </p:nvSpPr>
        <p:spPr>
          <a:xfrm>
            <a:off x="5619750" y="22250400"/>
            <a:ext cx="5276850" cy="3924300"/>
          </a:xfrm>
          <a:prstGeom prst="rect">
            <a:avLst/>
          </a:prstGeom>
          <a:noFill/>
          <a:ln w="0">
            <a:noFill/>
          </a:ln>
        </p:spPr>
        <p:txBody>
          <a:bodyPr wrap="square" lIns="0" tIns="0" rIns="0" bIns="0" anchor="t">
            <a:noAutofit/>
          </a:bodyPr>
          <a:lstStyle>
            <a:defPPr algn="l">
              <a:defRPr sz="2250">
                <a:solidFill>
                  <a:srgbClr val="171D25"/>
                </a:solidFill>
                <a:latin typeface="Times New Roman" panose="02020603050405020304"/>
                <a:ea typeface="Times New Roman" panose="02020603050405020304"/>
                <a:cs typeface="Times New Roman" panose="02020603050405020304"/>
              </a:defRPr>
            </a:defPPr>
          </a:lstStyle>
          <a:p>
            <a:pPr marL="228600" indent="-127000" algn="l">
              <a:lnSpc>
                <a:spcPct val="108000"/>
              </a:lnSpc>
              <a:spcAft>
                <a:spcPts val="700"/>
              </a:spcAft>
              <a:buChar char="•"/>
              <a:defRPr sz="2250">
                <a:solidFill>
                  <a:srgbClr val="171D25"/>
                </a:solidFill>
                <a:latin typeface="Times New Roman" panose="02020603050405020304"/>
                <a:ea typeface="Times New Roman" panose="02020603050405020304"/>
                <a:cs typeface="Times New Roman" panose="02020603050405020304"/>
              </a:defRPr>
            </a:pPr>
            <a:r>
              <a:rPr sz="2250" b="1">
                <a:solidFill>
                  <a:srgbClr val="0072B5"/>
                </a:solidFill>
                <a:latin typeface="Times New Roman" panose="02020603050405020304"/>
                <a:ea typeface="Times New Roman" panose="02020603050405020304"/>
                <a:cs typeface="Times New Roman" panose="02020603050405020304"/>
              </a:rPr>
              <a:t>Dataset. </a:t>
            </a:r>
            <a:r>
              <a:rPr sz="2250" b="0">
                <a:solidFill>
                  <a:srgbClr val="171D25"/>
                </a:solidFill>
                <a:latin typeface="Times New Roman" panose="02020603050405020304"/>
                <a:ea typeface="Times New Roman" panose="02020603050405020304"/>
                <a:cs typeface="Times New Roman" panose="02020603050405020304"/>
              </a:rPr>
              <a:t>Ethanol photographs and reported angle–voltage measurements.</a:t>
            </a:r>
            <a:endParaRPr sz="2250" b="0">
              <a:solidFill>
                <a:srgbClr val="171D25"/>
              </a:solidFill>
              <a:latin typeface="Times New Roman" panose="02020603050405020304"/>
              <a:ea typeface="Times New Roman" panose="02020603050405020304"/>
              <a:cs typeface="Times New Roman" panose="02020603050405020304"/>
            </a:endParaRPr>
          </a:p>
          <a:p>
            <a:pPr marL="228600" indent="-127000" algn="l">
              <a:lnSpc>
                <a:spcPct val="108000"/>
              </a:lnSpc>
              <a:spcAft>
                <a:spcPts val="700"/>
              </a:spcAft>
              <a:buChar char="•"/>
              <a:defRPr sz="2250">
                <a:solidFill>
                  <a:srgbClr val="171D25"/>
                </a:solidFill>
                <a:latin typeface="Times New Roman" panose="02020603050405020304"/>
                <a:ea typeface="Times New Roman" panose="02020603050405020304"/>
                <a:cs typeface="Times New Roman" panose="02020603050405020304"/>
              </a:defRPr>
            </a:pPr>
            <a:r>
              <a:rPr sz="2250" b="1">
                <a:solidFill>
                  <a:srgbClr val="0072B5"/>
                </a:solidFill>
                <a:latin typeface="Times New Roman" panose="02020603050405020304"/>
                <a:ea typeface="Times New Roman" panose="02020603050405020304"/>
                <a:cs typeface="Times New Roman" panose="02020603050405020304"/>
              </a:rPr>
              <a:t>Apparatus. </a:t>
            </a:r>
            <a:r>
              <a:rPr sz="2250" b="0">
                <a:solidFill>
                  <a:srgbClr val="171D25"/>
                </a:solidFill>
                <a:latin typeface="Times New Roman" panose="02020603050405020304"/>
                <a:ea typeface="Times New Roman" panose="02020603050405020304"/>
                <a:cs typeface="Times New Roman" panose="02020603050405020304"/>
              </a:rPr>
              <a:t>Needle OD / ID: 0.30 / 0.16 mm. Gap: 2 mm. Plate-hole diameter: 2 mm.</a:t>
            </a:r>
            <a:endParaRPr sz="2250" b="0">
              <a:solidFill>
                <a:srgbClr val="171D25"/>
              </a:solidFill>
              <a:latin typeface="Times New Roman" panose="02020603050405020304"/>
              <a:ea typeface="Times New Roman" panose="02020603050405020304"/>
              <a:cs typeface="Times New Roman" panose="02020603050405020304"/>
            </a:endParaRPr>
          </a:p>
          <a:p>
            <a:pPr marL="228600" indent="-127000" algn="l">
              <a:lnSpc>
                <a:spcPct val="108000"/>
              </a:lnSpc>
              <a:spcAft>
                <a:spcPts val="700"/>
              </a:spcAft>
              <a:buChar char="•"/>
              <a:defRPr sz="2250">
                <a:solidFill>
                  <a:srgbClr val="171D25"/>
                </a:solidFill>
                <a:latin typeface="Times New Roman" panose="02020603050405020304"/>
                <a:ea typeface="Times New Roman" panose="02020603050405020304"/>
                <a:cs typeface="Times New Roman" panose="02020603050405020304"/>
              </a:defRPr>
            </a:pPr>
            <a:r>
              <a:rPr sz="2250" b="1">
                <a:solidFill>
                  <a:srgbClr val="0072B5"/>
                </a:solidFill>
                <a:latin typeface="Times New Roman" panose="02020603050405020304"/>
                <a:ea typeface="Times New Roman" panose="02020603050405020304"/>
                <a:cs typeface="Times New Roman" panose="02020603050405020304"/>
              </a:rPr>
              <a:t>Conditions. </a:t>
            </a:r>
            <a:r>
              <a:rPr sz="2250" b="0">
                <a:solidFill>
                  <a:srgbClr val="171D25"/>
                </a:solidFill>
                <a:latin typeface="Times New Roman" panose="02020603050405020304"/>
                <a:ea typeface="Times New Roman" panose="02020603050405020304"/>
                <a:cs typeface="Times New Roman" panose="02020603050405020304"/>
              </a:rPr>
              <a:t>Flow rate 0.10 µL/s, temperature 25°C and surface tension 0.022 N/m.</a:t>
            </a:r>
            <a:endParaRPr sz="2250" b="0">
              <a:solidFill>
                <a:srgbClr val="171D25"/>
              </a:solidFill>
              <a:latin typeface="Times New Roman" panose="02020603050405020304"/>
              <a:ea typeface="Times New Roman" panose="02020603050405020304"/>
              <a:cs typeface="Times New Roman" panose="02020603050405020304"/>
            </a:endParaRPr>
          </a:p>
        </p:txBody>
      </p:sp>
      <p:sp>
        <p:nvSpPr>
          <p:cNvPr id="40" name="setup-caption"/>
          <p:cNvSpPr>
            <a:spLocks noGrp="1"/>
          </p:cNvSpPr>
          <p:nvPr/>
        </p:nvSpPr>
        <p:spPr>
          <a:xfrm>
            <a:off x="381000" y="26250900"/>
            <a:ext cx="10515600" cy="666750"/>
          </a:xfrm>
          <a:prstGeom prst="rect">
            <a:avLst/>
          </a:prstGeom>
          <a:noFill/>
          <a:ln w="0">
            <a:noFill/>
          </a:ln>
        </p:spPr>
        <p:txBody>
          <a:bodyPr wrap="square" lIns="0" tIns="0" rIns="0" bIns="0" anchor="t">
            <a:noAutofit/>
          </a:bodyPr>
          <a:lstStyle>
            <a:defPPr algn="l">
              <a:defRPr sz="2100" b="0">
                <a:solidFill>
                  <a:srgbClr val="385466"/>
                </a:solidFill>
                <a:latin typeface="Times New Roman" panose="02020603050405020304"/>
                <a:ea typeface="Times New Roman" panose="02020603050405020304"/>
                <a:cs typeface="Times New Roman" panose="02020603050405020304"/>
              </a:defRPr>
            </a:defPPr>
          </a:lstStyle>
          <a:p>
            <a:pPr algn="l">
              <a:lnSpc>
                <a:spcPct val="108000"/>
              </a:lnSpc>
              <a:buNone/>
              <a:defRPr sz="2100" b="0">
                <a:solidFill>
                  <a:srgbClr val="385466"/>
                </a:solidFill>
                <a:latin typeface="Times New Roman" panose="02020603050405020304"/>
                <a:ea typeface="Times New Roman" panose="02020603050405020304"/>
                <a:cs typeface="Times New Roman" panose="02020603050405020304"/>
              </a:defRPr>
            </a:pPr>
            <a:r>
              <a:rPr sz="2100" b="0">
                <a:solidFill>
                  <a:srgbClr val="385466"/>
                </a:solidFill>
                <a:latin typeface="Times New Roman" panose="02020603050405020304"/>
                <a:ea typeface="Times New Roman" panose="02020603050405020304"/>
                <a:cs typeface="Times New Roman" panose="02020603050405020304"/>
              </a:rPr>
              <a:t>Fig. 2. Model geometry (above) and experimental equipment from Yang et al.</a:t>
            </a:r>
            <a:endParaRPr sz="2100" b="0">
              <a:solidFill>
                <a:srgbClr val="385466"/>
              </a:solidFill>
              <a:latin typeface="Times New Roman" panose="02020603050405020304"/>
              <a:ea typeface="Times New Roman" panose="02020603050405020304"/>
              <a:cs typeface="Times New Roman" panose="02020603050405020304"/>
            </a:endParaRPr>
          </a:p>
        </p:txBody>
      </p:sp>
      <p:pic>
        <p:nvPicPr>
          <p:cNvPr id="198" name="published-hardware-0"/>
          <p:cNvPicPr>
            <a:picLocks noChangeAspect="1"/>
          </p:cNvPicPr>
          <p:nvPr/>
        </p:nvPicPr>
        <p:blipFill>
          <a:blip r:embed="rId8"/>
          <a:srcRect l="28200" t="5200" r="55500" b="87500"/>
          <a:stretch>
            <a:fillRect/>
          </a:stretch>
        </p:blipFill>
        <p:spPr>
          <a:xfrm>
            <a:off x="636136" y="27051000"/>
            <a:ext cx="2804428" cy="1714500"/>
          </a:xfrm>
          <a:prstGeom prst="rect">
            <a:avLst/>
          </a:prstGeom>
        </p:spPr>
      </p:pic>
      <p:sp>
        <p:nvSpPr>
          <p:cNvPr id="42" name="hardware-label-0"/>
          <p:cNvSpPr>
            <a:spLocks noGrp="1"/>
          </p:cNvSpPr>
          <p:nvPr/>
        </p:nvSpPr>
        <p:spPr>
          <a:xfrm>
            <a:off x="381000" y="28841700"/>
            <a:ext cx="3314700" cy="381000"/>
          </a:xfrm>
          <a:prstGeom prst="rect">
            <a:avLst/>
          </a:prstGeom>
          <a:noFill/>
          <a:ln w="0">
            <a:noFill/>
          </a:ln>
        </p:spPr>
        <p:txBody>
          <a:bodyPr wrap="square" lIns="0" tIns="0" rIns="0" bIns="0" anchor="t">
            <a:noAutofit/>
          </a:bodyPr>
          <a:lstStyle/>
          <a:p>
            <a:pPr algn="ctr">
              <a:lnSpc>
                <a:spcPct val="108000"/>
              </a:lnSpc>
              <a:buNone/>
              <a:defRPr sz="2175" b="1">
                <a:solidFill>
                  <a:srgbClr val="0072B5"/>
                </a:solidFill>
                <a:latin typeface="Times New Roman" panose="02020603050405020304"/>
                <a:ea typeface="Times New Roman" panose="02020603050405020304"/>
                <a:cs typeface="Times New Roman" panose="02020603050405020304"/>
              </a:defRPr>
            </a:pPr>
            <a:r>
              <a:rPr sz="2175" b="1">
                <a:solidFill>
                  <a:srgbClr val="0072B5"/>
                </a:solidFill>
                <a:latin typeface="Times New Roman" panose="02020603050405020304"/>
                <a:ea typeface="Times New Roman" panose="02020603050405020304"/>
                <a:cs typeface="Times New Roman" panose="02020603050405020304"/>
              </a:rPr>
              <a:t>Pump</a:t>
            </a:r>
            <a:endParaRPr sz="2175" b="1">
              <a:solidFill>
                <a:srgbClr val="0072B5"/>
              </a:solidFill>
              <a:latin typeface="Times New Roman" panose="02020603050405020304"/>
              <a:ea typeface="Times New Roman" panose="02020603050405020304"/>
              <a:cs typeface="Times New Roman" panose="02020603050405020304"/>
            </a:endParaRPr>
          </a:p>
        </p:txBody>
      </p:sp>
      <p:pic>
        <p:nvPicPr>
          <p:cNvPr id="200" name="published-hardware-1"/>
          <p:cNvPicPr>
            <a:picLocks noChangeAspect="1"/>
          </p:cNvPicPr>
          <p:nvPr/>
        </p:nvPicPr>
        <p:blipFill>
          <a:blip r:embed="rId8"/>
          <a:srcRect l="14600" t="23200" r="65800" b="71700"/>
          <a:stretch>
            <a:fillRect/>
          </a:stretch>
        </p:blipFill>
        <p:spPr>
          <a:xfrm>
            <a:off x="3886200" y="27319561"/>
            <a:ext cx="3314700" cy="1177379"/>
          </a:xfrm>
          <a:prstGeom prst="rect">
            <a:avLst/>
          </a:prstGeom>
        </p:spPr>
      </p:pic>
      <p:sp>
        <p:nvSpPr>
          <p:cNvPr id="44" name="hardware-label-1"/>
          <p:cNvSpPr>
            <a:spLocks noGrp="1"/>
          </p:cNvSpPr>
          <p:nvPr/>
        </p:nvSpPr>
        <p:spPr>
          <a:xfrm>
            <a:off x="3886200" y="28841700"/>
            <a:ext cx="3314700" cy="381000"/>
          </a:xfrm>
          <a:prstGeom prst="rect">
            <a:avLst/>
          </a:prstGeom>
          <a:noFill/>
          <a:ln w="0">
            <a:noFill/>
          </a:ln>
        </p:spPr>
        <p:txBody>
          <a:bodyPr wrap="square" lIns="0" tIns="0" rIns="0" bIns="0" anchor="t">
            <a:noAutofit/>
          </a:bodyPr>
          <a:lstStyle/>
          <a:p>
            <a:pPr algn="ctr">
              <a:lnSpc>
                <a:spcPct val="108000"/>
              </a:lnSpc>
              <a:buNone/>
              <a:defRPr sz="2175" b="1">
                <a:solidFill>
                  <a:srgbClr val="0072B5"/>
                </a:solidFill>
                <a:latin typeface="Times New Roman" panose="02020603050405020304"/>
                <a:ea typeface="Times New Roman" panose="02020603050405020304"/>
                <a:cs typeface="Times New Roman" panose="02020603050405020304"/>
              </a:defRPr>
            </a:pPr>
            <a:r>
              <a:rPr sz="2175" b="1">
                <a:solidFill>
                  <a:srgbClr val="0072B5"/>
                </a:solidFill>
                <a:latin typeface="Times New Roman" panose="02020603050405020304"/>
                <a:ea typeface="Times New Roman" panose="02020603050405020304"/>
                <a:cs typeface="Times New Roman" panose="02020603050405020304"/>
              </a:rPr>
              <a:t>Camera</a:t>
            </a:r>
            <a:endParaRPr sz="2175" b="1">
              <a:solidFill>
                <a:srgbClr val="0072B5"/>
              </a:solidFill>
              <a:latin typeface="Times New Roman" panose="02020603050405020304"/>
              <a:ea typeface="Times New Roman" panose="02020603050405020304"/>
              <a:cs typeface="Times New Roman" panose="02020603050405020304"/>
            </a:endParaRPr>
          </a:p>
        </p:txBody>
      </p:sp>
      <p:pic>
        <p:nvPicPr>
          <p:cNvPr id="202" name="published-hardware-2"/>
          <p:cNvPicPr>
            <a:picLocks noChangeAspect="1"/>
          </p:cNvPicPr>
          <p:nvPr/>
        </p:nvPicPr>
        <p:blipFill>
          <a:blip r:embed="rId8"/>
          <a:srcRect l="84000" t="3900" r="3800" b="85100"/>
          <a:stretch>
            <a:fillRect/>
          </a:stretch>
        </p:blipFill>
        <p:spPr>
          <a:xfrm>
            <a:off x="8352257" y="27051000"/>
            <a:ext cx="1392986" cy="1714500"/>
          </a:xfrm>
          <a:prstGeom prst="rect">
            <a:avLst/>
          </a:prstGeom>
        </p:spPr>
      </p:pic>
      <p:sp>
        <p:nvSpPr>
          <p:cNvPr id="46" name="hardware-label-2"/>
          <p:cNvSpPr>
            <a:spLocks noGrp="1"/>
          </p:cNvSpPr>
          <p:nvPr/>
        </p:nvSpPr>
        <p:spPr>
          <a:xfrm>
            <a:off x="7391400" y="28841700"/>
            <a:ext cx="3314700" cy="381000"/>
          </a:xfrm>
          <a:prstGeom prst="rect">
            <a:avLst/>
          </a:prstGeom>
          <a:noFill/>
          <a:ln w="0">
            <a:noFill/>
          </a:ln>
        </p:spPr>
        <p:txBody>
          <a:bodyPr wrap="square" lIns="0" tIns="0" rIns="0" bIns="0" anchor="t">
            <a:noAutofit/>
          </a:bodyPr>
          <a:lstStyle/>
          <a:p>
            <a:pPr algn="ctr">
              <a:lnSpc>
                <a:spcPct val="108000"/>
              </a:lnSpc>
              <a:buNone/>
              <a:defRPr sz="2175" b="1">
                <a:solidFill>
                  <a:srgbClr val="0072B5"/>
                </a:solidFill>
                <a:latin typeface="Times New Roman" panose="02020603050405020304"/>
                <a:ea typeface="Times New Roman" panose="02020603050405020304"/>
                <a:cs typeface="Times New Roman" panose="02020603050405020304"/>
              </a:defRPr>
            </a:pPr>
            <a:r>
              <a:rPr sz="2175" b="1">
                <a:solidFill>
                  <a:srgbClr val="0072B5"/>
                </a:solidFill>
                <a:latin typeface="Times New Roman" panose="02020603050405020304"/>
                <a:ea typeface="Times New Roman" panose="02020603050405020304"/>
                <a:cs typeface="Times New Roman" panose="02020603050405020304"/>
              </a:rPr>
              <a:t>HV amplifier</a:t>
            </a:r>
            <a:endParaRPr sz="2175" b="1">
              <a:solidFill>
                <a:srgbClr val="0072B5"/>
              </a:solidFill>
              <a:latin typeface="Times New Roman" panose="02020603050405020304"/>
              <a:ea typeface="Times New Roman" panose="02020603050405020304"/>
              <a:cs typeface="Times New Roman" panose="02020603050405020304"/>
            </a:endParaRPr>
          </a:p>
        </p:txBody>
      </p:sp>
      <p:sp>
        <p:nvSpPr>
          <p:cNvPr id="47" name="conditions-title"/>
          <p:cNvSpPr>
            <a:spLocks noGrp="1"/>
          </p:cNvSpPr>
          <p:nvPr/>
        </p:nvSpPr>
        <p:spPr>
          <a:xfrm>
            <a:off x="381000" y="29432250"/>
            <a:ext cx="10515600" cy="514350"/>
          </a:xfrm>
          <a:prstGeom prst="rect">
            <a:avLst/>
          </a:prstGeom>
          <a:noFill/>
          <a:ln w="0">
            <a:noFill/>
          </a:ln>
        </p:spPr>
        <p:txBody>
          <a:bodyPr wrap="square" lIns="0" tIns="0" rIns="0" bIns="0" anchor="t">
            <a:noAutofit/>
          </a:bodyPr>
          <a:lstStyle>
            <a:defPPr algn="l">
              <a:defRPr sz="2800" b="1">
                <a:solidFill>
                  <a:srgbClr val="0072B5"/>
                </a:solidFill>
                <a:latin typeface="Times New Roman" panose="02020603050405020304"/>
                <a:ea typeface="Times New Roman" panose="02020603050405020304"/>
                <a:cs typeface="Times New Roman" panose="02020603050405020304"/>
              </a:defRPr>
            </a:defP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800" b="1">
                <a:solidFill>
                  <a:srgbClr val="0072B5"/>
                </a:solidFill>
                <a:latin typeface="Times New Roman" panose="02020603050405020304"/>
                <a:ea typeface="Times New Roman" panose="02020603050405020304"/>
                <a:cs typeface="Times New Roman" panose="02020603050405020304"/>
              </a:rPr>
              <a:t>Experimental inputs</a:t>
            </a:r>
            <a:endParaRPr sz="2800" b="1">
              <a:solidFill>
                <a:srgbClr val="0072B5"/>
              </a:solidFill>
              <a:latin typeface="Times New Roman" panose="02020603050405020304"/>
              <a:ea typeface="Times New Roman" panose="02020603050405020304"/>
              <a:cs typeface="Times New Roman" panose="02020603050405020304"/>
            </a:endParaRPr>
          </a:p>
        </p:txBody>
      </p:sp>
      <p:graphicFrame>
        <p:nvGraphicFramePr>
          <p:cNvPr id="205" name="表格 204"/>
          <p:cNvGraphicFramePr/>
          <p:nvPr/>
        </p:nvGraphicFramePr>
        <p:xfrm>
          <a:off x="381000" y="30032325"/>
          <a:ext cx="10515600" cy="2228852"/>
        </p:xfrm>
        <a:graphic>
          <a:graphicData uri="http://schemas.openxmlformats.org/drawingml/2006/table">
            <a:tbl>
              <a:tblPr firstRow="1"/>
              <a:tblGrid>
                <a:gridCol w="5047488"/>
                <a:gridCol w="5468112"/>
              </a:tblGrid>
              <a:tr h="557213">
                <a:tc>
                  <a:txBody>
                    <a:bodyPr wrap="square">
                      <a:spAutoFit/>
                    </a:bodyPr>
                    <a:lstStyle/>
                    <a:p>
                      <a:r>
                        <a:rPr sz="2175" b="1">
                          <a:solidFill>
                            <a:srgbClr val="171D25"/>
                          </a:solidFill>
                          <a:latin typeface="Times New Roman" panose="02020603050405020304"/>
                          <a:ea typeface="Times New Roman" panose="02020603050405020304"/>
                          <a:cs typeface="Times New Roman" panose="02020603050405020304"/>
                        </a:rPr>
                        <a:t>Quantity</a:t>
                      </a:r>
                      <a:endParaRPr sz="2175" b="1">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E7F2FA"/>
                    </a:solidFill>
                  </a:tcPr>
                </a:tc>
                <a:tc>
                  <a:txBody>
                    <a:bodyPr wrap="square">
                      <a:spAutoFit/>
                    </a:bodyPr>
                    <a:lstStyle/>
                    <a:p>
                      <a:r>
                        <a:rPr sz="2175" b="1">
                          <a:solidFill>
                            <a:srgbClr val="171D25"/>
                          </a:solidFill>
                          <a:latin typeface="Times New Roman" panose="02020603050405020304"/>
                          <a:ea typeface="Times New Roman" panose="02020603050405020304"/>
                          <a:cs typeface="Times New Roman" panose="02020603050405020304"/>
                        </a:rPr>
                        <a:t>Value</a:t>
                      </a:r>
                      <a:endParaRPr sz="2175" b="1">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E7F2FA"/>
                    </a:solidFill>
                  </a:tcPr>
                </a:tc>
              </a:tr>
              <a:tr h="557213">
                <a:tc>
                  <a:txBody>
                    <a:bodyPr wrap="square">
                      <a:spAutoFit/>
                    </a:bodyPr>
                    <a:lstStyle/>
                    <a:p>
                      <a:r>
                        <a:rPr sz="2175" b="0">
                          <a:solidFill>
                            <a:srgbClr val="171D25"/>
                          </a:solidFill>
                          <a:latin typeface="Times New Roman" panose="02020603050405020304"/>
                          <a:ea typeface="Times New Roman" panose="02020603050405020304"/>
                          <a:cs typeface="Times New Roman" panose="02020603050405020304"/>
                        </a:rPr>
                        <a:t>Photo voltages</a:t>
                      </a:r>
                      <a:endParaRPr sz="2175" b="0">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FFFFFF"/>
                    </a:solidFill>
                  </a:tcPr>
                </a:tc>
                <a:tc>
                  <a:txBody>
                    <a:bodyPr wrap="square">
                      <a:spAutoFit/>
                    </a:bodyPr>
                    <a:lstStyle/>
                    <a:p>
                      <a:r>
                        <a:rPr sz="2175" b="0">
                          <a:solidFill>
                            <a:srgbClr val="171D25"/>
                          </a:solidFill>
                          <a:latin typeface="Times New Roman" panose="02020603050405020304"/>
                          <a:ea typeface="Times New Roman" panose="02020603050405020304"/>
                          <a:cs typeface="Times New Roman" panose="02020603050405020304"/>
                        </a:rPr>
                        <a:t>1.80, 1.95, 2.10, 2.30 kV</a:t>
                      </a:r>
                      <a:endParaRPr sz="2175" b="0">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FFFFFF"/>
                    </a:solidFill>
                  </a:tcPr>
                </a:tc>
              </a:tr>
              <a:tr h="557213">
                <a:tc>
                  <a:txBody>
                    <a:bodyPr wrap="square">
                      <a:spAutoFit/>
                    </a:bodyPr>
                    <a:lstStyle/>
                    <a:p>
                      <a:r>
                        <a:rPr sz="2175" b="0">
                          <a:solidFill>
                            <a:srgbClr val="171D25"/>
                          </a:solidFill>
                          <a:latin typeface="Times New Roman" panose="02020603050405020304"/>
                          <a:ea typeface="Times New Roman" panose="02020603050405020304"/>
                          <a:cs typeface="Times New Roman" panose="02020603050405020304"/>
                        </a:rPr>
                        <a:t>Image scale bar</a:t>
                      </a:r>
                      <a:endParaRPr sz="2175" b="0">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FFFFFF"/>
                    </a:solidFill>
                  </a:tcPr>
                </a:tc>
                <a:tc>
                  <a:txBody>
                    <a:bodyPr wrap="square">
                      <a:spAutoFit/>
                    </a:bodyPr>
                    <a:lstStyle/>
                    <a:p>
                      <a:r>
                        <a:rPr sz="2175" b="0">
                          <a:solidFill>
                            <a:srgbClr val="171D25"/>
                          </a:solidFill>
                          <a:latin typeface="Times New Roman" panose="02020603050405020304"/>
                          <a:ea typeface="Times New Roman" panose="02020603050405020304"/>
                          <a:cs typeface="Times New Roman" panose="02020603050405020304"/>
                        </a:rPr>
                        <a:t>300 µm</a:t>
                      </a:r>
                      <a:endParaRPr sz="2175" b="0">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FFFFFF"/>
                    </a:solidFill>
                  </a:tcPr>
                </a:tc>
              </a:tr>
              <a:tr h="557213">
                <a:tc>
                  <a:txBody>
                    <a:bodyPr wrap="square">
                      <a:spAutoFit/>
                    </a:bodyPr>
                    <a:lstStyle/>
                    <a:p>
                      <a:r>
                        <a:rPr sz="2175" b="0">
                          <a:solidFill>
                            <a:srgbClr val="171D25"/>
                          </a:solidFill>
                          <a:latin typeface="Times New Roman" panose="02020603050405020304"/>
                          <a:ea typeface="Times New Roman" panose="02020603050405020304"/>
                          <a:cs typeface="Times New Roman" panose="02020603050405020304"/>
                        </a:rPr>
                        <a:t>Photo / report pairs</a:t>
                      </a:r>
                      <a:endParaRPr sz="2175" b="0">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FFFFFF"/>
                    </a:solidFill>
                  </a:tcPr>
                </a:tc>
                <a:tc>
                  <a:txBody>
                    <a:bodyPr wrap="square">
                      <a:spAutoFit/>
                    </a:bodyPr>
                    <a:lstStyle/>
                    <a:p>
                      <a:r>
                        <a:rPr sz="2175" b="0">
                          <a:solidFill>
                            <a:srgbClr val="171D25"/>
                          </a:solidFill>
                          <a:latin typeface="Times New Roman" panose="02020603050405020304"/>
                          <a:ea typeface="Times New Roman" panose="02020603050405020304"/>
                          <a:cs typeface="Times New Roman" panose="02020603050405020304"/>
                        </a:rPr>
                        <a:t>1.80, 1.95, 2.10 kV</a:t>
                      </a:r>
                      <a:endParaRPr sz="2175" b="0">
                        <a:solidFill>
                          <a:srgbClr val="171D25"/>
                        </a:solidFill>
                        <a:latin typeface="Times New Roman" panose="02020603050405020304"/>
                        <a:ea typeface="Times New Roman" panose="02020603050405020304"/>
                        <a:cs typeface="Times New Roman" panose="02020603050405020304"/>
                      </a:endParaRPr>
                    </a:p>
                  </a:txBody>
                  <a:tcPr marL="114300" marR="114300" marT="47625" marB="47625" anchor="ctr">
                    <a:solidFill>
                      <a:srgbClr val="FFFFFF"/>
                    </a:solidFill>
                  </a:tcPr>
                </a:tc>
              </a:tr>
            </a:tbl>
          </a:graphicData>
        </a:graphic>
      </p:graphicFrame>
      <p:sp>
        <p:nvSpPr>
          <p:cNvPr id="49" name="calibration-protocol-frame"/>
          <p:cNvSpPr>
            <a:spLocks noGrp="1"/>
          </p:cNvSpPr>
          <p:nvPr/>
        </p:nvSpPr>
        <p:spPr>
          <a:xfrm>
            <a:off x="95250" y="32804100"/>
            <a:ext cx="11087100" cy="4819650"/>
          </a:xfrm>
          <a:prstGeom prst="roundRect">
            <a:avLst>
              <a:gd name="adj" fmla="val 3162"/>
            </a:avLst>
          </a:prstGeom>
          <a:solidFill>
            <a:srgbClr val="F7F9FC"/>
          </a:solidFill>
          <a:ln w="16193">
            <a:solidFill>
              <a:srgbClr val="4E89B9"/>
            </a:solidFill>
            <a:prstDash val="dash"/>
          </a:ln>
        </p:spPr>
      </p:sp>
      <p:sp>
        <p:nvSpPr>
          <p:cNvPr id="50" name="calibration-protocol-header"/>
          <p:cNvSpPr>
            <a:spLocks noGrp="1"/>
          </p:cNvSpPr>
          <p:nvPr/>
        </p:nvSpPr>
        <p:spPr>
          <a:xfrm>
            <a:off x="95250" y="3280410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51" name="calibration-protocol-heading"/>
          <p:cNvSpPr>
            <a:spLocks noGrp="1"/>
          </p:cNvSpPr>
          <p:nvPr/>
        </p:nvSpPr>
        <p:spPr>
          <a:xfrm>
            <a:off x="333375" y="3293745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DATA PAIRING</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54" name="calibration-table-note"/>
          <p:cNvSpPr>
            <a:spLocks noGrp="1"/>
          </p:cNvSpPr>
          <p:nvPr/>
        </p:nvSpPr>
        <p:spPr>
          <a:xfrm>
            <a:off x="381000" y="36556950"/>
            <a:ext cx="10515600" cy="933450"/>
          </a:xfrm>
          <a:prstGeom prst="rect">
            <a:avLst/>
          </a:prstGeom>
          <a:noFill/>
          <a:ln w="0">
            <a:noFill/>
          </a:ln>
        </p:spPr>
        <p:txBody>
          <a:bodyPr wrap="square" lIns="0" tIns="0" rIns="0" bIns="0" anchor="t">
            <a:noAutofit/>
          </a:bodyPr>
          <a:lstStyle>
            <a:defPPr algn="l">
              <a:defRPr sz="2025" b="0">
                <a:solidFill>
                  <a:srgbClr val="385466"/>
                </a:solidFill>
                <a:latin typeface="Times New Roman" panose="02020603050405020304"/>
                <a:ea typeface="Times New Roman" panose="02020603050405020304"/>
                <a:cs typeface="Times New Roman" panose="02020603050405020304"/>
              </a:defRPr>
            </a:defPPr>
          </a:lstStyle>
          <a:p>
            <a:pPr algn="l">
              <a:lnSpc>
                <a:spcPct val="108000"/>
              </a:lnSpc>
              <a:buNone/>
              <a:defRPr sz="2025" b="0">
                <a:solidFill>
                  <a:srgbClr val="385466"/>
                </a:solidFill>
                <a:latin typeface="Times New Roman" panose="02020603050405020304"/>
                <a:ea typeface="Times New Roman" panose="02020603050405020304"/>
                <a:cs typeface="Times New Roman" panose="02020603050405020304"/>
              </a:defRPr>
            </a:pPr>
            <a:r>
              <a:rPr sz="2025" b="0">
                <a:solidFill>
                  <a:srgbClr val="385466"/>
                </a:solidFill>
                <a:latin typeface="Times New Roman" panose="02020603050405020304"/>
                <a:ea typeface="Times New Roman" panose="02020603050405020304"/>
                <a:cs typeface="Times New Roman" panose="02020603050405020304"/>
              </a:rPr>
              <a:t>Shaded rows form the three matched pairs. Voltages rounded to 0.01 kV.</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55" name="reproducibility-frame"/>
          <p:cNvSpPr>
            <a:spLocks noGrp="1"/>
          </p:cNvSpPr>
          <p:nvPr/>
        </p:nvSpPr>
        <p:spPr>
          <a:xfrm>
            <a:off x="95250" y="37757100"/>
            <a:ext cx="11087100" cy="5707380"/>
          </a:xfrm>
          <a:prstGeom prst="roundRect">
            <a:avLst>
              <a:gd name="adj" fmla="val 2670"/>
            </a:avLst>
          </a:prstGeom>
          <a:solidFill>
            <a:srgbClr val="F7F9FC"/>
          </a:solidFill>
          <a:ln w="16193">
            <a:solidFill>
              <a:srgbClr val="4E89B9"/>
            </a:solidFill>
            <a:prstDash val="dash"/>
          </a:ln>
        </p:spPr>
      </p:sp>
      <p:sp>
        <p:nvSpPr>
          <p:cNvPr id="56" name="reproducibility-header"/>
          <p:cNvSpPr>
            <a:spLocks noGrp="1"/>
          </p:cNvSpPr>
          <p:nvPr/>
        </p:nvSpPr>
        <p:spPr>
          <a:xfrm>
            <a:off x="95250" y="3775710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57" name="reproducibility-heading"/>
          <p:cNvSpPr>
            <a:spLocks noGrp="1"/>
          </p:cNvSpPr>
          <p:nvPr/>
        </p:nvSpPr>
        <p:spPr>
          <a:xfrm>
            <a:off x="333375" y="3789045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REPRODUCIBILITY</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58" name="tests"/>
          <p:cNvSpPr>
            <a:spLocks noGrp="1"/>
          </p:cNvSpPr>
          <p:nvPr/>
        </p:nvSpPr>
        <p:spPr>
          <a:xfrm>
            <a:off x="381000" y="38785800"/>
            <a:ext cx="10515600" cy="514350"/>
          </a:xfrm>
          <a:prstGeom prst="rect">
            <a:avLst/>
          </a:prstGeom>
          <a:noFill/>
          <a:ln w="0">
            <a:noFill/>
          </a:ln>
        </p:spPr>
        <p:txBody>
          <a:bodyPr wrap="square" lIns="0" tIns="0" rIns="0" bIns="0" anchor="t">
            <a:noAutofit/>
          </a:body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800" b="1">
                <a:solidFill>
                  <a:srgbClr val="0072B5"/>
                </a:solidFill>
                <a:latin typeface="Times New Roman" panose="02020603050405020304"/>
                <a:ea typeface="Times New Roman" panose="02020603050405020304"/>
                <a:cs typeface="Times New Roman" panose="02020603050405020304"/>
              </a:rPr>
              <a:t> 112 software tests pass</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59" name="reproduction-bullets"/>
          <p:cNvSpPr>
            <a:spLocks noGrp="1"/>
          </p:cNvSpPr>
          <p:nvPr/>
        </p:nvSpPr>
        <p:spPr>
          <a:xfrm>
            <a:off x="381000" y="39500175"/>
            <a:ext cx="10515600" cy="3657600"/>
          </a:xfrm>
          <a:prstGeom prst="rect">
            <a:avLst/>
          </a:prstGeom>
          <a:noFill/>
          <a:ln w="0">
            <a:noFill/>
          </a:ln>
        </p:spPr>
        <p:txBody>
          <a:bodyPr wrap="square" lIns="0" tIns="0" rIns="0" bIns="0" anchor="t">
            <a:noAutofit/>
          </a:bodyPr>
          <a:lstStyle/>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Independent code. </a:t>
            </a:r>
            <a:r>
              <a:t>FD and FEM assemble separate operators under shared geometry and boundary conditions.</a:t>
            </a:r>
          </a:p>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Traceable results. </a:t>
            </a:r>
            <a:r>
              <a:t>CSV / JSON files retain inputs, profiles, angles, residuals and errors for every condition.</a:t>
            </a:r>
          </a:p>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Saved protocols. </a:t>
            </a:r>
            <a:r>
              <a:t>Mesh levels, fitting windows, thresholds and random seeds accompany the scripts.</a:t>
            </a:r>
          </a:p>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Repeated image checks. </a:t>
            </a:r>
            <a:r>
              <a:t>A second 108-case noise seed also meets the angle and profile criteria.</a:t>
            </a:r>
          </a:p>
        </p:txBody>
      </p:sp>
      <p:sp>
        <p:nvSpPr>
          <p:cNvPr id="60" name="workflow-frame"/>
          <p:cNvSpPr>
            <a:spLocks noGrp="1"/>
          </p:cNvSpPr>
          <p:nvPr/>
        </p:nvSpPr>
        <p:spPr>
          <a:xfrm>
            <a:off x="11315700" y="3181350"/>
            <a:ext cx="21450300" cy="5772150"/>
          </a:xfrm>
          <a:prstGeom prst="roundRect">
            <a:avLst>
              <a:gd name="adj" fmla="val 2640"/>
            </a:avLst>
          </a:prstGeom>
          <a:solidFill>
            <a:srgbClr val="F7F9FC"/>
          </a:solidFill>
          <a:ln w="16193">
            <a:solidFill>
              <a:srgbClr val="4E89B9"/>
            </a:solidFill>
            <a:prstDash val="dash"/>
          </a:ln>
        </p:spPr>
      </p:sp>
      <p:sp>
        <p:nvSpPr>
          <p:cNvPr id="61" name="workflow-header"/>
          <p:cNvSpPr>
            <a:spLocks noGrp="1"/>
          </p:cNvSpPr>
          <p:nvPr/>
        </p:nvSpPr>
        <p:spPr>
          <a:xfrm>
            <a:off x="11315700" y="3181350"/>
            <a:ext cx="214503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62" name="workflow-heading"/>
          <p:cNvSpPr>
            <a:spLocks noGrp="1"/>
          </p:cNvSpPr>
          <p:nvPr/>
        </p:nvSpPr>
        <p:spPr>
          <a:xfrm>
            <a:off x="11553825" y="3314700"/>
            <a:ext cx="209740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METHOD AND WORKFLOW</a:t>
            </a:r>
            <a:endParaRPr sz="3800" b="1">
              <a:solidFill>
                <a:srgbClr val="FFFFFF"/>
              </a:solidFill>
              <a:latin typeface="Times New Roman" panose="02020603050405020304"/>
              <a:ea typeface="Times New Roman" panose="02020603050405020304"/>
              <a:cs typeface="Times New Roman" panose="02020603050405020304"/>
            </a:endParaRPr>
          </a:p>
        </p:txBody>
      </p:sp>
      <p:pic>
        <p:nvPicPr>
          <p:cNvPr id="221" name="potential-map"/>
          <p:cNvPicPr>
            <a:picLocks noChangeAspect="1"/>
          </p:cNvPicPr>
          <p:nvPr/>
        </p:nvPicPr>
        <p:blipFill>
          <a:blip r:embed="rId9"/>
          <a:srcRect l="46000" t="6000"/>
          <a:stretch>
            <a:fillRect/>
          </a:stretch>
        </p:blipFill>
        <p:spPr>
          <a:xfrm>
            <a:off x="27003375" y="4267200"/>
            <a:ext cx="4857750" cy="3143250"/>
          </a:xfrm>
          <a:prstGeom prst="rect">
            <a:avLst/>
          </a:prstGeom>
        </p:spPr>
      </p:pic>
      <p:sp>
        <p:nvSpPr>
          <p:cNvPr id="65" name="potential-caption"/>
          <p:cNvSpPr>
            <a:spLocks noGrp="1"/>
          </p:cNvSpPr>
          <p:nvPr/>
        </p:nvSpPr>
        <p:spPr>
          <a:xfrm>
            <a:off x="26460450" y="7467600"/>
            <a:ext cx="5905500" cy="352425"/>
          </a:xfrm>
          <a:prstGeom prst="rect">
            <a:avLst/>
          </a:prstGeom>
          <a:noFill/>
          <a:ln w="0">
            <a:noFill/>
          </a:ln>
        </p:spPr>
        <p:txBody>
          <a:bodyPr wrap="square" lIns="0" tIns="0" rIns="0" bIns="0" anchor="t">
            <a:noAutofit/>
          </a:bodyPr>
          <a:lstStyle>
            <a:defPPr algn="ctr">
              <a:defRPr sz="1950"/>
            </a:defPPr>
          </a:lstStyle>
          <a:p>
            <a:pPr algn="ctr">
              <a:lnSpc>
                <a:spcPct val="104000"/>
              </a:lnSpc>
              <a:buNone/>
              <a:defRPr sz="1950" b="0">
                <a:solidFill>
                  <a:srgbClr val="385466"/>
                </a:solidFill>
                <a:latin typeface="Times New Roman" panose="02020603050405020304"/>
                <a:ea typeface="Times New Roman" panose="02020603050405020304"/>
                <a:cs typeface="Times New Roman" panose="02020603050405020304"/>
              </a:defRPr>
            </a:pPr>
            <a:r>
              <a:rPr sz="1950" b="0">
                <a:solidFill>
                  <a:srgbClr val="385466"/>
                </a:solidFill>
                <a:latin typeface="Times New Roman" panose="02020603050405020304"/>
                <a:ea typeface="Times New Roman" panose="02020603050405020304"/>
                <a:cs typeface="Times New Roman" panose="02020603050405020304"/>
              </a:rPr>
              <a:t>Computed potential, 1.72 kV</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66" name="workflow-detail-bullets"/>
          <p:cNvSpPr>
            <a:spLocks noGrp="1"/>
          </p:cNvSpPr>
          <p:nvPr/>
        </p:nvSpPr>
        <p:spPr>
          <a:xfrm>
            <a:off x="11601450" y="7791450"/>
            <a:ext cx="20878800" cy="1066800"/>
          </a:xfrm>
          <a:prstGeom prst="rect">
            <a:avLst/>
          </a:prstGeom>
          <a:noFill/>
          <a:ln w="0">
            <a:noFill/>
          </a:ln>
        </p:spPr>
        <p:txBody>
          <a:bodyPr wrap="square" lIns="0" tIns="0" rIns="0" bIns="0" anchor="t">
            <a:noAutofit/>
          </a:bodyPr>
          <a:lstStyle>
            <a:defPPr algn="l">
              <a:defRPr sz="217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Numerical checks. </a:t>
            </a:r>
            <a:r>
              <a:rPr b="0">
                <a:solidFill>
                  <a:srgbClr val="15212C"/>
                </a:solidFill>
              </a:rPr>
              <a:t>Analytical references and independent FEM test the field solver.</a:t>
            </a:r>
            <a:endParaRPr b="0">
              <a:solidFill>
                <a:srgbClr val="15212C"/>
              </a:solidFill>
            </a:endParaRPr>
          </a:p>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Experimental comparison. </a:t>
            </a:r>
            <a:r>
              <a:rPr b="0">
                <a:solidFill>
                  <a:srgbClr val="15212C"/>
                </a:solidFill>
              </a:rPr>
              <a:t>Pair extracted and reported angles. Use reported geometry for a separate stress-balance diagnosis.</a:t>
            </a:r>
            <a:endParaRPr b="0">
              <a:solidFill>
                <a:srgbClr val="15212C"/>
              </a:solidFill>
            </a:endParaRPr>
          </a:p>
        </p:txBody>
      </p:sp>
      <p:sp>
        <p:nvSpPr>
          <p:cNvPr id="67" name="experiment-images-frame"/>
          <p:cNvSpPr>
            <a:spLocks noGrp="1"/>
          </p:cNvSpPr>
          <p:nvPr/>
        </p:nvSpPr>
        <p:spPr>
          <a:xfrm>
            <a:off x="11315700" y="9086850"/>
            <a:ext cx="21450300" cy="7296150"/>
          </a:xfrm>
          <a:prstGeom prst="roundRect">
            <a:avLst>
              <a:gd name="adj" fmla="val 2089"/>
            </a:avLst>
          </a:prstGeom>
          <a:solidFill>
            <a:srgbClr val="F7F9FC"/>
          </a:solidFill>
          <a:ln w="16193">
            <a:solidFill>
              <a:srgbClr val="4E89B9"/>
            </a:solidFill>
            <a:prstDash val="dash"/>
          </a:ln>
        </p:spPr>
      </p:sp>
      <p:sp>
        <p:nvSpPr>
          <p:cNvPr id="68" name="experiment-images-header"/>
          <p:cNvSpPr>
            <a:spLocks noGrp="1"/>
          </p:cNvSpPr>
          <p:nvPr/>
        </p:nvSpPr>
        <p:spPr>
          <a:xfrm>
            <a:off x="11315700" y="9086850"/>
            <a:ext cx="214503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69" name="experiment-images-heading"/>
          <p:cNvSpPr>
            <a:spLocks noGrp="1"/>
          </p:cNvSpPr>
          <p:nvPr/>
        </p:nvSpPr>
        <p:spPr>
          <a:xfrm>
            <a:off x="11553825" y="9220200"/>
            <a:ext cx="209740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EXPERIMENTAL IMAGES</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70" name="photo-voltage-0"/>
          <p:cNvSpPr>
            <a:spLocks noGrp="1"/>
          </p:cNvSpPr>
          <p:nvPr/>
        </p:nvSpPr>
        <p:spPr>
          <a:xfrm>
            <a:off x="11601450" y="10077450"/>
            <a:ext cx="5048250" cy="466725"/>
          </a:xfrm>
          <a:prstGeom prst="rect">
            <a:avLst/>
          </a:prstGeom>
          <a:noFill/>
          <a:ln w="0">
            <a:noFill/>
          </a:ln>
        </p:spPr>
        <p:txBody>
          <a:bodyPr wrap="square" lIns="0" tIns="0" rIns="0" bIns="0" anchor="t">
            <a:noAutofit/>
          </a:bodyPr>
          <a:lstStyle>
            <a:defPPr algn="ctr"/>
          </a:lstStyle>
          <a:p>
            <a:pPr algn="ctr">
              <a:lnSpc>
                <a:spcPct val="108000"/>
              </a:lnSpc>
              <a:buNone/>
              <a:defRPr sz="2850" b="1">
                <a:solidFill>
                  <a:srgbClr val="0072B5"/>
                </a:solidFill>
                <a:latin typeface="Times New Roman" panose="02020603050405020304"/>
                <a:ea typeface="Times New Roman" panose="02020603050405020304"/>
                <a:cs typeface="Times New Roman" panose="02020603050405020304"/>
              </a:defRPr>
            </a:pPr>
            <a:r>
              <a:rPr sz="2850" b="1">
                <a:solidFill>
                  <a:srgbClr val="0072B5"/>
                </a:solidFill>
                <a:latin typeface="Times New Roman" panose="02020603050405020304"/>
                <a:ea typeface="Times New Roman" panose="02020603050405020304"/>
                <a:cs typeface="Times New Roman" panose="02020603050405020304"/>
              </a:rPr>
              <a:t>1.80 kV</a:t>
            </a:r>
            <a:endParaRPr sz="2850" b="1">
              <a:solidFill>
                <a:srgbClr val="0072B5"/>
              </a:solidFill>
              <a:latin typeface="Times New Roman" panose="02020603050405020304"/>
              <a:ea typeface="Times New Roman" panose="02020603050405020304"/>
              <a:cs typeface="Times New Roman" panose="02020603050405020304"/>
            </a:endParaRPr>
          </a:p>
        </p:txBody>
      </p:sp>
      <p:pic>
        <p:nvPicPr>
          <p:cNvPr id="228" name="photo-0"/>
          <p:cNvPicPr>
            <a:picLocks noChangeAspect="1"/>
          </p:cNvPicPr>
          <p:nvPr/>
        </p:nvPicPr>
        <p:blipFill>
          <a:blip r:embed="rId10"/>
          <a:srcRect l="1700" t="10100" r="69500" b="50500"/>
          <a:stretch>
            <a:fillRect/>
          </a:stretch>
        </p:blipFill>
        <p:spPr>
          <a:xfrm>
            <a:off x="12656760" y="10591800"/>
            <a:ext cx="2937629" cy="3095625"/>
          </a:xfrm>
          <a:prstGeom prst="rect">
            <a:avLst/>
          </a:prstGeom>
        </p:spPr>
      </p:pic>
      <p:sp>
        <p:nvSpPr>
          <p:cNvPr id="72" name="photo-angle-0"/>
          <p:cNvSpPr>
            <a:spLocks noGrp="1"/>
          </p:cNvSpPr>
          <p:nvPr/>
        </p:nvSpPr>
        <p:spPr>
          <a:xfrm>
            <a:off x="11601450" y="13830300"/>
            <a:ext cx="5048250" cy="428625"/>
          </a:xfrm>
          <a:prstGeom prst="rect">
            <a:avLst/>
          </a:prstGeom>
          <a:noFill/>
          <a:ln w="0">
            <a:noFill/>
          </a:ln>
        </p:spPr>
        <p:txBody>
          <a:bodyPr wrap="square" lIns="0" tIns="0" rIns="0" bIns="0" anchor="t">
            <a:noAutofit/>
          </a:bodyPr>
          <a:lstStyle>
            <a:defPPr algn="ctr">
              <a:defRPr sz="2100" b="1">
                <a:solidFill>
                  <a:srgbClr val="C45A12"/>
                </a:solidFill>
                <a:latin typeface="Times New Roman" panose="02020603050405020304"/>
                <a:ea typeface="Times New Roman" panose="02020603050405020304"/>
                <a:cs typeface="Times New Roman" panose="02020603050405020304"/>
              </a:defRPr>
            </a:defPPr>
          </a:lstStyle>
          <a:p>
            <a:pPr algn="ctr">
              <a:lnSpc>
                <a:spcPct val="108000"/>
              </a:lnSpc>
              <a:buNone/>
              <a:defRPr sz="2100" b="1">
                <a:solidFill>
                  <a:srgbClr val="C45A12"/>
                </a:solidFill>
                <a:latin typeface="Times New Roman" panose="02020603050405020304"/>
                <a:ea typeface="Times New Roman" panose="02020603050405020304"/>
                <a:cs typeface="Times New Roman" panose="02020603050405020304"/>
              </a:defRPr>
            </a:pPr>
            <a:r>
              <a:rPr sz="2100" b="1">
                <a:solidFill>
                  <a:srgbClr val="C45A12"/>
                </a:solidFill>
                <a:latin typeface="Times New Roman" panose="02020603050405020304"/>
                <a:ea typeface="Times New Roman" panose="02020603050405020304"/>
                <a:cs typeface="Times New Roman" panose="02020603050405020304"/>
              </a:rPr>
              <a:t>α = 22.26°    h = 301.6 µm</a:t>
            </a:r>
            <a:endParaRPr sz="2250" b="1">
              <a:solidFill>
                <a:srgbClr val="C45A12"/>
              </a:solidFill>
              <a:latin typeface="Times New Roman" panose="02020603050405020304"/>
              <a:ea typeface="Times New Roman" panose="02020603050405020304"/>
              <a:cs typeface="Times New Roman" panose="02020603050405020304"/>
            </a:endParaRPr>
          </a:p>
        </p:txBody>
      </p:sp>
      <p:sp>
        <p:nvSpPr>
          <p:cNvPr id="73" name="photo-voltage-1"/>
          <p:cNvSpPr>
            <a:spLocks noGrp="1"/>
          </p:cNvSpPr>
          <p:nvPr/>
        </p:nvSpPr>
        <p:spPr>
          <a:xfrm>
            <a:off x="16840200" y="10077450"/>
            <a:ext cx="5048250" cy="466725"/>
          </a:xfrm>
          <a:prstGeom prst="rect">
            <a:avLst/>
          </a:prstGeom>
          <a:noFill/>
          <a:ln w="0">
            <a:noFill/>
          </a:ln>
        </p:spPr>
        <p:txBody>
          <a:bodyPr wrap="square" lIns="0" tIns="0" rIns="0" bIns="0" anchor="t">
            <a:noAutofit/>
          </a:bodyPr>
          <a:lstStyle>
            <a:defPPr algn="ctr"/>
          </a:lstStyle>
          <a:p>
            <a:pPr algn="ctr">
              <a:lnSpc>
                <a:spcPct val="108000"/>
              </a:lnSpc>
              <a:buNone/>
              <a:defRPr sz="2850" b="1">
                <a:solidFill>
                  <a:srgbClr val="0072B5"/>
                </a:solidFill>
                <a:latin typeface="Times New Roman" panose="02020603050405020304"/>
                <a:ea typeface="Times New Roman" panose="02020603050405020304"/>
                <a:cs typeface="Times New Roman" panose="02020603050405020304"/>
              </a:defRPr>
            </a:pPr>
            <a:r>
              <a:rPr sz="2850" b="1">
                <a:solidFill>
                  <a:srgbClr val="0072B5"/>
                </a:solidFill>
                <a:latin typeface="Times New Roman" panose="02020603050405020304"/>
                <a:ea typeface="Times New Roman" panose="02020603050405020304"/>
                <a:cs typeface="Times New Roman" panose="02020603050405020304"/>
              </a:rPr>
              <a:t>1.95 kV</a:t>
            </a:r>
            <a:endParaRPr sz="2850" b="1">
              <a:solidFill>
                <a:srgbClr val="0072B5"/>
              </a:solidFill>
              <a:latin typeface="Times New Roman" panose="02020603050405020304"/>
              <a:ea typeface="Times New Roman" panose="02020603050405020304"/>
              <a:cs typeface="Times New Roman" panose="02020603050405020304"/>
            </a:endParaRPr>
          </a:p>
        </p:txBody>
      </p:sp>
      <p:pic>
        <p:nvPicPr>
          <p:cNvPr id="231" name="photo-1"/>
          <p:cNvPicPr>
            <a:picLocks noChangeAspect="1"/>
          </p:cNvPicPr>
          <p:nvPr/>
        </p:nvPicPr>
        <p:blipFill>
          <a:blip r:embed="rId10"/>
          <a:srcRect l="69400" t="10100" r="800" b="50500"/>
          <a:stretch>
            <a:fillRect/>
          </a:stretch>
        </p:blipFill>
        <p:spPr>
          <a:xfrm>
            <a:off x="17844510" y="10591800"/>
            <a:ext cx="3039630" cy="3095625"/>
          </a:xfrm>
          <a:prstGeom prst="rect">
            <a:avLst/>
          </a:prstGeom>
        </p:spPr>
      </p:pic>
      <p:sp>
        <p:nvSpPr>
          <p:cNvPr id="75" name="photo-angle-1"/>
          <p:cNvSpPr>
            <a:spLocks noGrp="1"/>
          </p:cNvSpPr>
          <p:nvPr/>
        </p:nvSpPr>
        <p:spPr>
          <a:xfrm>
            <a:off x="16840200" y="13830300"/>
            <a:ext cx="5048250" cy="428625"/>
          </a:xfrm>
          <a:prstGeom prst="rect">
            <a:avLst/>
          </a:prstGeom>
          <a:noFill/>
          <a:ln w="0">
            <a:noFill/>
          </a:ln>
        </p:spPr>
        <p:txBody>
          <a:bodyPr wrap="square" lIns="0" tIns="0" rIns="0" bIns="0" anchor="t">
            <a:noAutofit/>
          </a:bodyPr>
          <a:lstStyle>
            <a:defPPr algn="ctr">
              <a:defRPr sz="2100" b="1">
                <a:solidFill>
                  <a:srgbClr val="C45A12"/>
                </a:solidFill>
                <a:latin typeface="Times New Roman" panose="02020603050405020304"/>
                <a:ea typeface="Times New Roman" panose="02020603050405020304"/>
                <a:cs typeface="Times New Roman" panose="02020603050405020304"/>
              </a:defRPr>
            </a:defPPr>
          </a:lstStyle>
          <a:p>
            <a:pPr algn="ctr">
              <a:lnSpc>
                <a:spcPct val="108000"/>
              </a:lnSpc>
              <a:buNone/>
              <a:defRPr sz="2100" b="1">
                <a:solidFill>
                  <a:srgbClr val="C45A12"/>
                </a:solidFill>
                <a:latin typeface="Times New Roman" panose="02020603050405020304"/>
                <a:ea typeface="Times New Roman" panose="02020603050405020304"/>
                <a:cs typeface="Times New Roman" panose="02020603050405020304"/>
              </a:defRPr>
            </a:pPr>
            <a:r>
              <a:rPr sz="2100" b="1">
                <a:solidFill>
                  <a:srgbClr val="C45A12"/>
                </a:solidFill>
                <a:latin typeface="Times New Roman" panose="02020603050405020304"/>
                <a:ea typeface="Times New Roman" panose="02020603050405020304"/>
                <a:cs typeface="Times New Roman" panose="02020603050405020304"/>
              </a:rPr>
              <a:t>α = 29.45°    h = 224.6 µm</a:t>
            </a:r>
            <a:endParaRPr sz="2250" b="1">
              <a:solidFill>
                <a:srgbClr val="C45A12"/>
              </a:solidFill>
              <a:latin typeface="Times New Roman" panose="02020603050405020304"/>
              <a:ea typeface="Times New Roman" panose="02020603050405020304"/>
              <a:cs typeface="Times New Roman" panose="02020603050405020304"/>
            </a:endParaRPr>
          </a:p>
        </p:txBody>
      </p:sp>
      <p:sp>
        <p:nvSpPr>
          <p:cNvPr id="76" name="photo-voltage-2"/>
          <p:cNvSpPr>
            <a:spLocks noGrp="1"/>
          </p:cNvSpPr>
          <p:nvPr/>
        </p:nvSpPr>
        <p:spPr>
          <a:xfrm>
            <a:off x="22078950" y="10077450"/>
            <a:ext cx="5048250" cy="466725"/>
          </a:xfrm>
          <a:prstGeom prst="rect">
            <a:avLst/>
          </a:prstGeom>
          <a:noFill/>
          <a:ln w="0">
            <a:noFill/>
          </a:ln>
        </p:spPr>
        <p:txBody>
          <a:bodyPr wrap="square" lIns="0" tIns="0" rIns="0" bIns="0" anchor="t">
            <a:noAutofit/>
          </a:bodyPr>
          <a:lstStyle>
            <a:defPPr algn="ctr"/>
          </a:lstStyle>
          <a:p>
            <a:pPr algn="ctr">
              <a:lnSpc>
                <a:spcPct val="108000"/>
              </a:lnSpc>
              <a:buNone/>
              <a:defRPr sz="2850" b="1">
                <a:solidFill>
                  <a:srgbClr val="0072B5"/>
                </a:solidFill>
                <a:latin typeface="Times New Roman" panose="02020603050405020304"/>
                <a:ea typeface="Times New Roman" panose="02020603050405020304"/>
                <a:cs typeface="Times New Roman" panose="02020603050405020304"/>
              </a:defRPr>
            </a:pPr>
            <a:r>
              <a:rPr sz="2850" b="1">
                <a:solidFill>
                  <a:srgbClr val="0072B5"/>
                </a:solidFill>
                <a:latin typeface="Times New Roman" panose="02020603050405020304"/>
                <a:ea typeface="Times New Roman" panose="02020603050405020304"/>
                <a:cs typeface="Times New Roman" panose="02020603050405020304"/>
              </a:rPr>
              <a:t>2.10 kV</a:t>
            </a:r>
            <a:endParaRPr sz="2850" b="1">
              <a:solidFill>
                <a:srgbClr val="0072B5"/>
              </a:solidFill>
              <a:latin typeface="Times New Roman" panose="02020603050405020304"/>
              <a:ea typeface="Times New Roman" panose="02020603050405020304"/>
              <a:cs typeface="Times New Roman" panose="02020603050405020304"/>
            </a:endParaRPr>
          </a:p>
        </p:txBody>
      </p:sp>
      <p:pic>
        <p:nvPicPr>
          <p:cNvPr id="234" name="photo-2"/>
          <p:cNvPicPr>
            <a:picLocks noChangeAspect="1"/>
          </p:cNvPicPr>
          <p:nvPr/>
        </p:nvPicPr>
        <p:blipFill>
          <a:blip r:embed="rId10"/>
          <a:srcRect l="1700" t="56700" r="69500" b="1000"/>
          <a:stretch>
            <a:fillRect/>
          </a:stretch>
        </p:blipFill>
        <p:spPr>
          <a:xfrm>
            <a:off x="23234959" y="10591800"/>
            <a:ext cx="2736231" cy="3095625"/>
          </a:xfrm>
          <a:prstGeom prst="rect">
            <a:avLst/>
          </a:prstGeom>
        </p:spPr>
      </p:pic>
      <p:sp>
        <p:nvSpPr>
          <p:cNvPr id="78" name="photo-angle-2"/>
          <p:cNvSpPr>
            <a:spLocks noGrp="1"/>
          </p:cNvSpPr>
          <p:nvPr/>
        </p:nvSpPr>
        <p:spPr>
          <a:xfrm>
            <a:off x="22078950" y="13830300"/>
            <a:ext cx="5048250" cy="428625"/>
          </a:xfrm>
          <a:prstGeom prst="rect">
            <a:avLst/>
          </a:prstGeom>
          <a:noFill/>
          <a:ln w="0">
            <a:noFill/>
          </a:ln>
        </p:spPr>
        <p:txBody>
          <a:bodyPr wrap="square" lIns="0" tIns="0" rIns="0" bIns="0" anchor="t">
            <a:noAutofit/>
          </a:bodyPr>
          <a:lstStyle>
            <a:defPPr algn="ctr">
              <a:defRPr sz="2100" b="1">
                <a:solidFill>
                  <a:srgbClr val="C45A12"/>
                </a:solidFill>
                <a:latin typeface="Times New Roman" panose="02020603050405020304"/>
                <a:ea typeface="Times New Roman" panose="02020603050405020304"/>
                <a:cs typeface="Times New Roman" panose="02020603050405020304"/>
              </a:defRPr>
            </a:defPPr>
          </a:lstStyle>
          <a:p>
            <a:pPr algn="ctr">
              <a:lnSpc>
                <a:spcPct val="108000"/>
              </a:lnSpc>
              <a:buNone/>
              <a:defRPr sz="2100" b="1">
                <a:solidFill>
                  <a:srgbClr val="C45A12"/>
                </a:solidFill>
                <a:latin typeface="Times New Roman" panose="02020603050405020304"/>
                <a:ea typeface="Times New Roman" panose="02020603050405020304"/>
                <a:cs typeface="Times New Roman" panose="02020603050405020304"/>
              </a:defRPr>
            </a:pPr>
            <a:r>
              <a:rPr sz="2100" b="1">
                <a:solidFill>
                  <a:srgbClr val="C45A12"/>
                </a:solidFill>
                <a:latin typeface="Times New Roman" panose="02020603050405020304"/>
                <a:ea typeface="Times New Roman" panose="02020603050405020304"/>
                <a:cs typeface="Times New Roman" panose="02020603050405020304"/>
              </a:rPr>
              <a:t>α = 36.34°    h = 174.3 µm</a:t>
            </a:r>
            <a:endParaRPr sz="2250" b="1">
              <a:solidFill>
                <a:srgbClr val="C45A12"/>
              </a:solidFill>
              <a:latin typeface="Times New Roman" panose="02020603050405020304"/>
              <a:ea typeface="Times New Roman" panose="02020603050405020304"/>
              <a:cs typeface="Times New Roman" panose="02020603050405020304"/>
            </a:endParaRPr>
          </a:p>
        </p:txBody>
      </p:sp>
      <p:sp>
        <p:nvSpPr>
          <p:cNvPr id="79" name="photo-voltage-3"/>
          <p:cNvSpPr>
            <a:spLocks noGrp="1"/>
          </p:cNvSpPr>
          <p:nvPr/>
        </p:nvSpPr>
        <p:spPr>
          <a:xfrm>
            <a:off x="27317700" y="10077450"/>
            <a:ext cx="5048250" cy="466725"/>
          </a:xfrm>
          <a:prstGeom prst="rect">
            <a:avLst/>
          </a:prstGeom>
          <a:noFill/>
          <a:ln w="0">
            <a:noFill/>
          </a:ln>
        </p:spPr>
        <p:txBody>
          <a:bodyPr wrap="square" lIns="0" tIns="0" rIns="0" bIns="0" anchor="t">
            <a:noAutofit/>
          </a:bodyPr>
          <a:lstStyle>
            <a:defPPr algn="ctr"/>
          </a:lstStyle>
          <a:p>
            <a:pPr algn="ctr">
              <a:lnSpc>
                <a:spcPct val="108000"/>
              </a:lnSpc>
              <a:buNone/>
              <a:defRPr sz="2850" b="1">
                <a:solidFill>
                  <a:srgbClr val="0072B5"/>
                </a:solidFill>
                <a:latin typeface="Times New Roman" panose="02020603050405020304"/>
                <a:ea typeface="Times New Roman" panose="02020603050405020304"/>
                <a:cs typeface="Times New Roman" panose="02020603050405020304"/>
              </a:defRPr>
            </a:pPr>
            <a:r>
              <a:rPr sz="2850" b="1">
                <a:solidFill>
                  <a:srgbClr val="0072B5"/>
                </a:solidFill>
                <a:latin typeface="Times New Roman" panose="02020603050405020304"/>
                <a:ea typeface="Times New Roman" panose="02020603050405020304"/>
                <a:cs typeface="Times New Roman" panose="02020603050405020304"/>
              </a:rPr>
              <a:t>2.30 kV</a:t>
            </a:r>
            <a:endParaRPr sz="2850" b="1">
              <a:solidFill>
                <a:srgbClr val="0072B5"/>
              </a:solidFill>
              <a:latin typeface="Times New Roman" panose="02020603050405020304"/>
              <a:ea typeface="Times New Roman" panose="02020603050405020304"/>
              <a:cs typeface="Times New Roman" panose="02020603050405020304"/>
            </a:endParaRPr>
          </a:p>
        </p:txBody>
      </p:sp>
      <p:pic>
        <p:nvPicPr>
          <p:cNvPr id="237" name="photo-3"/>
          <p:cNvPicPr>
            <a:picLocks noChangeAspect="1"/>
          </p:cNvPicPr>
          <p:nvPr/>
        </p:nvPicPr>
        <p:blipFill>
          <a:blip r:embed="rId10"/>
          <a:srcRect l="69400" t="56700" r="800" b="1000"/>
          <a:stretch>
            <a:fillRect/>
          </a:stretch>
        </p:blipFill>
        <p:spPr>
          <a:xfrm>
            <a:off x="28426205" y="10591800"/>
            <a:ext cx="2831239" cy="3095625"/>
          </a:xfrm>
          <a:prstGeom prst="rect">
            <a:avLst/>
          </a:prstGeom>
        </p:spPr>
      </p:pic>
      <p:sp>
        <p:nvSpPr>
          <p:cNvPr id="81" name="photo-angle-3"/>
          <p:cNvSpPr>
            <a:spLocks noGrp="1"/>
          </p:cNvSpPr>
          <p:nvPr/>
        </p:nvSpPr>
        <p:spPr>
          <a:xfrm>
            <a:off x="27317700" y="13830300"/>
            <a:ext cx="5048250" cy="428625"/>
          </a:xfrm>
          <a:prstGeom prst="rect">
            <a:avLst/>
          </a:prstGeom>
          <a:noFill/>
          <a:ln w="0">
            <a:noFill/>
          </a:ln>
        </p:spPr>
        <p:txBody>
          <a:bodyPr wrap="square" lIns="0" tIns="0" rIns="0" bIns="0" anchor="t">
            <a:noAutofit/>
          </a:bodyPr>
          <a:lstStyle>
            <a:defPPr algn="ctr">
              <a:defRPr sz="2100" b="1">
                <a:solidFill>
                  <a:srgbClr val="C45A12"/>
                </a:solidFill>
                <a:latin typeface="Times New Roman" panose="02020603050405020304"/>
                <a:ea typeface="Times New Roman" panose="02020603050405020304"/>
                <a:cs typeface="Times New Roman" panose="02020603050405020304"/>
              </a:defRPr>
            </a:defPPr>
          </a:lstStyle>
          <a:p>
            <a:pPr algn="ctr">
              <a:lnSpc>
                <a:spcPct val="108000"/>
              </a:lnSpc>
              <a:buNone/>
              <a:defRPr sz="2100" b="1">
                <a:solidFill>
                  <a:srgbClr val="C45A12"/>
                </a:solidFill>
                <a:latin typeface="Times New Roman" panose="02020603050405020304"/>
                <a:ea typeface="Times New Roman" panose="02020603050405020304"/>
                <a:cs typeface="Times New Roman" panose="02020603050405020304"/>
              </a:defRPr>
            </a:pPr>
            <a:r>
              <a:rPr sz="2100" b="1">
                <a:solidFill>
                  <a:srgbClr val="C45A12"/>
                </a:solidFill>
                <a:latin typeface="Times New Roman" panose="02020603050405020304"/>
                <a:ea typeface="Times New Roman" panose="02020603050405020304"/>
                <a:cs typeface="Times New Roman" panose="02020603050405020304"/>
              </a:rPr>
              <a:t>α = 41.64°    h = 147.6 µm</a:t>
            </a:r>
            <a:endParaRPr sz="2250" b="1">
              <a:solidFill>
                <a:srgbClr val="C45A12"/>
              </a:solidFill>
              <a:latin typeface="Times New Roman" panose="02020603050405020304"/>
              <a:ea typeface="Times New Roman" panose="02020603050405020304"/>
              <a:cs typeface="Times New Roman" panose="02020603050405020304"/>
            </a:endParaRPr>
          </a:p>
        </p:txBody>
      </p:sp>
      <p:sp>
        <p:nvSpPr>
          <p:cNvPr id="82" name="photos-caption"/>
          <p:cNvSpPr>
            <a:spLocks noGrp="1"/>
          </p:cNvSpPr>
          <p:nvPr/>
        </p:nvSpPr>
        <p:spPr>
          <a:xfrm>
            <a:off x="11601450" y="14373225"/>
            <a:ext cx="20878800" cy="695325"/>
          </a:xfrm>
          <a:prstGeom prst="rect">
            <a:avLst/>
          </a:prstGeom>
          <a:noFill/>
          <a:ln w="0">
            <a:noFill/>
          </a:ln>
        </p:spPr>
        <p:txBody>
          <a:bodyPr wrap="square" lIns="0" tIns="0" rIns="0" bIns="0" anchor="t">
            <a:noAutofit/>
          </a:bodyPr>
          <a:lstStyle>
            <a:defPPr algn="l">
              <a:defRPr sz="2025" b="0">
                <a:solidFill>
                  <a:srgbClr val="385466"/>
                </a:solidFill>
                <a:latin typeface="Times New Roman" panose="02020603050405020304"/>
                <a:ea typeface="Times New Roman" panose="02020603050405020304"/>
                <a:cs typeface="Times New Roman" panose="02020603050405020304"/>
              </a:defRPr>
            </a:defPPr>
          </a:lstStyle>
          <a:p>
            <a:pPr algn="l">
              <a:lnSpc>
                <a:spcPct val="108000"/>
              </a:lnSpc>
              <a:buNone/>
              <a:defRPr sz="2025" b="0">
                <a:solidFill>
                  <a:srgbClr val="385466"/>
                </a:solidFill>
                <a:latin typeface="Times New Roman" panose="02020603050405020304"/>
                <a:ea typeface="Times New Roman" panose="02020603050405020304"/>
                <a:cs typeface="Times New Roman" panose="02020603050405020304"/>
              </a:defRPr>
            </a:pPr>
            <a:r>
              <a:rPr sz="2025" b="0">
                <a:solidFill>
                  <a:srgbClr val="385466"/>
                </a:solidFill>
                <a:latin typeface="Times New Roman" panose="02020603050405020304"/>
                <a:ea typeface="Times New Roman" panose="02020603050405020304"/>
                <a:cs typeface="Times New Roman" panose="02020603050405020304"/>
              </a:rPr>
              <a:t>Fig. 3. Ethanol photographs. Pink: extracted boundary. Blue: registered axis. Labels give image-extracted half-angle α and visible height h.</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83" name="photo-findings-bullets"/>
          <p:cNvSpPr>
            <a:spLocks noGrp="1"/>
          </p:cNvSpPr>
          <p:nvPr/>
        </p:nvSpPr>
        <p:spPr>
          <a:xfrm>
            <a:off x="11601450" y="15163800"/>
            <a:ext cx="20878800" cy="1238250"/>
          </a:xfrm>
          <a:prstGeom prst="rect">
            <a:avLst/>
          </a:prstGeom>
          <a:noFill/>
          <a:ln w="0">
            <a:noFill/>
          </a:ln>
        </p:spPr>
        <p:txBody>
          <a:bodyPr wrap="square" lIns="0" tIns="0" rIns="0" bIns="0" anchor="t">
            <a:noAutofit/>
          </a:bodyPr>
          <a:lstStyle/>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Voltage trend</a:t>
            </a:r>
            <a:r>
              <a:rPr b="1">
                <a:solidFill>
                  <a:srgbClr val="0072B5"/>
                </a:solidFill>
              </a:rPr>
              <a:t>:</a:t>
            </a:r>
            <a:r>
              <a:rPr b="1">
                <a:solidFill>
                  <a:srgbClr val="0072B5"/>
                </a:solidFill>
              </a:rPr>
              <a:t> </a:t>
            </a:r>
            <a:r>
              <a:t>From 1.80 to 2.30 kV, the extracted half-angle increases from 22.26° to 41.64° while visible cone height decreases from 301.6 to 147.6 µm.</a:t>
            </a:r>
          </a:p>
          <a:p>
            <a:pPr marL="215900" indent="-127000" algn="l">
              <a:spcAft>
                <a:spcPts val="600"/>
              </a:spcAft>
              <a:buChar char="•"/>
              <a:defRPr sz="2400" b="0">
                <a:solidFill>
                  <a:srgbClr val="171D25"/>
                </a:solidFill>
                <a:latin typeface="Times New Roman" panose="02020603050405020304"/>
                <a:ea typeface="Times New Roman" panose="02020603050405020304"/>
                <a:cs typeface="Times New Roman" panose="02020603050405020304"/>
              </a:defRPr>
            </a:pPr>
            <a:r>
              <a:rPr b="1">
                <a:solidFill>
                  <a:srgbClr val="0072B5"/>
                </a:solidFill>
              </a:rPr>
              <a:t>Consistent measurement</a:t>
            </a:r>
            <a:r>
              <a:rPr b="1">
                <a:solidFill>
                  <a:srgbClr val="0072B5"/>
                </a:solidFill>
              </a:rPr>
              <a:t>:</a:t>
            </a:r>
            <a:r>
              <a:rPr b="1">
                <a:solidFill>
                  <a:srgbClr val="0072B5"/>
                </a:solidFill>
              </a:rPr>
              <a:t> </a:t>
            </a:r>
            <a:r>
              <a:t>A common scale conversion and axis registration make the four profiles quantitatively comparable.</a:t>
            </a:r>
          </a:p>
        </p:txBody>
      </p:sp>
      <p:sp>
        <p:nvSpPr>
          <p:cNvPr id="84" name="results-frame"/>
          <p:cNvSpPr>
            <a:spLocks noGrp="1"/>
          </p:cNvSpPr>
          <p:nvPr/>
        </p:nvSpPr>
        <p:spPr>
          <a:xfrm>
            <a:off x="11315700" y="16516350"/>
            <a:ext cx="21450300" cy="26948130"/>
          </a:xfrm>
          <a:prstGeom prst="roundRect">
            <a:avLst>
              <a:gd name="adj" fmla="val 710"/>
            </a:avLst>
          </a:prstGeom>
          <a:solidFill>
            <a:srgbClr val="F7F9FC"/>
          </a:solidFill>
          <a:ln w="16193">
            <a:solidFill>
              <a:srgbClr val="4E89B9"/>
            </a:solidFill>
            <a:prstDash val="dash"/>
          </a:ln>
        </p:spPr>
      </p:sp>
      <p:sp>
        <p:nvSpPr>
          <p:cNvPr id="85" name="results-header"/>
          <p:cNvSpPr>
            <a:spLocks noGrp="1"/>
          </p:cNvSpPr>
          <p:nvPr/>
        </p:nvSpPr>
        <p:spPr>
          <a:xfrm>
            <a:off x="11315700" y="16516350"/>
            <a:ext cx="2145030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86" name="results-heading"/>
          <p:cNvSpPr>
            <a:spLocks noGrp="1"/>
          </p:cNvSpPr>
          <p:nvPr/>
        </p:nvSpPr>
        <p:spPr>
          <a:xfrm>
            <a:off x="11553825" y="16649700"/>
            <a:ext cx="209740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RESULTS</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87" name="result-title-0"/>
          <p:cNvSpPr>
            <a:spLocks noGrp="1"/>
          </p:cNvSpPr>
          <p:nvPr/>
        </p:nvSpPr>
        <p:spPr>
          <a:xfrm>
            <a:off x="11601450" y="175260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1. Grid convergence</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45" name="result-plot-0"/>
          <p:cNvPicPr>
            <a:picLocks noChangeAspect="1"/>
          </p:cNvPicPr>
          <p:nvPr/>
        </p:nvPicPr>
        <p:blipFill>
          <a:blip r:embed="rId11"/>
          <a:srcRect/>
          <a:stretch>
            <a:fillRect/>
          </a:stretch>
        </p:blipFill>
        <p:spPr>
          <a:xfrm>
            <a:off x="11677650" y="18068925"/>
            <a:ext cx="10067925" cy="3105150"/>
          </a:xfrm>
          <a:prstGeom prst="rect">
            <a:avLst/>
          </a:prstGeom>
        </p:spPr>
      </p:pic>
      <p:sp>
        <p:nvSpPr>
          <p:cNvPr id="89" name="result-cap-0"/>
          <p:cNvSpPr>
            <a:spLocks noGrp="1"/>
          </p:cNvSpPr>
          <p:nvPr/>
        </p:nvSpPr>
        <p:spPr>
          <a:xfrm>
            <a:off x="11601450" y="212598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4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4. Potential error and convergence order.</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90" name="result-0-bullets"/>
          <p:cNvSpPr>
            <a:spLocks noGrp="1"/>
          </p:cNvSpPr>
          <p:nvPr/>
        </p:nvSpPr>
        <p:spPr>
          <a:xfrm>
            <a:off x="11601450" y="218313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Check the regular Poisson solver against a known exact potential.</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FD orders are 2.035, 2.018 and 2.009. Independent Q1 FEM also approaches second order.</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Refinement reduces the error of the regular numerical component.</a:t>
            </a:r>
            <a:endParaRPr b="0">
              <a:solidFill>
                <a:srgbClr val="15212C"/>
              </a:solidFill>
            </a:endParaRPr>
          </a:p>
        </p:txBody>
      </p:sp>
      <p:sp>
        <p:nvSpPr>
          <p:cNvPr id="91" name="result-title-1"/>
          <p:cNvSpPr>
            <a:spLocks noGrp="1"/>
          </p:cNvSpPr>
          <p:nvPr/>
        </p:nvSpPr>
        <p:spPr>
          <a:xfrm>
            <a:off x="22259925" y="175260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2. Curved boundary</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49" name="result-plot-1"/>
          <p:cNvPicPr>
            <a:picLocks noChangeAspect="1"/>
          </p:cNvPicPr>
          <p:nvPr/>
        </p:nvPicPr>
        <p:blipFill>
          <a:blip r:embed="rId12"/>
          <a:srcRect/>
          <a:stretch>
            <a:fillRect/>
          </a:stretch>
        </p:blipFill>
        <p:spPr>
          <a:xfrm>
            <a:off x="22336125" y="18068925"/>
            <a:ext cx="10067925" cy="3105150"/>
          </a:xfrm>
          <a:prstGeom prst="rect">
            <a:avLst/>
          </a:prstGeom>
        </p:spPr>
      </p:pic>
      <p:sp>
        <p:nvSpPr>
          <p:cNvPr id="93" name="result-cap-1"/>
          <p:cNvSpPr>
            <a:spLocks noGrp="1"/>
          </p:cNvSpPr>
          <p:nvPr/>
        </p:nvSpPr>
        <p:spPr>
          <a:xfrm>
            <a:off x="22259925" y="212598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8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5. Potential changes between successive grids.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94" name="result-1-bullets"/>
          <p:cNvSpPr>
            <a:spLocks noGrp="1"/>
          </p:cNvSpPr>
          <p:nvPr/>
        </p:nvSpPr>
        <p:spPr>
          <a:xfrm>
            <a:off x="22259925" y="218313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Compare successive grids at the same 56 gas-side sampling points.</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Immersed-boundary potential changes decrease with refinement. Staircase changes vary more strongly.</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Boundary representation affects the stability of the refinement trend.</a:t>
            </a:r>
            <a:endParaRPr b="0">
              <a:solidFill>
                <a:srgbClr val="15212C"/>
              </a:solidFill>
            </a:endParaRPr>
          </a:p>
        </p:txBody>
      </p:sp>
      <p:sp>
        <p:nvSpPr>
          <p:cNvPr id="95" name="result-title-2"/>
          <p:cNvSpPr>
            <a:spLocks noGrp="1"/>
          </p:cNvSpPr>
          <p:nvPr/>
        </p:nvSpPr>
        <p:spPr>
          <a:xfrm>
            <a:off x="11601450" y="239649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3. FD–FEM agreement</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53" name="result-plot-2"/>
          <p:cNvPicPr>
            <a:picLocks noChangeAspect="1"/>
          </p:cNvPicPr>
          <p:nvPr/>
        </p:nvPicPr>
        <p:blipFill>
          <a:blip r:embed="rId13"/>
          <a:srcRect b="50000"/>
          <a:stretch>
            <a:fillRect/>
          </a:stretch>
        </p:blipFill>
        <p:spPr>
          <a:xfrm>
            <a:off x="11677650" y="24507825"/>
            <a:ext cx="10067925" cy="3105150"/>
          </a:xfrm>
          <a:prstGeom prst="rect">
            <a:avLst/>
          </a:prstGeom>
        </p:spPr>
      </p:pic>
      <p:sp>
        <p:nvSpPr>
          <p:cNvPr id="97" name="result-cap-2"/>
          <p:cNvSpPr>
            <a:spLocks noGrp="1"/>
          </p:cNvSpPr>
          <p:nvPr/>
        </p:nvSpPr>
        <p:spPr>
          <a:xfrm>
            <a:off x="11601450" y="276987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4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6. Potential differences and normal electric field.</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98" name="result-2-bullets"/>
          <p:cNvSpPr>
            <a:spLocks noGrp="1"/>
          </p:cNvSpPr>
          <p:nvPr/>
        </p:nvSpPr>
        <p:spPr>
          <a:xfrm>
            <a:off x="11601450" y="282702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Cross-check two independent solvers on the same fixed rounded cone.</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Finest RMS differences are 0.024% in potential and 0.226% in the vector field.</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Agreement extends from gas-point potential to the interface normal field.</a:t>
            </a:r>
            <a:endParaRPr b="0">
              <a:solidFill>
                <a:srgbClr val="15212C"/>
              </a:solidFill>
            </a:endParaRPr>
          </a:p>
        </p:txBody>
      </p:sp>
      <p:sp>
        <p:nvSpPr>
          <p:cNvPr id="99" name="result-title-3"/>
          <p:cNvSpPr>
            <a:spLocks noGrp="1"/>
          </p:cNvSpPr>
          <p:nvPr/>
        </p:nvSpPr>
        <p:spPr>
          <a:xfrm>
            <a:off x="22259925" y="239649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4. Angle sensitivity</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57" name="result-plot-3"/>
          <p:cNvPicPr>
            <a:picLocks noChangeAspect="1"/>
          </p:cNvPicPr>
          <p:nvPr/>
        </p:nvPicPr>
        <p:blipFill>
          <a:blip r:embed="rId14"/>
          <a:srcRect/>
          <a:stretch>
            <a:fillRect/>
          </a:stretch>
        </p:blipFill>
        <p:spPr>
          <a:xfrm>
            <a:off x="22336125" y="24507825"/>
            <a:ext cx="10067925" cy="3105150"/>
          </a:xfrm>
          <a:prstGeom prst="rect">
            <a:avLst/>
          </a:prstGeom>
        </p:spPr>
      </p:pic>
      <p:sp>
        <p:nvSpPr>
          <p:cNvPr id="101" name="result-cap-3"/>
          <p:cNvSpPr>
            <a:spLocks noGrp="1"/>
          </p:cNvSpPr>
          <p:nvPr/>
        </p:nvSpPr>
        <p:spPr>
          <a:xfrm>
            <a:off x="22259925" y="276987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4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7. Residual landscape and field exponent.</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02" name="result-3-bullets"/>
          <p:cNvSpPr>
            <a:spLocks noGrp="1"/>
          </p:cNvSpPr>
          <p:nvPr/>
        </p:nvSpPr>
        <p:spPr>
          <a:xfrm>
            <a:off x="22259925" y="282702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Vary grid, domain, tip rounding, fitting window and outer boundary.</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Residual minima shift. With Taylor far-field data, exponent crossings lie at 49.067°–49.176°.</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The exponent diagnostic is more stable than the residual-minimizing angle in these tests.</a:t>
            </a:r>
            <a:endParaRPr b="0">
              <a:solidFill>
                <a:srgbClr val="15212C"/>
              </a:solidFill>
            </a:endParaRPr>
          </a:p>
        </p:txBody>
      </p:sp>
      <p:sp>
        <p:nvSpPr>
          <p:cNvPr id="103" name="result-title-4"/>
          <p:cNvSpPr>
            <a:spLocks noGrp="1"/>
          </p:cNvSpPr>
          <p:nvPr/>
        </p:nvSpPr>
        <p:spPr>
          <a:xfrm>
            <a:off x="11601450" y="304038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5. Synthetic measurement</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61" name="result-plot-4"/>
          <p:cNvPicPr>
            <a:picLocks noChangeAspect="1"/>
          </p:cNvPicPr>
          <p:nvPr/>
        </p:nvPicPr>
        <p:blipFill>
          <a:blip r:embed="rId15"/>
          <a:srcRect/>
          <a:stretch>
            <a:fillRect/>
          </a:stretch>
        </p:blipFill>
        <p:spPr>
          <a:xfrm>
            <a:off x="11677650" y="30946725"/>
            <a:ext cx="10067925" cy="3105150"/>
          </a:xfrm>
          <a:prstGeom prst="rect">
            <a:avLst/>
          </a:prstGeom>
        </p:spPr>
      </p:pic>
      <p:sp>
        <p:nvSpPr>
          <p:cNvPr id="105" name="result-cap-4"/>
          <p:cNvSpPr>
            <a:spLocks noGrp="1"/>
          </p:cNvSpPr>
          <p:nvPr/>
        </p:nvSpPr>
        <p:spPr>
          <a:xfrm>
            <a:off x="11601450" y="341376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4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8. Half-angle and profile errors in 108 images.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06" name="result-4-bullets"/>
          <p:cNvSpPr>
            <a:spLocks noGrp="1"/>
          </p:cNvSpPr>
          <p:nvPr/>
        </p:nvSpPr>
        <p:spPr>
          <a:xfrm>
            <a:off x="11601450" y="347091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Test known cone silhouettes with varied length, rotation and blur/noise.</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All 108 cases meet the 1° angle and 2% profile limits. Maxima are 0.299° and 1.406%.</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The registered image pipeline recovers the prescribed geometry across the tested cases.</a:t>
            </a:r>
            <a:endParaRPr b="0">
              <a:solidFill>
                <a:srgbClr val="15212C"/>
              </a:solidFill>
            </a:endParaRPr>
          </a:p>
        </p:txBody>
      </p:sp>
      <p:sp>
        <p:nvSpPr>
          <p:cNvPr id="107" name="result-title-5"/>
          <p:cNvSpPr>
            <a:spLocks noGrp="1"/>
          </p:cNvSpPr>
          <p:nvPr/>
        </p:nvSpPr>
        <p:spPr>
          <a:xfrm>
            <a:off x="22259925" y="304038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6. Experimental angles</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65" name="result-plot-5"/>
          <p:cNvPicPr>
            <a:picLocks noChangeAspect="1"/>
          </p:cNvPicPr>
          <p:nvPr/>
        </p:nvPicPr>
        <p:blipFill>
          <a:blip r:embed="rId16"/>
          <a:srcRect/>
          <a:stretch>
            <a:fillRect/>
          </a:stretch>
        </p:blipFill>
        <p:spPr>
          <a:xfrm>
            <a:off x="22336125" y="30946725"/>
            <a:ext cx="10067925" cy="3105150"/>
          </a:xfrm>
          <a:prstGeom prst="rect">
            <a:avLst/>
          </a:prstGeom>
        </p:spPr>
      </p:pic>
      <p:sp>
        <p:nvSpPr>
          <p:cNvPr id="109" name="result-cap-5"/>
          <p:cNvSpPr>
            <a:spLocks noGrp="1"/>
          </p:cNvSpPr>
          <p:nvPr/>
        </p:nvSpPr>
        <p:spPr>
          <a:xfrm>
            <a:off x="22259925" y="341376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8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9. Image-extracted and reported half-angles.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10" name="result-5-bullets"/>
          <p:cNvSpPr>
            <a:spLocks noGrp="1"/>
          </p:cNvSpPr>
          <p:nvPr/>
        </p:nvSpPr>
        <p:spPr>
          <a:xfrm>
            <a:off x="22259925" y="347091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Pair photographs with reported markers at 1.80, 1.95 and 2.10 kV.</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Mean absolute angle difference is 1.337° and the maximum is 1.970°.</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The two measurement sources show a consistent increase of half-angle with voltage.</a:t>
            </a:r>
            <a:endParaRPr b="0">
              <a:solidFill>
                <a:srgbClr val="15212C"/>
              </a:solidFill>
            </a:endParaRPr>
          </a:p>
        </p:txBody>
      </p:sp>
      <p:sp>
        <p:nvSpPr>
          <p:cNvPr id="111" name="result-title-6"/>
          <p:cNvSpPr>
            <a:spLocks noGrp="1"/>
          </p:cNvSpPr>
          <p:nvPr/>
        </p:nvSpPr>
        <p:spPr>
          <a:xfrm>
            <a:off x="11601450" y="368427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7. Extraction sensitivity</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69" name="result-plot-6"/>
          <p:cNvPicPr>
            <a:picLocks noChangeAspect="1"/>
          </p:cNvPicPr>
          <p:nvPr/>
        </p:nvPicPr>
        <p:blipFill>
          <a:blip r:embed="rId17"/>
          <a:srcRect/>
          <a:stretch>
            <a:fillRect/>
          </a:stretch>
        </p:blipFill>
        <p:spPr>
          <a:xfrm>
            <a:off x="11677650" y="37385625"/>
            <a:ext cx="10067925" cy="3105150"/>
          </a:xfrm>
          <a:prstGeom prst="rect">
            <a:avLst/>
          </a:prstGeom>
        </p:spPr>
      </p:pic>
      <p:sp>
        <p:nvSpPr>
          <p:cNvPr id="113" name="result-cap-6"/>
          <p:cNvSpPr>
            <a:spLocks noGrp="1"/>
          </p:cNvSpPr>
          <p:nvPr/>
        </p:nvSpPr>
        <p:spPr>
          <a:xfrm>
            <a:off x="11601450" y="405765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8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10. Threshold sensitivity and flank-fit residuals.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14" name="result-6-bullets"/>
          <p:cNvSpPr>
            <a:spLocks noGrp="1"/>
          </p:cNvSpPr>
          <p:nvPr/>
        </p:nvSpPr>
        <p:spPr>
          <a:xfrm>
            <a:off x="11601450" y="411480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Repeat extraction with intensity thresholds 90, 110 and 130.</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The largest angle range at matched voltages is 0.204°. Flank-fit RMS quantifies contour straightness.</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The angle trend persists across the tested segmentation thresholds.</a:t>
            </a:r>
            <a:endParaRPr b="0">
              <a:solidFill>
                <a:srgbClr val="15212C"/>
              </a:solidFill>
            </a:endParaRPr>
          </a:p>
        </p:txBody>
      </p:sp>
      <p:sp>
        <p:nvSpPr>
          <p:cNvPr id="115" name="result-title-7"/>
          <p:cNvSpPr>
            <a:spLocks noGrp="1"/>
          </p:cNvSpPr>
          <p:nvPr/>
        </p:nvSpPr>
        <p:spPr>
          <a:xfrm>
            <a:off x="22259925" y="36842700"/>
            <a:ext cx="10220325" cy="466725"/>
          </a:xfrm>
          <a:prstGeom prst="rect">
            <a:avLst/>
          </a:prstGeom>
          <a:noFill/>
          <a:ln w="0">
            <a:noFill/>
          </a:ln>
        </p:spPr>
        <p:txBody>
          <a:bodyPr wrap="square" lIns="0" tIns="0" rIns="0" bIns="0" anchor="t">
            <a:noAutofit/>
          </a:bodyPr>
          <a:lstStyle>
            <a:defPPr algn="l">
              <a:defRPr sz="2700" b="1" u="sng">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700" b="1" u="sng">
                <a:solidFill>
                  <a:srgbClr val="086EAD"/>
                </a:solidFill>
                <a:latin typeface="Times New Roman" panose="02020603050405020304"/>
                <a:ea typeface="Times New Roman" panose="02020603050405020304"/>
                <a:cs typeface="Times New Roman" panose="02020603050405020304"/>
              </a:defRPr>
            </a:pPr>
            <a:r>
              <a:rPr sz="2700" b="1" u="sng">
                <a:solidFill>
                  <a:srgbClr val="086EAD"/>
                </a:solidFill>
                <a:latin typeface="Times New Roman" panose="02020603050405020304"/>
                <a:ea typeface="Times New Roman" panose="02020603050405020304"/>
                <a:cs typeface="Times New Roman" panose="02020603050405020304"/>
              </a:rPr>
              <a:t>8. Field and balance checks</a:t>
            </a:r>
            <a:endParaRPr sz="2800" b="1">
              <a:solidFill>
                <a:srgbClr val="0072B5"/>
              </a:solidFill>
              <a:latin typeface="Times New Roman" panose="02020603050405020304"/>
              <a:ea typeface="Times New Roman" panose="02020603050405020304"/>
              <a:cs typeface="Times New Roman" panose="02020603050405020304"/>
            </a:endParaRPr>
          </a:p>
        </p:txBody>
      </p:sp>
      <p:pic>
        <p:nvPicPr>
          <p:cNvPr id="273" name="result-plot-7"/>
          <p:cNvPicPr>
            <a:picLocks noChangeAspect="1"/>
          </p:cNvPicPr>
          <p:nvPr/>
        </p:nvPicPr>
        <p:blipFill>
          <a:blip r:embed="rId18"/>
          <a:srcRect/>
          <a:stretch>
            <a:fillRect/>
          </a:stretch>
        </p:blipFill>
        <p:spPr>
          <a:xfrm>
            <a:off x="22336125" y="37385625"/>
            <a:ext cx="10067925" cy="3105150"/>
          </a:xfrm>
          <a:prstGeom prst="rect">
            <a:avLst/>
          </a:prstGeom>
        </p:spPr>
      </p:pic>
      <p:sp>
        <p:nvSpPr>
          <p:cNvPr id="117" name="result-cap-7"/>
          <p:cNvSpPr>
            <a:spLocks noGrp="1"/>
          </p:cNvSpPr>
          <p:nvPr/>
        </p:nvSpPr>
        <p:spPr>
          <a:xfrm>
            <a:off x="22259925" y="40576500"/>
            <a:ext cx="10220325" cy="466725"/>
          </a:xfrm>
          <a:prstGeom prst="rect">
            <a:avLst/>
          </a:prstGeom>
          <a:noFill/>
          <a:ln w="0">
            <a:noFill/>
          </a:ln>
        </p:spPr>
        <p:txBody>
          <a:bodyPr wrap="square" lIns="0" tIns="0" rIns="0" bIns="0" anchor="t">
            <a:noAutofit/>
          </a:bodyPr>
          <a:lstStyle>
            <a:defPPr algn="ctr">
              <a:defRPr sz="1950" b="0">
                <a:solidFill>
                  <a:srgbClr val="395668"/>
                </a:solidFill>
                <a:latin typeface="Times New Roman" panose="02020603050405020304"/>
                <a:ea typeface="Times New Roman" panose="02020603050405020304"/>
                <a:cs typeface="Times New Roman" panose="02020603050405020304"/>
              </a:defRPr>
            </a:defPPr>
          </a:lstStyle>
          <a:p>
            <a:pPr algn="ctr">
              <a:lnSpc>
                <a:spcPct val="108000"/>
              </a:lnSpc>
              <a:buNone/>
              <a:defRPr sz="1950" b="0">
                <a:solidFill>
                  <a:srgbClr val="395668"/>
                </a:solidFill>
                <a:latin typeface="Times New Roman" panose="02020603050405020304"/>
                <a:ea typeface="Times New Roman" panose="02020603050405020304"/>
                <a:cs typeface="Times New Roman" panose="02020603050405020304"/>
              </a:defRPr>
            </a:pPr>
            <a:r>
              <a:rPr sz="1950" b="0">
                <a:solidFill>
                  <a:srgbClr val="395668"/>
                </a:solidFill>
                <a:latin typeface="Times New Roman" panose="02020603050405020304"/>
                <a:ea typeface="Times New Roman" panose="02020603050405020304"/>
                <a:cs typeface="Times New Roman" panose="02020603050405020304"/>
              </a:rPr>
              <a:t>Fig. 11. Sphere reference and fixed-pressure diagnosis.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18" name="result-7-bullets"/>
          <p:cNvSpPr>
            <a:spLocks noGrp="1"/>
          </p:cNvSpPr>
          <p:nvPr/>
        </p:nvSpPr>
        <p:spPr>
          <a:xfrm>
            <a:off x="22259925" y="41148000"/>
            <a:ext cx="10220325" cy="1914525"/>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Purpose. </a:t>
            </a:r>
            <a:r>
              <a:rPr b="0">
                <a:solidFill>
                  <a:srgbClr val="15212C"/>
                </a:solidFill>
              </a:rPr>
              <a:t>Check the field against a sphere solution, then vary numerical settings.</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Result. </a:t>
            </a:r>
            <a:r>
              <a:rPr b="0">
                <a:solidFill>
                  <a:srgbClr val="15212C"/>
                </a:solidFill>
              </a:rPr>
              <a:t>Field error falls with refinement. Pressure fixed at 1.72 kV leaves systematic residuals at higher voltages.</a:t>
            </a:r>
            <a:endParaRPr b="0">
              <a:solidFill>
                <a:srgbClr val="15212C"/>
              </a:solidFill>
            </a:endParaRPr>
          </a:p>
          <a:p>
            <a:pPr marL="228600" indent="-127000" algn="l">
              <a:spcAft>
                <a:spcPts val="280"/>
              </a:spcAft>
              <a:buChar char="•"/>
              <a:defRPr sz="2325"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Meaning. </a:t>
            </a:r>
            <a:r>
              <a:rPr b="0">
                <a:solidFill>
                  <a:srgbClr val="15212C"/>
                </a:solidFill>
              </a:rPr>
              <a:t>The constant-pressure mismatch persists across the tested grids and geometries.</a:t>
            </a:r>
            <a:endParaRPr b="0">
              <a:solidFill>
                <a:srgbClr val="15212C"/>
              </a:solidFill>
            </a:endParaRPr>
          </a:p>
        </p:txBody>
      </p:sp>
      <p:sp>
        <p:nvSpPr>
          <p:cNvPr id="119" name="stress-frame"/>
          <p:cNvSpPr>
            <a:spLocks noGrp="1"/>
          </p:cNvSpPr>
          <p:nvPr/>
        </p:nvSpPr>
        <p:spPr>
          <a:xfrm>
            <a:off x="32899350" y="95250"/>
            <a:ext cx="10565130" cy="8286750"/>
          </a:xfrm>
          <a:prstGeom prst="roundRect">
            <a:avLst>
              <a:gd name="adj" fmla="val 1495"/>
            </a:avLst>
          </a:prstGeom>
          <a:solidFill>
            <a:srgbClr val="F7F9FC"/>
          </a:solidFill>
          <a:ln w="16193">
            <a:solidFill>
              <a:srgbClr val="4E89B9"/>
            </a:solidFill>
            <a:prstDash val="dash"/>
          </a:ln>
        </p:spPr>
      </p:sp>
      <p:sp>
        <p:nvSpPr>
          <p:cNvPr id="120" name="stress-header"/>
          <p:cNvSpPr>
            <a:spLocks noGrp="1"/>
          </p:cNvSpPr>
          <p:nvPr/>
        </p:nvSpPr>
        <p:spPr>
          <a:xfrm>
            <a:off x="32899350" y="95250"/>
            <a:ext cx="1056513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121" name="stress-heading"/>
          <p:cNvSpPr>
            <a:spLocks noGrp="1"/>
          </p:cNvSpPr>
          <p:nvPr/>
        </p:nvSpPr>
        <p:spPr>
          <a:xfrm>
            <a:off x="33137475" y="190500"/>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FIELD AND STRESS</a:t>
            </a:r>
            <a:endParaRPr sz="3800" b="1">
              <a:solidFill>
                <a:srgbClr val="FFFFFF"/>
              </a:solidFill>
              <a:latin typeface="Times New Roman" panose="02020603050405020304"/>
              <a:ea typeface="Times New Roman" panose="02020603050405020304"/>
              <a:cs typeface="Times New Roman" panose="02020603050405020304"/>
            </a:endParaRPr>
          </a:p>
        </p:txBody>
      </p:sp>
      <p:pic>
        <p:nvPicPr>
          <p:cNvPr id="280" name="stress-pair"/>
          <p:cNvPicPr>
            <a:picLocks noChangeAspect="1"/>
          </p:cNvPicPr>
          <p:nvPr/>
        </p:nvPicPr>
        <p:blipFill>
          <a:blip r:embed="rId13"/>
          <a:srcRect t="50100"/>
          <a:stretch>
            <a:fillRect/>
          </a:stretch>
        </p:blipFill>
        <p:spPr>
          <a:xfrm>
            <a:off x="33289875" y="3952875"/>
            <a:ext cx="9791700" cy="2495550"/>
          </a:xfrm>
          <a:prstGeom prst="rect">
            <a:avLst/>
          </a:prstGeom>
        </p:spPr>
      </p:pic>
      <p:sp>
        <p:nvSpPr>
          <p:cNvPr id="124" name="stress-caption"/>
          <p:cNvSpPr>
            <a:spLocks noGrp="1"/>
          </p:cNvSpPr>
          <p:nvPr/>
        </p:nvSpPr>
        <p:spPr>
          <a:xfrm>
            <a:off x="33185100" y="6515100"/>
            <a:ext cx="9993630" cy="419100"/>
          </a:xfrm>
          <a:prstGeom prst="rect">
            <a:avLst/>
          </a:prstGeom>
          <a:noFill/>
          <a:ln w="0">
            <a:noFill/>
          </a:ln>
        </p:spPr>
        <p:txBody>
          <a:bodyPr wrap="square" lIns="0" tIns="0" rIns="0" bIns="0" anchor="t">
            <a:noAutofit/>
          </a:bodyPr>
          <a:lstStyle>
            <a:defPPr algn="ctr">
              <a:defRPr sz="1875"/>
            </a:defPPr>
          </a:lstStyle>
          <a:p>
            <a:pPr algn="ctr">
              <a:lnSpc>
                <a:spcPct val="104000"/>
              </a:lnSpc>
              <a:buNone/>
              <a:defRPr sz="1875" b="0">
                <a:solidFill>
                  <a:srgbClr val="385466"/>
                </a:solidFill>
                <a:latin typeface="Times New Roman" panose="02020603050405020304"/>
                <a:ea typeface="Times New Roman" panose="02020603050405020304"/>
                <a:cs typeface="Times New Roman" panose="02020603050405020304"/>
              </a:defRPr>
            </a:pPr>
            <a:r>
              <a:rPr sz="1875" b="0">
                <a:solidFill>
                  <a:srgbClr val="385466"/>
                </a:solidFill>
                <a:latin typeface="Times New Roman" panose="02020603050405020304"/>
                <a:ea typeface="Times New Roman" panose="02020603050405020304"/>
                <a:cs typeface="Times New Roman" panose="02020603050405020304"/>
              </a:rPr>
              <a:t>Fig. 12. Maxwell pressure and projected stress comparison.</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25" name="stress-detail-bullets"/>
          <p:cNvSpPr>
            <a:spLocks noGrp="1"/>
          </p:cNvSpPr>
          <p:nvPr/>
        </p:nvSpPr>
        <p:spPr>
          <a:xfrm>
            <a:off x="33185100" y="7019925"/>
            <a:ext cx="9993630" cy="1266825"/>
          </a:xfrm>
          <a:prstGeom prst="rect">
            <a:avLst/>
          </a:prstGeom>
          <a:noFill/>
          <a:ln w="0">
            <a:noFill/>
          </a:ln>
        </p:spPr>
        <p:txBody>
          <a:bodyPr wrap="square" lIns="0" tIns="0" rIns="0" bIns="0" anchor="t">
            <a:noAutofit/>
          </a:bodyPr>
          <a:lstStyle>
            <a:defPPr algn="l">
              <a:defRPr sz="2100"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Matched conditions. </a:t>
            </a:r>
            <a:r>
              <a:rPr sz="2100" b="0">
                <a:solidFill>
                  <a:srgbClr val="15212C"/>
                </a:solidFill>
              </a:rPr>
              <a:t>Both methods share geometry, voltage, material constants and sampling locations.</a:t>
            </a:r>
            <a:endParaRPr sz="2100" b="0">
              <a:solidFill>
                <a:srgbClr val="15212C"/>
              </a:solidFill>
            </a:endParaRPr>
          </a:p>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Stress agreement. </a:t>
            </a:r>
            <a:r>
              <a:rPr sz="2100" b="0">
                <a:solidFill>
                  <a:srgbClr val="15212C"/>
                </a:solidFill>
              </a:rPr>
              <a:t>Electric pressure follows ½ε</a:t>
            </a:r>
            <a:r>
              <a:rPr lang="en-US" altLang="zh-CN" sz="2100" b="0">
                <a:solidFill>
                  <a:srgbClr val="15212C"/>
                </a:solidFill>
              </a:rPr>
              <a:t>En².</a:t>
            </a:r>
            <a:r>
              <a:rPr sz="2100" b="0">
                <a:solidFill>
                  <a:srgbClr val="15212C"/>
                </a:solidFill>
              </a:rPr>
              <a:t> The finest-grid Maxwell-pressure RMS difference is 0.817%.</a:t>
            </a:r>
            <a:endParaRPr sz="2100" b="0">
              <a:solidFill>
                <a:srgbClr val="15212C"/>
              </a:solidFill>
            </a:endParaRPr>
          </a:p>
        </p:txBody>
      </p:sp>
      <p:sp>
        <p:nvSpPr>
          <p:cNvPr id="126" name="measurement-frame"/>
          <p:cNvSpPr>
            <a:spLocks noGrp="1"/>
          </p:cNvSpPr>
          <p:nvPr/>
        </p:nvSpPr>
        <p:spPr>
          <a:xfrm>
            <a:off x="32899350" y="8515350"/>
            <a:ext cx="10565130" cy="8096250"/>
          </a:xfrm>
          <a:prstGeom prst="roundRect">
            <a:avLst>
              <a:gd name="adj" fmla="val 1455"/>
            </a:avLst>
          </a:prstGeom>
          <a:solidFill>
            <a:srgbClr val="F7F9FC"/>
          </a:solidFill>
          <a:ln w="16193">
            <a:solidFill>
              <a:srgbClr val="4E89B9"/>
            </a:solidFill>
            <a:prstDash val="dash"/>
          </a:ln>
        </p:spPr>
      </p:sp>
      <p:sp>
        <p:nvSpPr>
          <p:cNvPr id="127" name="measurement-header"/>
          <p:cNvSpPr>
            <a:spLocks noGrp="1"/>
          </p:cNvSpPr>
          <p:nvPr/>
        </p:nvSpPr>
        <p:spPr>
          <a:xfrm>
            <a:off x="32899350" y="8515350"/>
            <a:ext cx="1056513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128" name="measurement-heading"/>
          <p:cNvSpPr>
            <a:spLocks noGrp="1"/>
          </p:cNvSpPr>
          <p:nvPr/>
        </p:nvSpPr>
        <p:spPr>
          <a:xfrm>
            <a:off x="33137475" y="8610600"/>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IMAGE MEASUREMENT</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29" name="measurement-steps-bullets"/>
          <p:cNvSpPr>
            <a:spLocks noGrp="1"/>
          </p:cNvSpPr>
          <p:nvPr/>
        </p:nvSpPr>
        <p:spPr>
          <a:xfrm>
            <a:off x="33185100" y="9486900"/>
            <a:ext cx="9993630" cy="1619250"/>
          </a:xfrm>
          <a:prstGeom prst="rect">
            <a:avLst/>
          </a:prstGeom>
          <a:noFill/>
          <a:ln w="0">
            <a:noFill/>
          </a:ln>
        </p:spPr>
        <p:txBody>
          <a:bodyPr wrap="square" lIns="0" tIns="0" rIns="0" bIns="0" anchor="t">
            <a:noAutofit/>
          </a:bodyPr>
          <a:lstStyle>
            <a:defPPr algn="l">
              <a:defRPr sz="217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sz="2175" b="1">
                <a:solidFill>
                  <a:srgbClr val="086EAD"/>
                </a:solidFill>
              </a:rPr>
              <a:t>Scale and axis. </a:t>
            </a:r>
            <a:r>
              <a:rPr sz="2175" b="0">
                <a:solidFill>
                  <a:srgbClr val="15212C"/>
                </a:solidFill>
              </a:rPr>
              <a:t>Read the 300 µm scale bar and register the needle centreline.</a:t>
            </a:r>
            <a:endParaRPr sz="2175" b="0">
              <a:solidFill>
                <a:srgbClr val="15212C"/>
              </a:solidFill>
            </a:endParaRPr>
          </a:p>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sz="2175" b="1">
                <a:solidFill>
                  <a:srgbClr val="086EAD"/>
                </a:solidFill>
              </a:rPr>
              <a:t>Boundary and fit. </a:t>
            </a:r>
            <a:r>
              <a:rPr sz="2175" b="0">
                <a:solidFill>
                  <a:srgbClr val="15212C"/>
                </a:solidFill>
              </a:rPr>
              <a:t>Extract both sides, select the flank window and fit the half-angle.</a:t>
            </a:r>
            <a:endParaRPr sz="2175" b="0">
              <a:solidFill>
                <a:srgbClr val="15212C"/>
              </a:solidFill>
            </a:endParaRPr>
          </a:p>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sz="2175" b="1">
                <a:solidFill>
                  <a:srgbClr val="086EAD"/>
                </a:solidFill>
              </a:rPr>
              <a:t>Profile alignment. </a:t>
            </a:r>
            <a:r>
              <a:rPr sz="2175" b="0">
                <a:solidFill>
                  <a:srgbClr val="15212C"/>
                </a:solidFill>
              </a:rPr>
              <a:t>Use the fitted flank intersection as the virtual tip.</a:t>
            </a:r>
            <a:endParaRPr sz="2175" b="0">
              <a:solidFill>
                <a:srgbClr val="15212C"/>
              </a:solidFill>
            </a:endParaRPr>
          </a:p>
        </p:txBody>
      </p:sp>
      <p:pic>
        <p:nvPicPr>
          <p:cNvPr id="287" name="profiles-pair"/>
          <p:cNvPicPr>
            <a:picLocks noChangeAspect="1"/>
          </p:cNvPicPr>
          <p:nvPr/>
        </p:nvPicPr>
        <p:blipFill>
          <a:blip r:embed="rId19"/>
          <a:srcRect/>
          <a:stretch>
            <a:fillRect/>
          </a:stretch>
        </p:blipFill>
        <p:spPr>
          <a:xfrm>
            <a:off x="33185100" y="11239500"/>
            <a:ext cx="9993630" cy="2857500"/>
          </a:xfrm>
          <a:prstGeom prst="rect">
            <a:avLst/>
          </a:prstGeom>
        </p:spPr>
      </p:pic>
      <p:sp>
        <p:nvSpPr>
          <p:cNvPr id="131" name="profiles-caption"/>
          <p:cNvSpPr>
            <a:spLocks noGrp="1"/>
          </p:cNvSpPr>
          <p:nvPr/>
        </p:nvSpPr>
        <p:spPr>
          <a:xfrm>
            <a:off x="33185100" y="14192250"/>
            <a:ext cx="9993630" cy="419100"/>
          </a:xfrm>
          <a:prstGeom prst="rect">
            <a:avLst/>
          </a:prstGeom>
          <a:noFill/>
          <a:ln w="0">
            <a:noFill/>
          </a:ln>
        </p:spPr>
        <p:txBody>
          <a:bodyPr wrap="square" lIns="0" tIns="0" rIns="0" bIns="0" anchor="t">
            <a:noAutofit/>
          </a:bodyPr>
          <a:lstStyle>
            <a:defPPr algn="ctr">
              <a:defRPr sz="1875" b="0">
                <a:solidFill>
                  <a:srgbClr val="385466"/>
                </a:solidFill>
                <a:latin typeface="Times New Roman" panose="02020603050405020304"/>
                <a:ea typeface="Times New Roman" panose="02020603050405020304"/>
                <a:cs typeface="Times New Roman" panose="02020603050405020304"/>
              </a:defRPr>
            </a:defPPr>
          </a:lstStyle>
          <a:p>
            <a:pPr algn="ctr">
              <a:lnSpc>
                <a:spcPct val="108000"/>
              </a:lnSpc>
              <a:buNone/>
              <a:defRPr sz="1875" b="0">
                <a:solidFill>
                  <a:srgbClr val="385466"/>
                </a:solidFill>
                <a:latin typeface="Times New Roman" panose="02020603050405020304"/>
                <a:ea typeface="Times New Roman" panose="02020603050405020304"/>
                <a:cs typeface="Times New Roman" panose="02020603050405020304"/>
              </a:defRPr>
            </a:pPr>
            <a:r>
              <a:rPr sz="1875" b="0">
                <a:solidFill>
                  <a:srgbClr val="385466"/>
                </a:solidFill>
                <a:latin typeface="Times New Roman" panose="02020603050405020304"/>
                <a:ea typeface="Times New Roman" panose="02020603050405020304"/>
                <a:cs typeface="Times New Roman" panose="02020603050405020304"/>
              </a:rPr>
              <a:t>Fig. 13. Tip-aligned profiles and extracted cone heights.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32" name="measurement-findings-bullets"/>
          <p:cNvSpPr>
            <a:spLocks noGrp="1"/>
          </p:cNvSpPr>
          <p:nvPr/>
        </p:nvSpPr>
        <p:spPr>
          <a:xfrm>
            <a:off x="33185100" y="14658975"/>
            <a:ext cx="9993630" cy="1847850"/>
          </a:xfrm>
          <a:prstGeom prst="rect">
            <a:avLst/>
          </a:prstGeom>
          <a:noFill/>
          <a:ln w="0">
            <a:noFill/>
          </a:ln>
        </p:spPr>
        <p:txBody>
          <a:bodyPr wrap="square" lIns="0" tIns="0" rIns="0" bIns="0" anchor="t">
            <a:noAutofit/>
          </a:bodyPr>
          <a:lstStyle>
            <a:defPPr algn="l">
              <a:defRPr sz="2100"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Shape change. </a:t>
            </a:r>
            <a:r>
              <a:rPr sz="2100" b="0">
                <a:solidFill>
                  <a:srgbClr val="15212C"/>
                </a:solidFill>
              </a:rPr>
              <a:t>Cone height decreases as the extracted half-angle increases across the four photographs.</a:t>
            </a:r>
            <a:endParaRPr sz="2100" b="0">
              <a:solidFill>
                <a:srgbClr val="15212C"/>
              </a:solidFill>
            </a:endParaRPr>
          </a:p>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Sensitivity. </a:t>
            </a:r>
            <a:r>
              <a:rPr sz="2100" b="0">
                <a:solidFill>
                  <a:srgbClr val="15212C"/>
                </a:solidFill>
              </a:rPr>
              <a:t>Threshold changes give at most a 0.204° angle range at the three matched voltages.</a:t>
            </a:r>
            <a:endParaRPr sz="2100" b="0">
              <a:solidFill>
                <a:srgbClr val="15212C"/>
              </a:solidFill>
            </a:endParaRPr>
          </a:p>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Metric. </a:t>
            </a:r>
            <a:r>
              <a:rPr sz="2100" b="0">
                <a:solidFill>
                  <a:srgbClr val="15212C"/>
                </a:solidFill>
              </a:rPr>
              <a:t>Synthetic profile nRMSE divides radial RMS error by the reference cone length.</a:t>
            </a:r>
            <a:endParaRPr sz="2100" b="0">
              <a:solidFill>
                <a:srgbClr val="15212C"/>
              </a:solidFill>
            </a:endParaRPr>
          </a:p>
        </p:txBody>
      </p:sp>
      <p:sp>
        <p:nvSpPr>
          <p:cNvPr id="133" name="parameter-frame"/>
          <p:cNvSpPr>
            <a:spLocks noGrp="1"/>
          </p:cNvSpPr>
          <p:nvPr/>
        </p:nvSpPr>
        <p:spPr>
          <a:xfrm>
            <a:off x="32899350" y="16744950"/>
            <a:ext cx="10565130" cy="5810250"/>
          </a:xfrm>
          <a:prstGeom prst="roundRect">
            <a:avLst>
              <a:gd name="adj" fmla="val 2133"/>
            </a:avLst>
          </a:prstGeom>
          <a:solidFill>
            <a:srgbClr val="F7F9FC"/>
          </a:solidFill>
          <a:ln w="16193">
            <a:solidFill>
              <a:srgbClr val="4E89B9"/>
            </a:solidFill>
            <a:prstDash val="dash"/>
          </a:ln>
        </p:spPr>
      </p:sp>
      <p:sp>
        <p:nvSpPr>
          <p:cNvPr id="134" name="parameter-header"/>
          <p:cNvSpPr>
            <a:spLocks noGrp="1"/>
          </p:cNvSpPr>
          <p:nvPr/>
        </p:nvSpPr>
        <p:spPr>
          <a:xfrm>
            <a:off x="32899350" y="16744950"/>
            <a:ext cx="1056513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135" name="parameter-heading"/>
          <p:cNvSpPr>
            <a:spLocks noGrp="1"/>
          </p:cNvSpPr>
          <p:nvPr/>
        </p:nvSpPr>
        <p:spPr>
          <a:xfrm>
            <a:off x="33137475" y="16840200"/>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PARAMETER STUDY</a:t>
            </a:r>
            <a:endParaRPr sz="3800" b="1">
              <a:solidFill>
                <a:srgbClr val="FFFFFF"/>
              </a:solidFill>
              <a:latin typeface="Times New Roman" panose="02020603050405020304"/>
              <a:ea typeface="Times New Roman" panose="02020603050405020304"/>
              <a:cs typeface="Times New Roman" panose="02020603050405020304"/>
            </a:endParaRPr>
          </a:p>
        </p:txBody>
      </p:sp>
      <p:pic>
        <p:nvPicPr>
          <p:cNvPr id="293" name="optimizer-pair"/>
          <p:cNvPicPr>
            <a:picLocks noChangeAspect="1"/>
          </p:cNvPicPr>
          <p:nvPr/>
        </p:nvPicPr>
        <p:blipFill>
          <a:blip r:embed="rId20"/>
          <a:srcRect/>
          <a:stretch>
            <a:fillRect/>
          </a:stretch>
        </p:blipFill>
        <p:spPr>
          <a:xfrm>
            <a:off x="33185100" y="17706975"/>
            <a:ext cx="9993630" cy="2781300"/>
          </a:xfrm>
          <a:prstGeom prst="rect">
            <a:avLst/>
          </a:prstGeom>
        </p:spPr>
      </p:pic>
      <p:sp>
        <p:nvSpPr>
          <p:cNvPr id="137" name="optimizer-caption"/>
          <p:cNvSpPr>
            <a:spLocks noGrp="1"/>
          </p:cNvSpPr>
          <p:nvPr/>
        </p:nvSpPr>
        <p:spPr>
          <a:xfrm>
            <a:off x="33185100" y="20602575"/>
            <a:ext cx="9993630" cy="409575"/>
          </a:xfrm>
          <a:prstGeom prst="rect">
            <a:avLst/>
          </a:prstGeom>
          <a:noFill/>
          <a:ln w="0">
            <a:noFill/>
          </a:ln>
        </p:spPr>
        <p:txBody>
          <a:bodyPr wrap="square" lIns="0" tIns="0" rIns="0" bIns="0" anchor="t">
            <a:noAutofit/>
          </a:bodyPr>
          <a:lstStyle>
            <a:defPPr algn="ctr">
              <a:defRPr sz="1875"/>
            </a:defPPr>
          </a:lstStyle>
          <a:p>
            <a:pPr algn="ctr">
              <a:lnSpc>
                <a:spcPct val="104000"/>
              </a:lnSpc>
              <a:buNone/>
              <a:defRPr sz="1875" b="0">
                <a:solidFill>
                  <a:srgbClr val="385466"/>
                </a:solidFill>
                <a:latin typeface="Times New Roman" panose="02020603050405020304"/>
                <a:ea typeface="Times New Roman" panose="02020603050405020304"/>
                <a:cs typeface="Times New Roman" panose="02020603050405020304"/>
              </a:defRPr>
            </a:pPr>
            <a:r>
              <a:rPr sz="1875" b="0">
                <a:solidFill>
                  <a:srgbClr val="385466"/>
                </a:solidFill>
                <a:latin typeface="Times New Roman" panose="02020603050405020304"/>
                <a:ea typeface="Times New Roman" panose="02020603050405020304"/>
                <a:cs typeface="Times New Roman" panose="02020603050405020304"/>
              </a:rPr>
              <a:t>Fig. 14. Five optimization starts and final residuals.</a:t>
            </a:r>
            <a:endParaRPr sz="2100" b="0">
              <a:solidFill>
                <a:srgbClr val="385466"/>
              </a:solidFill>
              <a:latin typeface="Times New Roman" panose="02020603050405020304"/>
              <a:ea typeface="Times New Roman" panose="02020603050405020304"/>
              <a:cs typeface="Times New Roman" panose="02020603050405020304"/>
            </a:endParaRPr>
          </a:p>
        </p:txBody>
      </p:sp>
      <p:sp>
        <p:nvSpPr>
          <p:cNvPr id="138" name="optimizer-bullets"/>
          <p:cNvSpPr>
            <a:spLocks noGrp="1"/>
          </p:cNvSpPr>
          <p:nvPr/>
        </p:nvSpPr>
        <p:spPr>
          <a:xfrm>
            <a:off x="33185100" y="21126450"/>
            <a:ext cx="9993630" cy="1285875"/>
          </a:xfrm>
          <a:prstGeom prst="rect">
            <a:avLst/>
          </a:prstGeom>
          <a:noFill/>
          <a:ln w="0">
            <a:noFill/>
          </a:ln>
        </p:spPr>
        <p:txBody>
          <a:bodyPr wrap="square" lIns="0" tIns="0" rIns="0" bIns="0" anchor="t">
            <a:noAutofit/>
          </a:bodyPr>
          <a:lstStyle>
            <a:defPPr algn="l">
              <a:defRPr sz="217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sz="2175" b="1">
                <a:solidFill>
                  <a:srgbClr val="086EAD"/>
                </a:solidFill>
              </a:rPr>
              <a:t>Result. </a:t>
            </a:r>
            <a:r>
              <a:rPr sz="2175" b="0">
                <a:solidFill>
                  <a:srgbClr val="15212C"/>
                </a:solidFill>
              </a:rPr>
              <a:t>Five starts reach 40.199°–42.791° with similar final residuals.</a:t>
            </a:r>
            <a:endParaRPr sz="2175" b="0">
              <a:solidFill>
                <a:srgbClr val="15212C"/>
              </a:solidFill>
            </a:endParaRPr>
          </a:p>
          <a:p>
            <a:pPr marL="228600" indent="-127000" algn="l">
              <a:spcAft>
                <a:spcPts val="280"/>
              </a:spcAft>
              <a:buChar char="•"/>
              <a:defRPr sz="2175" b="0">
                <a:solidFill>
                  <a:srgbClr val="15212C"/>
                </a:solidFill>
                <a:latin typeface="Times New Roman" panose="02020603050405020304"/>
                <a:ea typeface="Times New Roman" panose="02020603050405020304"/>
                <a:cs typeface="Times New Roman" panose="02020603050405020304"/>
              </a:defRPr>
            </a:pPr>
            <a:r>
              <a:rPr sz="2175" b="1">
                <a:solidFill>
                  <a:srgbClr val="086EAD"/>
                </a:solidFill>
              </a:rPr>
              <a:t>Interpretation. </a:t>
            </a:r>
            <a:r>
              <a:rPr sz="2175" b="0">
                <a:solidFill>
                  <a:srgbClr val="15212C"/>
                </a:solidFill>
              </a:rPr>
              <a:t>Different angle–radius pairs remain admissible. Additional profile measurements could constrain this ambiguity.</a:t>
            </a:r>
            <a:endParaRPr sz="2175" b="0">
              <a:solidFill>
                <a:srgbClr val="15212C"/>
              </a:solidFill>
            </a:endParaRPr>
          </a:p>
        </p:txBody>
      </p:sp>
      <p:sp>
        <p:nvSpPr>
          <p:cNvPr id="139" name="conclusion-frame"/>
          <p:cNvSpPr>
            <a:spLocks noGrp="1"/>
          </p:cNvSpPr>
          <p:nvPr/>
        </p:nvSpPr>
        <p:spPr>
          <a:xfrm>
            <a:off x="32899350" y="22688550"/>
            <a:ext cx="10565130" cy="8096250"/>
          </a:xfrm>
          <a:prstGeom prst="roundRect">
            <a:avLst>
              <a:gd name="adj" fmla="val 1942"/>
            </a:avLst>
          </a:prstGeom>
          <a:solidFill>
            <a:srgbClr val="F7F9FC"/>
          </a:solidFill>
          <a:ln w="16193">
            <a:solidFill>
              <a:srgbClr val="4E89B9"/>
            </a:solidFill>
            <a:prstDash val="dash"/>
          </a:ln>
        </p:spPr>
      </p:sp>
      <p:sp>
        <p:nvSpPr>
          <p:cNvPr id="140" name="conclusion-header"/>
          <p:cNvSpPr>
            <a:spLocks noGrp="1"/>
          </p:cNvSpPr>
          <p:nvPr/>
        </p:nvSpPr>
        <p:spPr>
          <a:xfrm>
            <a:off x="32899350" y="22688550"/>
            <a:ext cx="1056513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141" name="conclusion-heading"/>
          <p:cNvSpPr>
            <a:spLocks noGrp="1"/>
          </p:cNvSpPr>
          <p:nvPr/>
        </p:nvSpPr>
        <p:spPr>
          <a:xfrm>
            <a:off x="33137475" y="22783800"/>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CONCLUSION</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45" name="contribution-bullets"/>
          <p:cNvSpPr>
            <a:spLocks noGrp="1"/>
          </p:cNvSpPr>
          <p:nvPr/>
        </p:nvSpPr>
        <p:spPr>
          <a:xfrm>
            <a:off x="33185100" y="26927175"/>
            <a:ext cx="9993630" cy="2667000"/>
          </a:xfrm>
          <a:prstGeom prst="rect">
            <a:avLst/>
          </a:prstGeom>
          <a:noFill/>
          <a:ln w="0">
            <a:noFill/>
          </a:ln>
        </p:spPr>
        <p:txBody>
          <a:bodyPr wrap="square" lIns="0" tIns="0" rIns="0" bIns="0" anchor="t">
            <a:noAutofit/>
          </a:bodyPr>
          <a:lstStyle>
            <a:defPPr algn="l">
              <a:defRPr sz="2250"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250"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Numerical accuracy. </a:t>
            </a:r>
            <a:r>
              <a:rPr b="0">
                <a:solidFill>
                  <a:srgbClr val="15212C"/>
                </a:solidFill>
              </a:rPr>
              <a:t>Near-second-order Poisson convergence and independent FEM agreement for potential, field and stress.</a:t>
            </a:r>
            <a:endParaRPr b="0">
              <a:solidFill>
                <a:srgbClr val="15212C"/>
              </a:solidFill>
            </a:endParaRPr>
          </a:p>
          <a:p>
            <a:pPr marL="228600" indent="-127000" algn="l">
              <a:spcAft>
                <a:spcPts val="280"/>
              </a:spcAft>
              <a:buChar char="•"/>
              <a:defRPr sz="2250"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Measurement. </a:t>
            </a:r>
            <a:r>
              <a:rPr b="0">
                <a:solidFill>
                  <a:srgbClr val="15212C"/>
                </a:solidFill>
              </a:rPr>
              <a:t>All 108 synthetic cases pass; experimental half-angles differ by 1.337° on average at three matched voltages.</a:t>
            </a:r>
            <a:endParaRPr b="0">
              <a:solidFill>
                <a:srgbClr val="15212C"/>
              </a:solidFill>
            </a:endParaRPr>
          </a:p>
          <a:p>
            <a:pPr marL="228600" indent="-127000" algn="l">
              <a:spcAft>
                <a:spcPts val="280"/>
              </a:spcAft>
              <a:buChar char="•"/>
              <a:defRPr sz="2250"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Physical diagnosis. </a:t>
            </a:r>
            <a:r>
              <a:rPr b="0">
                <a:solidFill>
                  <a:srgbClr val="15212C"/>
                </a:solidFill>
              </a:rPr>
              <a:t>Fixed-pressure residuals persist at higher voltages across the tested numerical settings.</a:t>
            </a:r>
            <a:endParaRPr b="0">
              <a:solidFill>
                <a:srgbClr val="15212C"/>
              </a:solidFill>
            </a:endParaRPr>
          </a:p>
          <a:p>
            <a:pPr marL="228600" indent="-127000" algn="l">
              <a:spcAft>
                <a:spcPts val="280"/>
              </a:spcAft>
              <a:buChar char="•"/>
              <a:defRPr sz="2250" b="0">
                <a:solidFill>
                  <a:srgbClr val="15212C"/>
                </a:solidFill>
                <a:latin typeface="Times New Roman" panose="02020603050405020304"/>
                <a:ea typeface="Times New Roman" panose="02020603050405020304"/>
                <a:cs typeface="Times New Roman" panose="02020603050405020304"/>
              </a:defRPr>
            </a:pPr>
            <a:r>
              <a:rPr b="1">
                <a:solidFill>
                  <a:srgbClr val="086EAD"/>
                </a:solidFill>
              </a:rPr>
              <a:t>Parameter insight. </a:t>
            </a:r>
            <a:r>
              <a:rPr b="0">
                <a:solidFill>
                  <a:srgbClr val="15212C"/>
                </a:solidFill>
              </a:rPr>
              <a:t>Similar residuals allow different angle–radius pairs, motivating additional geometric observations.</a:t>
            </a:r>
            <a:endParaRPr b="0">
              <a:solidFill>
                <a:srgbClr val="15212C"/>
              </a:solidFill>
            </a:endParaRPr>
          </a:p>
        </p:txBody>
      </p:sp>
      <p:sp>
        <p:nvSpPr>
          <p:cNvPr id="147" name="significance-copy"/>
          <p:cNvSpPr>
            <a:spLocks noGrp="1"/>
          </p:cNvSpPr>
          <p:nvPr/>
        </p:nvSpPr>
        <p:spPr>
          <a:xfrm>
            <a:off x="33185100" y="29718000"/>
            <a:ext cx="9993630" cy="914400"/>
          </a:xfrm>
          <a:prstGeom prst="rect">
            <a:avLst/>
          </a:prstGeom>
          <a:noFill/>
          <a:ln w="0">
            <a:noFill/>
          </a:ln>
        </p:spPr>
        <p:txBody>
          <a:bodyPr wrap="square" lIns="0" tIns="0" rIns="0" bIns="0" anchor="t">
            <a:noAutofit/>
          </a:bodyPr>
          <a:lstStyle>
            <a:defPPr algn="l">
              <a:defRPr sz="2325" b="1">
                <a:solidFill>
                  <a:srgbClr val="086EAD"/>
                </a:solidFill>
                <a:latin typeface="Times New Roman" panose="02020603050405020304"/>
                <a:ea typeface="Times New Roman" panose="02020603050405020304"/>
                <a:cs typeface="Times New Roman" panose="02020603050405020304"/>
              </a:defRPr>
            </a:defPPr>
          </a:lstStyle>
          <a:p>
            <a:pPr algn="l">
              <a:lnSpc>
                <a:spcPct val="108000"/>
              </a:lnSpc>
              <a:buNone/>
              <a:defRPr sz="2325" b="1">
                <a:solidFill>
                  <a:srgbClr val="086EAD"/>
                </a:solidFill>
                <a:latin typeface="Times New Roman" panose="02020603050405020304"/>
                <a:ea typeface="Times New Roman" panose="02020603050405020304"/>
                <a:cs typeface="Times New Roman" panose="02020603050405020304"/>
              </a:defRPr>
            </a:pPr>
            <a:r>
              <a:rPr sz="2325" b="1">
                <a:solidFill>
                  <a:srgbClr val="086EAD"/>
                </a:solidFill>
                <a:latin typeface="Times New Roman" panose="02020603050405020304"/>
                <a:ea typeface="Times New Roman" panose="02020603050405020304"/>
                <a:cs typeface="Times New Roman" panose="02020603050405020304"/>
              </a:rPr>
              <a:t>A reproducible workflow connects verified field calculations, cone measurements and quantitative experimental-image comparisons.</a:t>
            </a:r>
            <a:endParaRPr sz="2400" b="0">
              <a:solidFill>
                <a:srgbClr val="171D25"/>
              </a:solidFill>
              <a:latin typeface="Times New Roman" panose="02020603050405020304"/>
              <a:ea typeface="Times New Roman" panose="02020603050405020304"/>
              <a:cs typeface="Times New Roman" panose="02020603050405020304"/>
            </a:endParaRPr>
          </a:p>
        </p:txBody>
      </p:sp>
      <p:sp>
        <p:nvSpPr>
          <p:cNvPr id="148" name="future-frame"/>
          <p:cNvSpPr>
            <a:spLocks noGrp="1"/>
          </p:cNvSpPr>
          <p:nvPr/>
        </p:nvSpPr>
        <p:spPr>
          <a:xfrm>
            <a:off x="32899350" y="30918150"/>
            <a:ext cx="10565130" cy="6096000"/>
          </a:xfrm>
          <a:prstGeom prst="roundRect">
            <a:avLst>
              <a:gd name="adj" fmla="val 4278"/>
            </a:avLst>
          </a:prstGeom>
          <a:solidFill>
            <a:srgbClr val="F7F9FC"/>
          </a:solidFill>
          <a:ln w="16193">
            <a:solidFill>
              <a:srgbClr val="4E89B9"/>
            </a:solidFill>
            <a:prstDash val="dash"/>
          </a:ln>
        </p:spPr>
      </p:sp>
      <p:sp>
        <p:nvSpPr>
          <p:cNvPr id="149" name="future-header"/>
          <p:cNvSpPr>
            <a:spLocks noGrp="1"/>
          </p:cNvSpPr>
          <p:nvPr/>
        </p:nvSpPr>
        <p:spPr>
          <a:xfrm>
            <a:off x="32899350" y="30918150"/>
            <a:ext cx="1056513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150" name="future-heading"/>
          <p:cNvSpPr>
            <a:spLocks noGrp="1"/>
          </p:cNvSpPr>
          <p:nvPr/>
        </p:nvSpPr>
        <p:spPr>
          <a:xfrm>
            <a:off x="33137475" y="31013400"/>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FUTURE WORK</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51" name="future-bullets"/>
          <p:cNvSpPr>
            <a:spLocks noGrp="1"/>
          </p:cNvSpPr>
          <p:nvPr/>
        </p:nvSpPr>
        <p:spPr>
          <a:xfrm>
            <a:off x="33185100" y="35433000"/>
            <a:ext cx="9993630" cy="1409700"/>
          </a:xfrm>
          <a:prstGeom prst="rect">
            <a:avLst/>
          </a:prstGeom>
          <a:noFill/>
          <a:ln w="0">
            <a:noFill/>
          </a:ln>
        </p:spPr>
        <p:txBody>
          <a:bodyPr wrap="square" lIns="0" tIns="0" rIns="0" bIns="0" anchor="t">
            <a:noAutofit/>
          </a:bodyPr>
          <a:lstStyle>
            <a:defPPr algn="l">
              <a:defRPr sz="2100"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More conditions. </a:t>
            </a:r>
            <a:r>
              <a:rPr sz="2100" b="0">
                <a:solidFill>
                  <a:srgbClr val="15212C"/>
                </a:solidFill>
              </a:rPr>
              <a:t>Extend comparisons to more voltages, electrode gaps and liquids.</a:t>
            </a:r>
            <a:endParaRPr sz="2100" b="0">
              <a:solidFill>
                <a:srgbClr val="15212C"/>
              </a:solidFill>
            </a:endParaRPr>
          </a:p>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Joint identification. </a:t>
            </a:r>
            <a:r>
              <a:rPr sz="2100" b="0">
                <a:solidFill>
                  <a:srgbClr val="15212C"/>
                </a:solidFill>
              </a:rPr>
              <a:t>Combine half-angle and full-profile information to constrain geometry.</a:t>
            </a:r>
            <a:endParaRPr sz="2100" b="0">
              <a:solidFill>
                <a:srgbClr val="15212C"/>
              </a:solidFill>
            </a:endParaRPr>
          </a:p>
          <a:p>
            <a:pPr marL="228600" indent="-127000" algn="l">
              <a:spcAft>
                <a:spcPts val="280"/>
              </a:spcAft>
              <a:buChar char="•"/>
              <a:defRPr sz="2100" b="0">
                <a:solidFill>
                  <a:srgbClr val="15212C"/>
                </a:solidFill>
                <a:latin typeface="Times New Roman" panose="02020603050405020304"/>
                <a:ea typeface="Times New Roman" panose="02020603050405020304"/>
                <a:cs typeface="Times New Roman" panose="02020603050405020304"/>
              </a:defRPr>
            </a:pPr>
            <a:r>
              <a:rPr sz="2100" b="1">
                <a:solidFill>
                  <a:srgbClr val="086EAD"/>
                </a:solidFill>
              </a:rPr>
              <a:t>Time evolution. </a:t>
            </a:r>
            <a:r>
              <a:rPr sz="2100" b="0">
                <a:solidFill>
                  <a:srgbClr val="15212C"/>
                </a:solidFill>
              </a:rPr>
              <a:t>Track interface motion in image sequences.</a:t>
            </a:r>
            <a:endParaRPr sz="2100" b="0">
              <a:solidFill>
                <a:srgbClr val="15212C"/>
              </a:solidFill>
            </a:endParaRPr>
          </a:p>
        </p:txBody>
      </p:sp>
      <p:sp>
        <p:nvSpPr>
          <p:cNvPr id="154" name="references-frame"/>
          <p:cNvSpPr>
            <a:spLocks noGrp="1"/>
          </p:cNvSpPr>
          <p:nvPr/>
        </p:nvSpPr>
        <p:spPr>
          <a:xfrm>
            <a:off x="32899350" y="37147500"/>
            <a:ext cx="10565130" cy="6316980"/>
          </a:xfrm>
          <a:prstGeom prst="roundRect">
            <a:avLst>
              <a:gd name="adj" fmla="val 4381"/>
            </a:avLst>
          </a:prstGeom>
          <a:solidFill>
            <a:srgbClr val="F7F9FC"/>
          </a:solidFill>
          <a:ln w="16193">
            <a:solidFill>
              <a:srgbClr val="4E89B9"/>
            </a:solidFill>
            <a:prstDash val="dash"/>
          </a:ln>
        </p:spPr>
      </p:sp>
      <p:sp>
        <p:nvSpPr>
          <p:cNvPr id="155" name="references-header"/>
          <p:cNvSpPr>
            <a:spLocks noGrp="1"/>
          </p:cNvSpPr>
          <p:nvPr/>
        </p:nvSpPr>
        <p:spPr>
          <a:xfrm>
            <a:off x="32899350" y="37147500"/>
            <a:ext cx="10565130" cy="800100"/>
          </a:xfrm>
          <a:prstGeom prst="roundRect">
            <a:avLst>
              <a:gd name="adj" fmla="val 16667"/>
            </a:avLst>
          </a:prstGeom>
          <a:gradFill>
            <a:gsLst>
              <a:gs pos="0">
                <a:srgbClr val="155AA1"/>
              </a:gs>
              <a:gs pos="55000">
                <a:srgbClr val="357FB4"/>
              </a:gs>
              <a:gs pos="100000">
                <a:srgbClr val="829DBA"/>
              </a:gs>
            </a:gsLst>
            <a:lin ang="0"/>
          </a:gradFill>
          <a:ln w="0">
            <a:noFill/>
          </a:ln>
        </p:spPr>
      </p:sp>
      <p:sp>
        <p:nvSpPr>
          <p:cNvPr id="156" name="references-heading"/>
          <p:cNvSpPr>
            <a:spLocks noGrp="1"/>
          </p:cNvSpPr>
          <p:nvPr/>
        </p:nvSpPr>
        <p:spPr>
          <a:xfrm>
            <a:off x="33137475" y="37242750"/>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800" b="1">
                <a:solidFill>
                  <a:srgbClr val="FFFFFF"/>
                </a:solidFill>
                <a:latin typeface="Times New Roman" panose="02020603050405020304"/>
                <a:ea typeface="Times New Roman" panose="02020603050405020304"/>
                <a:cs typeface="Times New Roman" panose="02020603050405020304"/>
              </a:rPr>
              <a:t>REFERENCES</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57" name="references-copy"/>
          <p:cNvSpPr>
            <a:spLocks noGrp="1"/>
          </p:cNvSpPr>
          <p:nvPr/>
        </p:nvSpPr>
        <p:spPr>
          <a:xfrm>
            <a:off x="33185100" y="38061900"/>
            <a:ext cx="9993630" cy="5191125"/>
          </a:xfrm>
          <a:prstGeom prst="rect">
            <a:avLst/>
          </a:prstGeom>
          <a:noFill/>
          <a:ln w="0">
            <a:noFill/>
          </a:ln>
        </p:spPr>
        <p:txBody>
          <a:bodyPr wrap="square" lIns="0" tIns="0" rIns="0" bIns="0" anchor="t">
            <a:noAutofit/>
          </a:bodyPr>
          <a:lstStyle>
            <a:defPPr algn="l">
              <a:defRPr sz="1500" b="0">
                <a:solidFill>
                  <a:srgbClr val="15212C"/>
                </a:solidFill>
                <a:latin typeface="Times New Roman" panose="02020603050405020304"/>
                <a:ea typeface="Times New Roman" panose="02020603050405020304"/>
                <a:cs typeface="Times New Roman" panose="02020603050405020304"/>
              </a:defRPr>
            </a:defPPr>
          </a:lstStyle>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[1] Taylor, G. I. Disintegration of water drops in an electric field. Proceedings of the Royal Society of London A, 280(1382), 383–397 (1964).</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[2] Fernández de la Mora, J., &amp; Loscertales, I. G. The current emitted by highly conducting Taylor cones. Journal of Fluid Mechanics, 260, 155–184 (1994).</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[3] Zhang, Z. A flexible new technique for camera calibration. IEEE Transactions on Pattern Analysis and Machine Intelligence, 22(11), 1330–1334 (2000).</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[4] Yang, P., Peng, Y., Yi, H., &amp; Wu, J. Experimental study on ethanol electrostatic spray mode and Taylor cone-jet characteristics. Journal of Experiments in Fluid Mechanics, 39(3), 54–62 (2025). DOI: 10.11729/syltlx20220040.</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[5] Fernández de la Mora, J. The fluid dynamics of Taylor cones. Annual Review of Fluid Mechanics, 39, 217–243 (2007).</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[6] Melcher, J. R., &amp; Taylor, G. I. Electrohydrodynamics: A review of the role of interfacial shear stresses. Annual Review of Fluid Mechanics, 1, 111–146 (1969).</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[7] Saville, D. A. Electrohydrodynamics: The Taylor–Melcher leaky dielectric model. Annual Review of Fluid Mechanics, 29, 27–64 (1997).</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[8] Gañán-Calvo, A. M. Cone-jet analytical extension of Taylor’s electrostatic solution and the asymptotic universal scaling laws in electrospraying. Physical Review Letters, 79(2), 217–220 (1997).</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[9] Hartman, R. P. A., Brunner, D. J., Camelot, D. M. A., Marijnissen, J. C. M., &amp; Scarlett, B. Electrohydrodynamic atomization in the cone–jet mode: Physical modeling of the liquid cone and jet. Journal of Aerosol Science, 30(7), 823–849 (1999).</a:t>
            </a:r>
            <a:endParaRPr sz="1500" b="0">
              <a:solidFill>
                <a:srgbClr val="15212C"/>
              </a:solidFill>
              <a:latin typeface="Times New Roman" panose="02020603050405020304"/>
              <a:ea typeface="Times New Roman" panose="02020603050405020304"/>
              <a:cs typeface="Times New Roman" panose="02020603050405020304"/>
            </a:endParaRPr>
          </a:p>
          <a:p>
            <a:pPr algn="l">
              <a:spcAft>
                <a:spcPts val="200"/>
              </a:spcAft>
              <a:defRPr sz="1500" b="0">
                <a:solidFill>
                  <a:srgbClr val="15212C"/>
                </a:solidFill>
                <a:latin typeface="Times New Roman" panose="02020603050405020304"/>
                <a:ea typeface="Times New Roman" panose="02020603050405020304"/>
                <a:cs typeface="Times New Roman" panose="02020603050405020304"/>
              </a:defRPr>
            </a:pPr>
            <a:r>
              <a:rPr sz="1500" b="0">
                <a:solidFill>
                  <a:srgbClr val="15212C"/>
                </a:solidFill>
                <a:latin typeface="Times New Roman" panose="02020603050405020304"/>
                <a:ea typeface="Times New Roman" panose="02020603050405020304"/>
                <a:cs typeface="Times New Roman" panose="02020603050405020304"/>
              </a:rPr>
              <a:t>[10] Cloupeau, M., &amp; Prunet-Foch, B. Electrostatic spraying of liquids in cone-jet mode. Journal of Electrostatics, 22(2), 135–159 (1989).</a:t>
            </a:r>
            <a:endParaRPr sz="1500" b="0">
              <a:solidFill>
                <a:srgbClr val="15212C"/>
              </a:solidFill>
              <a:latin typeface="Times New Roman" panose="02020603050405020304"/>
              <a:ea typeface="Times New Roman" panose="02020603050405020304"/>
              <a:cs typeface="Times New Roman" panose="02020603050405020304"/>
            </a:endParaRPr>
          </a:p>
        </p:txBody>
      </p:sp>
      <p:sp>
        <p:nvSpPr>
          <p:cNvPr id="310" name="balance-equations"/>
          <p:cNvSpPr>
            <a:spLocks noGrp="1"/>
          </p:cNvSpPr>
          <p:nvPr/>
        </p:nvSpPr>
        <p:spPr>
          <a:xfrm>
            <a:off x="5638800" y="13335000"/>
            <a:ext cx="5257800" cy="2571750"/>
          </a:xfrm>
          <a:prstGeom prst="rect">
            <a:avLst/>
          </a:prstGeom>
          <a:noFill/>
          <a:ln w="0">
            <a:noFill/>
          </a:ln>
        </p:spPr>
        <p:txBody>
          <a:bodyPr lIns="0" tIns="0" rIns="0" bIns="0">
            <a:noAutofit/>
          </a:bodyPr>
          <a:lstStyle>
            <a:defPPr>
              <a:defRPr sz="2625">
                <a:solidFill>
                  <a:srgbClr val="171D25"/>
                </a:solidFill>
                <a:latin typeface="Times New Roman" panose="02020603050405020304"/>
                <a:ea typeface="Times New Roman" panose="02020603050405020304"/>
                <a:cs typeface="Times New Roman" panose="02020603050405020304"/>
              </a:defRPr>
            </a:defPPr>
          </a:lstStyle>
          <a:p>
            <a:pPr>
              <a:lnSpc>
                <a:spcPct val="115000"/>
              </a:lnSpc>
              <a:buNone/>
              <a:defRPr sz="2625">
                <a:solidFill>
                  <a:srgbClr val="171D25"/>
                </a:solidFill>
                <a:latin typeface="Times New Roman" panose="02020603050405020304"/>
                <a:ea typeface="Times New Roman" panose="02020603050405020304"/>
                <a:cs typeface="Times New Roman" panose="02020603050405020304"/>
              </a:defRPr>
            </a:pPr>
            <a:r>
              <a:rPr sz="2625">
                <a:solidFill>
                  <a:srgbClr val="171D25"/>
                </a:solidFill>
                <a:latin typeface="Times New Roman" panose="02020603050405020304"/>
                <a:ea typeface="Times New Roman" panose="02020603050405020304"/>
                <a:cs typeface="Times New Roman" panose="02020603050405020304"/>
              </a:rPr>
              <a:t>∇²φ = −ρ/ε</a:t>
            </a:r>
            <a:endParaRPr sz="2625">
              <a:solidFill>
                <a:srgbClr val="171D25"/>
              </a:solidFill>
              <a:latin typeface="Times New Roman" panose="02020603050405020304"/>
              <a:ea typeface="Times New Roman" panose="02020603050405020304"/>
              <a:cs typeface="Times New Roman" panose="02020603050405020304"/>
            </a:endParaRPr>
          </a:p>
          <a:p>
            <a:pPr>
              <a:lnSpc>
                <a:spcPct val="115000"/>
              </a:lnSpc>
              <a:buNone/>
              <a:defRPr sz="2625">
                <a:solidFill>
                  <a:srgbClr val="171D25"/>
                </a:solidFill>
                <a:latin typeface="Times New Roman" panose="02020603050405020304"/>
                <a:ea typeface="Times New Roman" panose="02020603050405020304"/>
                <a:cs typeface="Times New Roman" panose="02020603050405020304"/>
              </a:defRPr>
            </a:pPr>
            <a:r>
              <a:rPr sz="2625">
                <a:solidFill>
                  <a:srgbClr val="171D25"/>
                </a:solidFill>
                <a:latin typeface="Times New Roman" panose="02020603050405020304"/>
                <a:ea typeface="Times New Roman" panose="02020603050405020304"/>
                <a:cs typeface="Times New Roman" panose="02020603050405020304"/>
              </a:rPr>
              <a:t>E = −∇φ</a:t>
            </a:r>
            <a:endParaRPr sz="2625">
              <a:solidFill>
                <a:srgbClr val="171D25"/>
              </a:solidFill>
              <a:latin typeface="Times New Roman" panose="02020603050405020304"/>
              <a:ea typeface="Times New Roman" panose="02020603050405020304"/>
              <a:cs typeface="Times New Roman" panose="02020603050405020304"/>
            </a:endParaRPr>
          </a:p>
          <a:p>
            <a:pPr>
              <a:lnSpc>
                <a:spcPct val="115000"/>
              </a:lnSpc>
              <a:buNone/>
              <a:defRPr sz="2625">
                <a:solidFill>
                  <a:srgbClr val="171D25"/>
                </a:solidFill>
                <a:latin typeface="Times New Roman" panose="02020603050405020304"/>
                <a:ea typeface="Times New Roman" panose="02020603050405020304"/>
                <a:cs typeface="Times New Roman" panose="02020603050405020304"/>
              </a:defRPr>
            </a:pPr>
            <a:r>
              <a:rPr sz="2625">
                <a:solidFill>
                  <a:srgbClr val="171D25"/>
                </a:solidFill>
                <a:latin typeface="Times New Roman" panose="02020603050405020304"/>
                <a:ea typeface="Times New Roman" panose="02020603050405020304"/>
                <a:cs typeface="Times New Roman" panose="02020603050405020304"/>
              </a:rPr>
              <a:t>p</a:t>
            </a:r>
            <a:r>
              <a:rPr sz="1970" baseline="-25000">
                <a:solidFill>
                  <a:srgbClr val="171D25"/>
                </a:solidFill>
                <a:latin typeface="Times New Roman" panose="02020603050405020304"/>
                <a:ea typeface="Times New Roman" panose="02020603050405020304"/>
                <a:cs typeface="Times New Roman" panose="02020603050405020304"/>
              </a:rPr>
              <a:t>E</a:t>
            </a:r>
            <a:r>
              <a:rPr sz="2625">
                <a:solidFill>
                  <a:srgbClr val="171D25"/>
                </a:solidFill>
                <a:latin typeface="Times New Roman" panose="02020603050405020304"/>
                <a:ea typeface="Times New Roman" panose="02020603050405020304"/>
                <a:cs typeface="Times New Roman" panose="02020603050405020304"/>
              </a:rPr>
              <a:t> = ½ ε</a:t>
            </a:r>
            <a:r>
              <a:rPr sz="2625">
                <a:solidFill>
                  <a:srgbClr val="171D25"/>
                </a:solidFill>
                <a:latin typeface="Times New Roman" panose="02020603050405020304"/>
                <a:ea typeface="Times New Roman" panose="02020603050405020304"/>
                <a:cs typeface="Times New Roman" panose="02020603050405020304"/>
              </a:rPr>
              <a:t>E</a:t>
            </a:r>
            <a:r>
              <a:rPr sz="1970" baseline="-25000">
                <a:solidFill>
                  <a:srgbClr val="171D25"/>
                </a:solidFill>
                <a:latin typeface="Times New Roman" panose="02020603050405020304"/>
                <a:ea typeface="Times New Roman" panose="02020603050405020304"/>
                <a:cs typeface="Times New Roman" panose="02020603050405020304"/>
              </a:rPr>
              <a:t>n</a:t>
            </a:r>
            <a:r>
              <a:rPr sz="2625">
                <a:solidFill>
                  <a:srgbClr val="171D25"/>
                </a:solidFill>
                <a:latin typeface="Times New Roman" panose="02020603050405020304"/>
                <a:ea typeface="Times New Roman" panose="02020603050405020304"/>
                <a:cs typeface="Times New Roman" panose="02020603050405020304"/>
              </a:rPr>
              <a:t>²</a:t>
            </a:r>
            <a:endParaRPr sz="2625">
              <a:solidFill>
                <a:srgbClr val="171D25"/>
              </a:solidFill>
              <a:latin typeface="Times New Roman" panose="02020603050405020304"/>
              <a:ea typeface="Times New Roman" panose="02020603050405020304"/>
              <a:cs typeface="Times New Roman" panose="02020603050405020304"/>
            </a:endParaRPr>
          </a:p>
          <a:p>
            <a:pPr>
              <a:lnSpc>
                <a:spcPct val="115000"/>
              </a:lnSpc>
              <a:buNone/>
              <a:defRPr sz="2625">
                <a:solidFill>
                  <a:srgbClr val="171D25"/>
                </a:solidFill>
                <a:latin typeface="Times New Roman" panose="02020603050405020304"/>
                <a:ea typeface="Times New Roman" panose="02020603050405020304"/>
                <a:cs typeface="Times New Roman" panose="02020603050405020304"/>
              </a:defRPr>
            </a:pPr>
            <a:r>
              <a:rPr sz="2625">
                <a:solidFill>
                  <a:srgbClr val="171D25"/>
                </a:solidFill>
                <a:latin typeface="Times New Roman" panose="02020603050405020304"/>
                <a:ea typeface="Times New Roman" panose="02020603050405020304"/>
                <a:cs typeface="Times New Roman" panose="02020603050405020304"/>
              </a:rPr>
              <a:t>p</a:t>
            </a:r>
            <a:r>
              <a:rPr sz="1970" baseline="-25000">
                <a:solidFill>
                  <a:srgbClr val="171D25"/>
                </a:solidFill>
                <a:latin typeface="Times New Roman" panose="02020603050405020304"/>
                <a:ea typeface="Times New Roman" panose="02020603050405020304"/>
                <a:cs typeface="Times New Roman" panose="02020603050405020304"/>
              </a:rPr>
              <a:t>γ</a:t>
            </a:r>
            <a:r>
              <a:rPr sz="2625">
                <a:solidFill>
                  <a:srgbClr val="171D25"/>
                </a:solidFill>
                <a:latin typeface="Times New Roman" panose="02020603050405020304"/>
                <a:ea typeface="Times New Roman" panose="02020603050405020304"/>
                <a:cs typeface="Times New Roman" panose="02020603050405020304"/>
              </a:rPr>
              <a:t> = γκ</a:t>
            </a:r>
            <a:endParaRPr sz="2625">
              <a:solidFill>
                <a:srgbClr val="171D25"/>
              </a:solidFill>
              <a:latin typeface="Times New Roman" panose="02020603050405020304"/>
              <a:ea typeface="Times New Roman" panose="02020603050405020304"/>
              <a:cs typeface="Times New Roman" panose="02020603050405020304"/>
            </a:endParaRPr>
          </a:p>
          <a:p>
            <a:pPr>
              <a:lnSpc>
                <a:spcPct val="115000"/>
              </a:lnSpc>
              <a:buNone/>
              <a:defRPr sz="2625">
                <a:solidFill>
                  <a:srgbClr val="171D25"/>
                </a:solidFill>
                <a:latin typeface="Times New Roman" panose="02020603050405020304"/>
                <a:ea typeface="Times New Roman" panose="02020603050405020304"/>
                <a:cs typeface="Times New Roman" panose="02020603050405020304"/>
              </a:defRPr>
            </a:pPr>
            <a:r>
              <a:rPr sz="2625">
                <a:solidFill>
                  <a:srgbClr val="171D25"/>
                </a:solidFill>
                <a:latin typeface="Times New Roman" panose="02020603050405020304"/>
                <a:ea typeface="Times New Roman" panose="02020603050405020304"/>
                <a:cs typeface="Times New Roman" panose="02020603050405020304"/>
              </a:rPr>
              <a:t>R = </a:t>
            </a:r>
            <a:r>
              <a:rPr sz="2625">
                <a:solidFill>
                  <a:srgbClr val="171D25"/>
                </a:solidFill>
                <a:latin typeface="Times New Roman" panose="02020603050405020304"/>
                <a:ea typeface="Times New Roman" panose="02020603050405020304"/>
                <a:cs typeface="Times New Roman" panose="02020603050405020304"/>
              </a:rPr>
              <a:t>p</a:t>
            </a:r>
            <a:r>
              <a:rPr sz="1970" baseline="-25000">
                <a:solidFill>
                  <a:srgbClr val="171D25"/>
                </a:solidFill>
                <a:latin typeface="Times New Roman" panose="02020603050405020304"/>
                <a:ea typeface="Times New Roman" panose="02020603050405020304"/>
                <a:cs typeface="Times New Roman" panose="02020603050405020304"/>
              </a:rPr>
              <a:t>γ</a:t>
            </a:r>
            <a:r>
              <a:rPr sz="2625">
                <a:solidFill>
                  <a:srgbClr val="171D25"/>
                </a:solidFill>
                <a:latin typeface="Times New Roman" panose="02020603050405020304"/>
                <a:ea typeface="Times New Roman" panose="02020603050405020304"/>
                <a:cs typeface="Times New Roman" panose="02020603050405020304"/>
              </a:rPr>
              <a:t> − </a:t>
            </a:r>
            <a:r>
              <a:rPr sz="2625">
                <a:solidFill>
                  <a:srgbClr val="171D25"/>
                </a:solidFill>
                <a:latin typeface="Times New Roman" panose="02020603050405020304"/>
                <a:ea typeface="Times New Roman" panose="02020603050405020304"/>
                <a:cs typeface="Times New Roman" panose="02020603050405020304"/>
              </a:rPr>
              <a:t>p</a:t>
            </a:r>
            <a:r>
              <a:rPr sz="1970" baseline="-25000">
                <a:solidFill>
                  <a:srgbClr val="171D25"/>
                </a:solidFill>
                <a:latin typeface="Times New Roman" panose="02020603050405020304"/>
                <a:ea typeface="Times New Roman" panose="02020603050405020304"/>
                <a:cs typeface="Times New Roman" panose="02020603050405020304"/>
              </a:rPr>
              <a:t>E</a:t>
            </a:r>
            <a:r>
              <a:rPr sz="2625">
                <a:solidFill>
                  <a:srgbClr val="171D25"/>
                </a:solidFill>
                <a:latin typeface="Times New Roman" panose="02020603050405020304"/>
                <a:ea typeface="Times New Roman" panose="02020603050405020304"/>
                <a:cs typeface="Times New Roman" panose="02020603050405020304"/>
              </a:rPr>
              <a:t> − Δp</a:t>
            </a:r>
            <a:endParaRPr sz="2625">
              <a:solidFill>
                <a:srgbClr val="171D25"/>
              </a:solidFill>
              <a:latin typeface="Times New Roman" panose="02020603050405020304"/>
              <a:ea typeface="Times New Roman" panose="02020603050405020304"/>
              <a:cs typeface="Times New Roman" panose="02020603050405020304"/>
            </a:endParaRPr>
          </a:p>
          <a:p>
            <a:pPr>
              <a:lnSpc>
                <a:spcPct val="115000"/>
              </a:lnSpc>
              <a:buNone/>
              <a:defRPr sz="2625">
                <a:solidFill>
                  <a:srgbClr val="171D25"/>
                </a:solidFill>
                <a:latin typeface="Times New Roman" panose="02020603050405020304"/>
                <a:ea typeface="Times New Roman" panose="02020603050405020304"/>
                <a:cs typeface="Times New Roman" panose="02020603050405020304"/>
              </a:defRPr>
            </a:pPr>
            <a:r>
              <a:rPr sz="2625">
                <a:solidFill>
                  <a:srgbClr val="171D25"/>
                </a:solidFill>
                <a:latin typeface="Times New Roman" panose="02020603050405020304"/>
                <a:ea typeface="Times New Roman" panose="02020603050405020304"/>
                <a:cs typeface="Times New Roman" panose="02020603050405020304"/>
              </a:rPr>
              <a:t>Δp = ⟨</a:t>
            </a:r>
            <a:r>
              <a:rPr sz="2625">
                <a:solidFill>
                  <a:srgbClr val="171D25"/>
                </a:solidFill>
                <a:latin typeface="Times New Roman" panose="02020603050405020304"/>
                <a:ea typeface="Times New Roman" panose="02020603050405020304"/>
                <a:cs typeface="Times New Roman" panose="02020603050405020304"/>
              </a:rPr>
              <a:t>p</a:t>
            </a:r>
            <a:r>
              <a:rPr sz="1970" baseline="-25000">
                <a:solidFill>
                  <a:srgbClr val="171D25"/>
                </a:solidFill>
                <a:latin typeface="Times New Roman" panose="02020603050405020304"/>
                <a:ea typeface="Times New Roman" panose="02020603050405020304"/>
                <a:cs typeface="Times New Roman" panose="02020603050405020304"/>
              </a:rPr>
              <a:t>γ</a:t>
            </a:r>
            <a:r>
              <a:rPr sz="2625">
                <a:solidFill>
                  <a:srgbClr val="171D25"/>
                </a:solidFill>
                <a:latin typeface="Times New Roman" panose="02020603050405020304"/>
                <a:ea typeface="Times New Roman" panose="02020603050405020304"/>
                <a:cs typeface="Times New Roman" panose="02020603050405020304"/>
              </a:rPr>
              <a:t> − </a:t>
            </a:r>
            <a:r>
              <a:rPr sz="2625">
                <a:solidFill>
                  <a:srgbClr val="171D25"/>
                </a:solidFill>
                <a:latin typeface="Times New Roman" panose="02020603050405020304"/>
                <a:ea typeface="Times New Roman" panose="02020603050405020304"/>
                <a:cs typeface="Times New Roman" panose="02020603050405020304"/>
              </a:rPr>
              <a:t>p</a:t>
            </a:r>
            <a:r>
              <a:rPr sz="1970" baseline="-25000">
                <a:solidFill>
                  <a:srgbClr val="171D25"/>
                </a:solidFill>
                <a:latin typeface="Times New Roman" panose="02020603050405020304"/>
                <a:ea typeface="Times New Roman" panose="02020603050405020304"/>
                <a:cs typeface="Times New Roman" panose="02020603050405020304"/>
              </a:rPr>
              <a:t>E</a:t>
            </a:r>
            <a:r>
              <a:rPr sz="2625">
                <a:solidFill>
                  <a:srgbClr val="171D25"/>
                </a:solidFill>
                <a:latin typeface="Times New Roman" panose="02020603050405020304"/>
                <a:ea typeface="Times New Roman" panose="02020603050405020304"/>
                <a:cs typeface="Times New Roman" panose="02020603050405020304"/>
              </a:rPr>
              <a:t>⟩</a:t>
            </a:r>
            <a:endParaRPr sz="2625">
              <a:solidFill>
                <a:srgbClr val="171D25"/>
              </a:solidFill>
              <a:latin typeface="Times New Roman" panose="02020603050405020304"/>
              <a:ea typeface="Times New Roman" panose="02020603050405020304"/>
              <a:cs typeface="Times New Roman" panose="02020603050405020304"/>
            </a:endParaRPr>
          </a:p>
        </p:txBody>
      </p:sp>
      <p:sp>
        <p:nvSpPr>
          <p:cNvPr id="312" name="workflow-track-0"/>
          <p:cNvSpPr>
            <a:spLocks noGrp="1"/>
          </p:cNvSpPr>
          <p:nvPr/>
        </p:nvSpPr>
        <p:spPr>
          <a:xfrm>
            <a:off x="11601450" y="4152900"/>
            <a:ext cx="14382750" cy="371475"/>
          </a:xfrm>
          <a:prstGeom prst="rect">
            <a:avLst/>
          </a:prstGeom>
          <a:noFill/>
          <a:ln w="0"/>
        </p:spPr>
        <p:txBody>
          <a:bodyPr wrap="square" lIns="0" tIns="0" rIns="0" bIns="0" anchor="t">
            <a:noAutofit/>
          </a:bodyPr>
          <a:lstStyle>
            <a:defPPr algn="l">
              <a:defRPr sz="2175" b="1">
                <a:solidFill>
                  <a:srgbClr val="086EAD"/>
                </a:solidFill>
                <a:latin typeface="Times New Roman" panose="02020603050405020304"/>
                <a:ea typeface="Times New Roman" panose="02020603050405020304"/>
                <a:cs typeface="Times New Roman" panose="02020603050405020304"/>
              </a:defRPr>
            </a:defPPr>
          </a:lstStyle>
          <a:p>
            <a:pPr algn="l">
              <a:defRPr sz="2175" b="1">
                <a:solidFill>
                  <a:srgbClr val="086EAD"/>
                </a:solidFill>
                <a:latin typeface="Times New Roman" panose="02020603050405020304"/>
                <a:ea typeface="Times New Roman" panose="02020603050405020304"/>
                <a:cs typeface="Times New Roman" panose="02020603050405020304"/>
              </a:defRPr>
            </a:pPr>
            <a:r>
              <a:rPr sz="2175" b="1">
                <a:solidFill>
                  <a:srgbClr val="086EAD"/>
                </a:solidFill>
                <a:latin typeface="Times New Roman" panose="02020603050405020304"/>
                <a:ea typeface="Times New Roman" panose="02020603050405020304"/>
                <a:cs typeface="Times New Roman" panose="02020603050405020304"/>
              </a:rPr>
              <a:t>NUMERICAL ANALYSIS</a:t>
            </a:r>
            <a:endParaRPr sz="2175" b="1">
              <a:solidFill>
                <a:srgbClr val="086EAD"/>
              </a:solidFill>
              <a:latin typeface="Times New Roman" panose="02020603050405020304"/>
              <a:ea typeface="Times New Roman" panose="02020603050405020304"/>
              <a:cs typeface="Times New Roman" panose="02020603050405020304"/>
            </a:endParaRPr>
          </a:p>
        </p:txBody>
      </p:sp>
      <p:sp>
        <p:nvSpPr>
          <p:cNvPr id="313" name="workflow-node-0-0"/>
          <p:cNvSpPr>
            <a:spLocks noGrp="1"/>
          </p:cNvSpPr>
          <p:nvPr/>
        </p:nvSpPr>
        <p:spPr>
          <a:xfrm>
            <a:off x="11601450" y="4600575"/>
            <a:ext cx="3343275" cy="1085850"/>
          </a:xfrm>
          <a:prstGeom prst="roundRect">
            <a:avLst>
              <a:gd name="adj" fmla="val 10526"/>
            </a:avLst>
          </a:prstGeom>
          <a:solidFill>
            <a:srgbClr val="E5F1FA"/>
          </a:solidFill>
          <a:ln w="16193">
            <a:solidFill>
              <a:srgbClr val="5A9BC4"/>
            </a:solidFill>
            <a:prstDash val="solid"/>
          </a:ln>
        </p:spPr>
        <p:txBody>
          <a:bodyPr wrap="square" lIns="76200" tIns="76200" rIns="76200" bIns="76200" anchor="ctr">
            <a:noAutofit/>
          </a:bodyPr>
          <a:lstStyle>
            <a:defPPr algn="ctr">
              <a:defRPr sz="2100" b="0">
                <a:solidFill>
                  <a:srgbClr val="086EAD"/>
                </a:solidFill>
                <a:latin typeface="Times New Roman" panose="02020603050405020304"/>
                <a:ea typeface="Times New Roman" panose="02020603050405020304"/>
                <a:cs typeface="Times New Roman" panose="02020603050405020304"/>
              </a:defRPr>
            </a:defPPr>
          </a:lstStyle>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Geometry </a:t>
            </a:r>
            <a:r>
              <a:rPr lang="en-US" sz="2100" b="0">
                <a:solidFill>
                  <a:srgbClr val="086EAD"/>
                </a:solidFill>
                <a:latin typeface="Times New Roman" panose="02020603050405020304"/>
                <a:ea typeface="Times New Roman" panose="02020603050405020304"/>
                <a:cs typeface="Times New Roman" panose="02020603050405020304"/>
              </a:rPr>
              <a:t>and</a:t>
            </a:r>
            <a:r>
              <a:rPr sz="2100" b="0">
                <a:solidFill>
                  <a:srgbClr val="086EAD"/>
                </a:solidFill>
                <a:latin typeface="Times New Roman" panose="02020603050405020304"/>
                <a:ea typeface="Times New Roman" panose="02020603050405020304"/>
                <a:cs typeface="Times New Roman" panose="02020603050405020304"/>
              </a:rPr>
              <a:t> inputs</a:t>
            </a:r>
            <a:endParaRPr sz="2100" b="0">
              <a:solidFill>
                <a:srgbClr val="086EAD"/>
              </a:solidFill>
              <a:latin typeface="Times New Roman" panose="02020603050405020304"/>
              <a:ea typeface="Times New Roman" panose="02020603050405020304"/>
              <a:cs typeface="Times New Roman" panose="02020603050405020304"/>
            </a:endParaRPr>
          </a:p>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Angle, tip radius, voltage</a:t>
            </a:r>
            <a:endParaRPr sz="2100" b="0">
              <a:solidFill>
                <a:srgbClr val="086EAD"/>
              </a:solidFill>
              <a:latin typeface="Times New Roman" panose="02020603050405020304"/>
              <a:ea typeface="Times New Roman" panose="02020603050405020304"/>
              <a:cs typeface="Times New Roman" panose="02020603050405020304"/>
            </a:endParaRPr>
          </a:p>
        </p:txBody>
      </p:sp>
      <p:sp>
        <p:nvSpPr>
          <p:cNvPr id="314" name="workflow-arrow-0-0"/>
          <p:cNvSpPr>
            <a:spLocks noGrp="1"/>
          </p:cNvSpPr>
          <p:nvPr/>
        </p:nvSpPr>
        <p:spPr>
          <a:xfrm>
            <a:off x="15011400" y="5010150"/>
            <a:ext cx="219075" cy="228600"/>
          </a:xfrm>
          <a:prstGeom prst="rightArrow">
            <a:avLst/>
          </a:prstGeom>
          <a:solidFill>
            <a:srgbClr val="086EAD"/>
          </a:solidFill>
          <a:ln w="0"/>
        </p:spPr>
      </p:sp>
      <mc:AlternateContent xmlns:mc="http://schemas.openxmlformats.org/markup-compatibility/2006">
        <mc:Choice xmlns:a14="http://schemas.microsoft.com/office/drawing/2010/main" Requires="a14">
          <p:sp>
            <p:nvSpPr>
              <p:cNvPr id="315" name="workflow-node-0-1"/>
              <p:cNvSpPr>
                <a:spLocks noGrp="1"/>
              </p:cNvSpPr>
              <p:nvPr/>
            </p:nvSpPr>
            <p:spPr>
              <a:xfrm>
                <a:off x="15278100" y="4600575"/>
                <a:ext cx="3343275" cy="1085850"/>
              </a:xfrm>
              <a:prstGeom prst="roundRect">
                <a:avLst>
                  <a:gd name="adj" fmla="val 10526"/>
                </a:avLst>
              </a:prstGeom>
              <a:solidFill>
                <a:srgbClr val="E5F1FA"/>
              </a:solidFill>
              <a:ln w="16193">
                <a:solidFill>
                  <a:srgbClr val="5A9BC4"/>
                </a:solidFill>
                <a:prstDash val="solid"/>
              </a:ln>
            </p:spPr>
            <p:txBody>
              <a:bodyPr wrap="square" lIns="76200" tIns="76200" rIns="76200" bIns="76200" anchor="ctr">
                <a:noAutofit/>
              </a:bodyPr>
              <a:lstStyle>
                <a:defPPr algn="ctr">
                  <a:defRPr sz="2100" b="0">
                    <a:solidFill>
                      <a:srgbClr val="086EAD"/>
                    </a:solidFill>
                    <a:latin typeface="Times New Roman" panose="02020603050405020304"/>
                    <a:ea typeface="Times New Roman" panose="02020603050405020304"/>
                    <a:cs typeface="Times New Roman" panose="02020603050405020304"/>
                  </a:defRPr>
                </a:defPPr>
              </a:lstStyle>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Field </a:t>
                </a:r>
                <a:r>
                  <a:rPr lang="en-US" sz="2100" b="0">
                    <a:solidFill>
                      <a:srgbClr val="086EAD"/>
                    </a:solidFill>
                    <a:latin typeface="Times New Roman" panose="02020603050405020304"/>
                    <a:ea typeface="Times New Roman" panose="02020603050405020304"/>
                    <a:cs typeface="Times New Roman" panose="02020603050405020304"/>
                  </a:rPr>
                  <a:t>and</a:t>
                </a:r>
                <a:r>
                  <a:rPr sz="2100" b="0">
                    <a:solidFill>
                      <a:srgbClr val="086EAD"/>
                    </a:solidFill>
                    <a:latin typeface="Times New Roman" panose="02020603050405020304"/>
                    <a:ea typeface="Times New Roman" panose="02020603050405020304"/>
                    <a:cs typeface="Times New Roman" panose="02020603050405020304"/>
                  </a:rPr>
                  <a:t> curvature</a:t>
                </a:r>
                <a:endParaRPr sz="2100" b="0">
                  <a:solidFill>
                    <a:srgbClr val="086EAD"/>
                  </a:solidFill>
                  <a:latin typeface="Times New Roman" panose="02020603050405020304"/>
                  <a:ea typeface="Times New Roman" panose="02020603050405020304"/>
                  <a:cs typeface="Times New Roman" panose="02020603050405020304"/>
                </a:endParaRPr>
              </a:p>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φ, </a:t>
                </a:r>
                <a14:m>
                  <m:oMath xmlns:m="http://schemas.openxmlformats.org/officeDocument/2006/math">
                    <m:sSub>
                      <m:sSubPr>
                        <m:ctrlPr>
                          <a:rPr lang="en-US" sz="2100" b="0" i="1">
                            <a:solidFill>
                              <a:srgbClr val="086EAD"/>
                            </a:solidFill>
                            <a:latin typeface="DejaVu Math TeX Gyre" panose="02000503000000000000" charset="0"/>
                            <a:ea typeface="Times New Roman" panose="02020603050405020304"/>
                            <a:cs typeface="DejaVu Math TeX Gyre" panose="02000503000000000000" charset="0"/>
                          </a:rPr>
                        </m:ctrlPr>
                      </m:sSubPr>
                      <m:e>
                        <m:r>
                          <a:rPr lang="en-US" sz="2100" b="0" i="1">
                            <a:solidFill>
                              <a:srgbClr val="086EAD"/>
                            </a:solidFill>
                            <a:latin typeface="DejaVu Math TeX Gyre" panose="02000503000000000000" charset="0"/>
                            <a:ea typeface="Times New Roman" panose="02020603050405020304"/>
                            <a:cs typeface="DejaVu Math TeX Gyre" panose="02000503000000000000" charset="0"/>
                          </a:rPr>
                          <m:t>𝐸</m:t>
                        </m:r>
                      </m:e>
                      <m:sub>
                        <m:r>
                          <a:rPr lang="en-US" sz="2100" b="0" i="1">
                            <a:solidFill>
                              <a:srgbClr val="086EAD"/>
                            </a:solidFill>
                            <a:latin typeface="DejaVu Math TeX Gyre" panose="02000503000000000000" charset="0"/>
                            <a:ea typeface="Times New Roman" panose="02020603050405020304"/>
                            <a:cs typeface="DejaVu Math TeX Gyre" panose="02000503000000000000" charset="0"/>
                          </a:rPr>
                          <m:t>𝑛</m:t>
                        </m:r>
                      </m:sub>
                    </m:sSub>
                  </m:oMath>
                </a14:m>
                <a:r>
                  <a:rPr sz="2100" b="0">
                    <a:solidFill>
                      <a:srgbClr val="086EAD"/>
                    </a:solidFill>
                    <a:latin typeface="Times New Roman" panose="02020603050405020304"/>
                    <a:ea typeface="Times New Roman" panose="02020603050405020304"/>
                    <a:cs typeface="Times New Roman" panose="02020603050405020304"/>
                  </a:rPr>
                  <a:t>, κ</a:t>
                </a:r>
                <a:endParaRPr sz="2100" b="0">
                  <a:solidFill>
                    <a:srgbClr val="086EAD"/>
                  </a:solidFill>
                  <a:latin typeface="Times New Roman" panose="02020603050405020304"/>
                  <a:ea typeface="Times New Roman" panose="02020603050405020304"/>
                  <a:cs typeface="Times New Roman" panose="02020603050405020304"/>
                </a:endParaRPr>
              </a:p>
            </p:txBody>
          </p:sp>
        </mc:Choice>
        <mc:Fallback>
          <p:sp>
            <p:nvSpPr>
              <p:cNvPr id="315" name="workflow-node-0-1"/>
              <p:cNvSpPr>
                <a:spLocks noRot="1" noChangeAspect="1" noMove="1" noResize="1" noEditPoints="1" noAdjustHandles="1" noChangeArrowheads="1" noChangeShapeType="1" noTextEdit="1"/>
              </p:cNvSpPr>
              <p:nvPr/>
            </p:nvSpPr>
            <p:spPr>
              <a:xfrm>
                <a:off x="15278100" y="4600575"/>
                <a:ext cx="3343275" cy="1085850"/>
              </a:xfrm>
              <a:prstGeom prst="roundRect">
                <a:avLst>
                  <a:gd name="adj" fmla="val 10526"/>
                </a:avLst>
              </a:prstGeom>
              <a:blipFill rotWithShape="1">
                <a:blip r:embed="rId21"/>
                <a:stretch>
                  <a:fillRect l="-247" t="-760" r="-228" b="-702"/>
                </a:stretch>
              </a:blipFill>
              <a:ln w="16193">
                <a:solidFill>
                  <a:srgbClr val="5A9BC4"/>
                </a:solidFill>
                <a:prstDash val="solid"/>
              </a:ln>
            </p:spPr>
            <p:txBody>
              <a:bodyPr/>
              <a:lstStyle/>
              <a:p>
                <a:r>
                  <a:rPr lang="zh-CN" altLang="en-US">
                    <a:noFill/>
                  </a:rPr>
                  <a:t> </a:t>
                </a:r>
              </a:p>
            </p:txBody>
          </p:sp>
        </mc:Fallback>
      </mc:AlternateContent>
      <p:sp>
        <p:nvSpPr>
          <p:cNvPr id="316" name="workflow-arrow-0-1"/>
          <p:cNvSpPr>
            <a:spLocks noGrp="1"/>
          </p:cNvSpPr>
          <p:nvPr/>
        </p:nvSpPr>
        <p:spPr>
          <a:xfrm>
            <a:off x="18688050" y="5010150"/>
            <a:ext cx="219075" cy="228600"/>
          </a:xfrm>
          <a:prstGeom prst="rightArrow">
            <a:avLst/>
          </a:prstGeom>
          <a:solidFill>
            <a:srgbClr val="086EAD"/>
          </a:solidFill>
          <a:ln w="0"/>
        </p:spPr>
      </p:sp>
      <mc:AlternateContent xmlns:mc="http://schemas.openxmlformats.org/markup-compatibility/2006">
        <mc:Choice xmlns:a14="http://schemas.microsoft.com/office/drawing/2010/main" Requires="a14">
          <p:sp>
            <p:nvSpPr>
              <p:cNvPr id="317" name="workflow-node-0-2"/>
              <p:cNvSpPr>
                <a:spLocks noGrp="1"/>
              </p:cNvSpPr>
              <p:nvPr/>
            </p:nvSpPr>
            <p:spPr>
              <a:xfrm>
                <a:off x="18954750" y="4600575"/>
                <a:ext cx="3343275" cy="1085850"/>
              </a:xfrm>
              <a:prstGeom prst="roundRect">
                <a:avLst>
                  <a:gd name="adj" fmla="val 10526"/>
                </a:avLst>
              </a:prstGeom>
              <a:solidFill>
                <a:srgbClr val="E5F1FA"/>
              </a:solidFill>
              <a:ln w="16193">
                <a:solidFill>
                  <a:srgbClr val="5A9BC4"/>
                </a:solidFill>
                <a:prstDash val="solid"/>
              </a:ln>
            </p:spPr>
            <p:txBody>
              <a:bodyPr wrap="square" lIns="76200" tIns="76200" rIns="76200" bIns="76200" anchor="ctr">
                <a:noAutofit/>
              </a:bodyPr>
              <a:lstStyle>
                <a:defPPr algn="ctr">
                  <a:defRPr sz="2100" b="0">
                    <a:solidFill>
                      <a:srgbClr val="086EAD"/>
                    </a:solidFill>
                    <a:latin typeface="Times New Roman" panose="02020603050405020304"/>
                    <a:ea typeface="Times New Roman" panose="02020603050405020304"/>
                    <a:cs typeface="Times New Roman" panose="02020603050405020304"/>
                  </a:defRPr>
                </a:defPPr>
              </a:lstStyle>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Interface stresses</a:t>
                </a:r>
                <a:endParaRPr sz="2100" b="0">
                  <a:solidFill>
                    <a:srgbClr val="086EAD"/>
                  </a:solidFill>
                  <a:latin typeface="Times New Roman" panose="02020603050405020304"/>
                  <a:ea typeface="Times New Roman" panose="02020603050405020304"/>
                  <a:cs typeface="Times New Roman" panose="02020603050405020304"/>
                </a:endParaRPr>
              </a:p>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γκ and ½ε₀</a:t>
                </a:r>
                <a14:m>
                  <m:oMath xmlns:m="http://schemas.openxmlformats.org/officeDocument/2006/math">
                    <m:sSub>
                      <m:sSubPr>
                        <m:ctrlPr>
                          <a:rPr lang="en-US" sz="2100" b="0" i="1">
                            <a:solidFill>
                              <a:srgbClr val="086EAD"/>
                            </a:solidFill>
                            <a:latin typeface="DejaVu Math TeX Gyre" panose="02000503000000000000" charset="0"/>
                            <a:ea typeface="Times New Roman" panose="02020603050405020304"/>
                            <a:cs typeface="DejaVu Math TeX Gyre" panose="02000503000000000000" charset="0"/>
                          </a:rPr>
                        </m:ctrlPr>
                      </m:sSubPr>
                      <m:e>
                        <m:r>
                          <a:rPr lang="en-US" sz="2100" b="0" i="1">
                            <a:solidFill>
                              <a:srgbClr val="086EAD"/>
                            </a:solidFill>
                            <a:latin typeface="DejaVu Math TeX Gyre" panose="02000503000000000000" charset="0"/>
                            <a:ea typeface="Times New Roman" panose="02020603050405020304"/>
                            <a:cs typeface="DejaVu Math TeX Gyre" panose="02000503000000000000" charset="0"/>
                          </a:rPr>
                          <m:t>𝐸</m:t>
                        </m:r>
                      </m:e>
                      <m:sub>
                        <m:r>
                          <a:rPr lang="en-US" sz="2100" b="0" i="1">
                            <a:solidFill>
                              <a:srgbClr val="086EAD"/>
                            </a:solidFill>
                            <a:latin typeface="DejaVu Math TeX Gyre" panose="02000503000000000000" charset="0"/>
                            <a:ea typeface="Times New Roman" panose="02020603050405020304"/>
                            <a:cs typeface="DejaVu Math TeX Gyre" panose="02000503000000000000" charset="0"/>
                          </a:rPr>
                          <m:t>𝑛</m:t>
                        </m:r>
                      </m:sub>
                    </m:sSub>
                  </m:oMath>
                </a14:m>
                <a:r>
                  <a:rPr sz="2100" b="0">
                    <a:solidFill>
                      <a:srgbClr val="086EAD"/>
                    </a:solidFill>
                    <a:latin typeface="Times New Roman" panose="02020603050405020304"/>
                    <a:ea typeface="Times New Roman" panose="02020603050405020304"/>
                    <a:cs typeface="Times New Roman" panose="02020603050405020304"/>
                  </a:rPr>
                  <a:t>²</a:t>
                </a:r>
                <a:endParaRPr sz="2100" b="0">
                  <a:solidFill>
                    <a:srgbClr val="086EAD"/>
                  </a:solidFill>
                  <a:latin typeface="Times New Roman" panose="02020603050405020304"/>
                  <a:ea typeface="Times New Roman" panose="02020603050405020304"/>
                  <a:cs typeface="Times New Roman" panose="02020603050405020304"/>
                </a:endParaRPr>
              </a:p>
            </p:txBody>
          </p:sp>
        </mc:Choice>
        <mc:Fallback>
          <p:sp>
            <p:nvSpPr>
              <p:cNvPr id="317" name="workflow-node-0-2"/>
              <p:cNvSpPr>
                <a:spLocks noRot="1" noChangeAspect="1" noMove="1" noResize="1" noEditPoints="1" noAdjustHandles="1" noChangeArrowheads="1" noChangeShapeType="1" noTextEdit="1"/>
              </p:cNvSpPr>
              <p:nvPr/>
            </p:nvSpPr>
            <p:spPr>
              <a:xfrm>
                <a:off x="18954750" y="4600575"/>
                <a:ext cx="3343275" cy="1085850"/>
              </a:xfrm>
              <a:prstGeom prst="roundRect">
                <a:avLst>
                  <a:gd name="adj" fmla="val 10526"/>
                </a:avLst>
              </a:prstGeom>
              <a:blipFill rotWithShape="1">
                <a:blip r:embed="rId22"/>
                <a:stretch>
                  <a:fillRect l="-247" t="-760" r="-228" b="-702"/>
                </a:stretch>
              </a:blipFill>
              <a:ln w="16193">
                <a:solidFill>
                  <a:srgbClr val="5A9BC4"/>
                </a:solidFill>
                <a:prstDash val="solid"/>
              </a:ln>
            </p:spPr>
            <p:txBody>
              <a:bodyPr/>
              <a:lstStyle/>
              <a:p>
                <a:r>
                  <a:rPr lang="zh-CN" altLang="en-US">
                    <a:noFill/>
                  </a:rPr>
                  <a:t> </a:t>
                </a:r>
              </a:p>
            </p:txBody>
          </p:sp>
        </mc:Fallback>
      </mc:AlternateContent>
      <p:sp>
        <p:nvSpPr>
          <p:cNvPr id="318" name="workflow-arrow-0-2"/>
          <p:cNvSpPr>
            <a:spLocks noGrp="1"/>
          </p:cNvSpPr>
          <p:nvPr/>
        </p:nvSpPr>
        <p:spPr>
          <a:xfrm>
            <a:off x="22364700" y="5010150"/>
            <a:ext cx="219075" cy="228600"/>
          </a:xfrm>
          <a:prstGeom prst="rightArrow">
            <a:avLst/>
          </a:prstGeom>
          <a:solidFill>
            <a:srgbClr val="086EAD"/>
          </a:solidFill>
          <a:ln w="0"/>
        </p:spPr>
      </p:sp>
      <p:sp>
        <p:nvSpPr>
          <p:cNvPr id="319" name="workflow-node-0-3"/>
          <p:cNvSpPr>
            <a:spLocks noGrp="1"/>
          </p:cNvSpPr>
          <p:nvPr/>
        </p:nvSpPr>
        <p:spPr>
          <a:xfrm>
            <a:off x="22631400" y="4600575"/>
            <a:ext cx="3343275" cy="1085850"/>
          </a:xfrm>
          <a:prstGeom prst="roundRect">
            <a:avLst>
              <a:gd name="adj" fmla="val 10526"/>
            </a:avLst>
          </a:prstGeom>
          <a:solidFill>
            <a:srgbClr val="E5F1FA"/>
          </a:solidFill>
          <a:ln w="16193">
            <a:solidFill>
              <a:srgbClr val="5A9BC4"/>
            </a:solidFill>
            <a:prstDash val="solid"/>
          </a:ln>
        </p:spPr>
        <p:txBody>
          <a:bodyPr wrap="square" lIns="76200" tIns="76200" rIns="76200" bIns="76200" anchor="ctr">
            <a:noAutofit/>
          </a:bodyPr>
          <a:lstStyle>
            <a:defPPr algn="ctr">
              <a:defRPr sz="2100" b="0">
                <a:solidFill>
                  <a:srgbClr val="086EAD"/>
                </a:solidFill>
                <a:latin typeface="Times New Roman" panose="02020603050405020304"/>
                <a:ea typeface="Times New Roman" panose="02020603050405020304"/>
                <a:cs typeface="Times New Roman" panose="02020603050405020304"/>
              </a:defRPr>
            </a:defPPr>
          </a:lstStyle>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Balance residual</a:t>
            </a:r>
            <a:endParaRPr sz="2100" b="0">
              <a:solidFill>
                <a:srgbClr val="086EAD"/>
              </a:solidFill>
              <a:latin typeface="Times New Roman" panose="02020603050405020304"/>
              <a:ea typeface="Times New Roman" panose="02020603050405020304"/>
              <a:cs typeface="Times New Roman" panose="02020603050405020304"/>
            </a:endParaRPr>
          </a:p>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R = pγ − pE − Δp</a:t>
            </a:r>
            <a:endParaRPr sz="2100" b="0">
              <a:solidFill>
                <a:srgbClr val="086EAD"/>
              </a:solidFill>
              <a:latin typeface="Times New Roman" panose="02020603050405020304"/>
              <a:ea typeface="Times New Roman" panose="02020603050405020304"/>
              <a:cs typeface="Times New Roman" panose="02020603050405020304"/>
            </a:endParaRPr>
          </a:p>
        </p:txBody>
      </p:sp>
      <p:sp>
        <p:nvSpPr>
          <p:cNvPr id="320" name="workflow-track-1"/>
          <p:cNvSpPr>
            <a:spLocks noGrp="1"/>
          </p:cNvSpPr>
          <p:nvPr/>
        </p:nvSpPr>
        <p:spPr>
          <a:xfrm>
            <a:off x="11601450" y="5905500"/>
            <a:ext cx="14382750" cy="371475"/>
          </a:xfrm>
          <a:prstGeom prst="rect">
            <a:avLst/>
          </a:prstGeom>
          <a:noFill/>
          <a:ln w="0"/>
        </p:spPr>
        <p:txBody>
          <a:bodyPr wrap="square" lIns="0" tIns="0" rIns="0" bIns="0" anchor="t">
            <a:noAutofit/>
          </a:bodyPr>
          <a:lstStyle>
            <a:defPPr algn="l">
              <a:defRPr sz="2175" b="1">
                <a:solidFill>
                  <a:srgbClr val="AA6719"/>
                </a:solidFill>
                <a:latin typeface="Times New Roman" panose="02020603050405020304"/>
                <a:ea typeface="Times New Roman" panose="02020603050405020304"/>
                <a:cs typeface="Times New Roman" panose="02020603050405020304"/>
              </a:defRPr>
            </a:defPPr>
          </a:lstStyle>
          <a:p>
            <a:pPr algn="l">
              <a:defRPr sz="2175" b="1">
                <a:solidFill>
                  <a:srgbClr val="AA6719"/>
                </a:solidFill>
                <a:latin typeface="Times New Roman" panose="02020603050405020304"/>
                <a:ea typeface="Times New Roman" panose="02020603050405020304"/>
                <a:cs typeface="Times New Roman" panose="02020603050405020304"/>
              </a:defRPr>
            </a:pPr>
            <a:r>
              <a:rPr sz="2175" b="1">
                <a:solidFill>
                  <a:srgbClr val="AA6719"/>
                </a:solidFill>
                <a:latin typeface="Times New Roman" panose="02020603050405020304"/>
                <a:ea typeface="Times New Roman" panose="02020603050405020304"/>
                <a:cs typeface="Times New Roman" panose="02020603050405020304"/>
              </a:rPr>
              <a:t>EXPERIMENTAL IMAGES</a:t>
            </a:r>
            <a:endParaRPr sz="2175" b="1">
              <a:solidFill>
                <a:srgbClr val="AA6719"/>
              </a:solidFill>
              <a:latin typeface="Times New Roman" panose="02020603050405020304"/>
              <a:ea typeface="Times New Roman" panose="02020603050405020304"/>
              <a:cs typeface="Times New Roman" panose="02020603050405020304"/>
            </a:endParaRPr>
          </a:p>
        </p:txBody>
      </p:sp>
      <p:sp>
        <p:nvSpPr>
          <p:cNvPr id="321" name="workflow-node-1-0"/>
          <p:cNvSpPr>
            <a:spLocks noGrp="1"/>
          </p:cNvSpPr>
          <p:nvPr/>
        </p:nvSpPr>
        <p:spPr>
          <a:xfrm>
            <a:off x="11601450" y="6353175"/>
            <a:ext cx="3343275" cy="1085850"/>
          </a:xfrm>
          <a:prstGeom prst="roundRect">
            <a:avLst>
              <a:gd name="adj" fmla="val 10526"/>
            </a:avLst>
          </a:prstGeom>
          <a:solidFill>
            <a:srgbClr val="FFF2DE"/>
          </a:solidFill>
          <a:ln w="16193">
            <a:solidFill>
              <a:srgbClr val="D7A765"/>
            </a:solidFill>
            <a:prstDash val="solid"/>
          </a:ln>
        </p:spPr>
        <p:txBody>
          <a:bodyPr wrap="square" lIns="76200" tIns="76200" rIns="76200" bIns="76200" anchor="ctr">
            <a:noAutofit/>
          </a:bodyPr>
          <a:lstStyle>
            <a:defPPr algn="ctr">
              <a:defRPr sz="2100" b="0">
                <a:solidFill>
                  <a:srgbClr val="AA6719"/>
                </a:solidFill>
                <a:latin typeface="Times New Roman" panose="02020603050405020304"/>
                <a:ea typeface="Times New Roman" panose="02020603050405020304"/>
                <a:cs typeface="Times New Roman" panose="02020603050405020304"/>
              </a:defRPr>
            </a:defPPr>
          </a:lstStyle>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Published photographs</a:t>
            </a:r>
            <a:endParaRPr sz="2100" b="0">
              <a:solidFill>
                <a:srgbClr val="AA6719"/>
              </a:solidFill>
              <a:latin typeface="Times New Roman" panose="02020603050405020304"/>
              <a:ea typeface="Times New Roman" panose="02020603050405020304"/>
              <a:cs typeface="Times New Roman" panose="02020603050405020304"/>
            </a:endParaRPr>
          </a:p>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Ethanol cone-jet case</a:t>
            </a:r>
            <a:endParaRPr sz="2100" b="0">
              <a:solidFill>
                <a:srgbClr val="AA6719"/>
              </a:solidFill>
              <a:latin typeface="Times New Roman" panose="02020603050405020304"/>
              <a:ea typeface="Times New Roman" panose="02020603050405020304"/>
              <a:cs typeface="Times New Roman" panose="02020603050405020304"/>
            </a:endParaRPr>
          </a:p>
        </p:txBody>
      </p:sp>
      <p:sp>
        <p:nvSpPr>
          <p:cNvPr id="322" name="workflow-arrow-1-0"/>
          <p:cNvSpPr>
            <a:spLocks noGrp="1"/>
          </p:cNvSpPr>
          <p:nvPr/>
        </p:nvSpPr>
        <p:spPr>
          <a:xfrm>
            <a:off x="15011400" y="6762750"/>
            <a:ext cx="219075" cy="228600"/>
          </a:xfrm>
          <a:prstGeom prst="rightArrow">
            <a:avLst/>
          </a:prstGeom>
          <a:solidFill>
            <a:srgbClr val="AA6719"/>
          </a:solidFill>
          <a:ln w="0"/>
        </p:spPr>
      </p:sp>
      <p:sp>
        <p:nvSpPr>
          <p:cNvPr id="323" name="workflow-node-1-1"/>
          <p:cNvSpPr>
            <a:spLocks noGrp="1"/>
          </p:cNvSpPr>
          <p:nvPr/>
        </p:nvSpPr>
        <p:spPr>
          <a:xfrm>
            <a:off x="15278100" y="6353175"/>
            <a:ext cx="3343275" cy="1085850"/>
          </a:xfrm>
          <a:prstGeom prst="roundRect">
            <a:avLst>
              <a:gd name="adj" fmla="val 10526"/>
            </a:avLst>
          </a:prstGeom>
          <a:solidFill>
            <a:srgbClr val="FFF2DE"/>
          </a:solidFill>
          <a:ln w="16193">
            <a:solidFill>
              <a:srgbClr val="D7A765"/>
            </a:solidFill>
            <a:prstDash val="solid"/>
          </a:ln>
        </p:spPr>
        <p:txBody>
          <a:bodyPr wrap="square" lIns="76200" tIns="76200" rIns="76200" bIns="76200" anchor="ctr">
            <a:noAutofit/>
          </a:bodyPr>
          <a:lstStyle>
            <a:defPPr algn="ctr">
              <a:defRPr sz="2100" b="0">
                <a:solidFill>
                  <a:srgbClr val="AA6719"/>
                </a:solidFill>
                <a:latin typeface="Times New Roman" panose="02020603050405020304"/>
                <a:ea typeface="Times New Roman" panose="02020603050405020304"/>
                <a:cs typeface="Times New Roman" panose="02020603050405020304"/>
              </a:defRPr>
            </a:defPPr>
          </a:lstStyle>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Scale </a:t>
            </a:r>
            <a:r>
              <a:rPr lang="en-US" sz="2100" b="0">
                <a:solidFill>
                  <a:srgbClr val="AA6719"/>
                </a:solidFill>
                <a:latin typeface="Times New Roman" panose="02020603050405020304"/>
                <a:ea typeface="Times New Roman" panose="02020603050405020304"/>
                <a:cs typeface="Times New Roman" panose="02020603050405020304"/>
              </a:rPr>
              <a:t>and</a:t>
            </a:r>
            <a:r>
              <a:rPr sz="2100" b="0">
                <a:solidFill>
                  <a:srgbClr val="AA6719"/>
                </a:solidFill>
                <a:latin typeface="Times New Roman" panose="02020603050405020304"/>
                <a:ea typeface="Times New Roman" panose="02020603050405020304"/>
                <a:cs typeface="Times New Roman" panose="02020603050405020304"/>
              </a:rPr>
              <a:t> axis</a:t>
            </a:r>
            <a:endParaRPr sz="2100" b="0">
              <a:solidFill>
                <a:srgbClr val="AA6719"/>
              </a:solidFill>
              <a:latin typeface="Times New Roman" panose="02020603050405020304"/>
              <a:ea typeface="Times New Roman" panose="02020603050405020304"/>
              <a:cs typeface="Times New Roman" panose="02020603050405020304"/>
            </a:endParaRPr>
          </a:p>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Scale bar, registration</a:t>
            </a:r>
            <a:endParaRPr sz="2100" b="0">
              <a:solidFill>
                <a:srgbClr val="AA6719"/>
              </a:solidFill>
              <a:latin typeface="Times New Roman" panose="02020603050405020304"/>
              <a:ea typeface="Times New Roman" panose="02020603050405020304"/>
              <a:cs typeface="Times New Roman" panose="02020603050405020304"/>
            </a:endParaRPr>
          </a:p>
        </p:txBody>
      </p:sp>
      <p:sp>
        <p:nvSpPr>
          <p:cNvPr id="324" name="workflow-arrow-1-1"/>
          <p:cNvSpPr>
            <a:spLocks noGrp="1"/>
          </p:cNvSpPr>
          <p:nvPr/>
        </p:nvSpPr>
        <p:spPr>
          <a:xfrm>
            <a:off x="18688050" y="6762750"/>
            <a:ext cx="219075" cy="228600"/>
          </a:xfrm>
          <a:prstGeom prst="rightArrow">
            <a:avLst/>
          </a:prstGeom>
          <a:solidFill>
            <a:srgbClr val="AA6719"/>
          </a:solidFill>
          <a:ln w="0"/>
        </p:spPr>
      </p:sp>
      <p:sp>
        <p:nvSpPr>
          <p:cNvPr id="325" name="workflow-node-1-2"/>
          <p:cNvSpPr>
            <a:spLocks noGrp="1"/>
          </p:cNvSpPr>
          <p:nvPr/>
        </p:nvSpPr>
        <p:spPr>
          <a:xfrm>
            <a:off x="18954750" y="6353175"/>
            <a:ext cx="3343275" cy="1085850"/>
          </a:xfrm>
          <a:prstGeom prst="roundRect">
            <a:avLst>
              <a:gd name="adj" fmla="val 10526"/>
            </a:avLst>
          </a:prstGeom>
          <a:solidFill>
            <a:srgbClr val="FFF2DE"/>
          </a:solidFill>
          <a:ln w="16193">
            <a:solidFill>
              <a:srgbClr val="D7A765"/>
            </a:solidFill>
            <a:prstDash val="solid"/>
          </a:ln>
        </p:spPr>
        <p:txBody>
          <a:bodyPr wrap="square" lIns="76200" tIns="76200" rIns="76200" bIns="76200" anchor="ctr">
            <a:noAutofit/>
          </a:bodyPr>
          <a:lstStyle>
            <a:defPPr algn="ctr">
              <a:defRPr sz="2100" b="0">
                <a:solidFill>
                  <a:srgbClr val="AA6719"/>
                </a:solidFill>
                <a:latin typeface="Times New Roman" panose="02020603050405020304"/>
                <a:ea typeface="Times New Roman" panose="02020603050405020304"/>
                <a:cs typeface="Times New Roman" panose="02020603050405020304"/>
              </a:defRPr>
            </a:defPPr>
          </a:lstStyle>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Profile </a:t>
            </a:r>
            <a:r>
              <a:rPr lang="en-US" sz="2100" b="0">
                <a:solidFill>
                  <a:srgbClr val="AA6719"/>
                </a:solidFill>
                <a:latin typeface="Times New Roman" panose="02020603050405020304"/>
                <a:ea typeface="Times New Roman" panose="02020603050405020304"/>
                <a:cs typeface="Times New Roman" panose="02020603050405020304"/>
              </a:rPr>
              <a:t>and</a:t>
            </a:r>
            <a:r>
              <a:rPr sz="2100" b="0">
                <a:solidFill>
                  <a:srgbClr val="AA6719"/>
                </a:solidFill>
                <a:latin typeface="Times New Roman" panose="02020603050405020304"/>
                <a:ea typeface="Times New Roman" panose="02020603050405020304"/>
                <a:cs typeface="Times New Roman" panose="02020603050405020304"/>
              </a:rPr>
              <a:t> half-angle</a:t>
            </a:r>
            <a:endParaRPr sz="2100" b="0">
              <a:solidFill>
                <a:srgbClr val="AA6719"/>
              </a:solidFill>
              <a:latin typeface="Times New Roman" panose="02020603050405020304"/>
              <a:ea typeface="Times New Roman" panose="02020603050405020304"/>
              <a:cs typeface="Times New Roman" panose="02020603050405020304"/>
            </a:endParaRPr>
          </a:p>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Contour and flank fit</a:t>
            </a:r>
            <a:endParaRPr sz="2100" b="0">
              <a:solidFill>
                <a:srgbClr val="AA6719"/>
              </a:solidFill>
              <a:latin typeface="Times New Roman" panose="02020603050405020304"/>
              <a:ea typeface="Times New Roman" panose="02020603050405020304"/>
              <a:cs typeface="Times New Roman" panose="02020603050405020304"/>
            </a:endParaRPr>
          </a:p>
        </p:txBody>
      </p:sp>
      <p:sp>
        <p:nvSpPr>
          <p:cNvPr id="326" name="workflow-arrow-1-2"/>
          <p:cNvSpPr>
            <a:spLocks noGrp="1"/>
          </p:cNvSpPr>
          <p:nvPr/>
        </p:nvSpPr>
        <p:spPr>
          <a:xfrm>
            <a:off x="22364700" y="6762750"/>
            <a:ext cx="219075" cy="228600"/>
          </a:xfrm>
          <a:prstGeom prst="rightArrow">
            <a:avLst/>
          </a:prstGeom>
          <a:solidFill>
            <a:srgbClr val="AA6719"/>
          </a:solidFill>
          <a:ln w="0"/>
        </p:spPr>
      </p:sp>
      <p:sp>
        <p:nvSpPr>
          <p:cNvPr id="327" name="workflow-node-1-3"/>
          <p:cNvSpPr>
            <a:spLocks noGrp="1"/>
          </p:cNvSpPr>
          <p:nvPr/>
        </p:nvSpPr>
        <p:spPr>
          <a:xfrm>
            <a:off x="22631400" y="6353175"/>
            <a:ext cx="3343275" cy="1085850"/>
          </a:xfrm>
          <a:prstGeom prst="roundRect">
            <a:avLst>
              <a:gd name="adj" fmla="val 10526"/>
            </a:avLst>
          </a:prstGeom>
          <a:solidFill>
            <a:srgbClr val="FFF2DE"/>
          </a:solidFill>
          <a:ln w="16193">
            <a:solidFill>
              <a:srgbClr val="D7A765"/>
            </a:solidFill>
            <a:prstDash val="solid"/>
          </a:ln>
        </p:spPr>
        <p:txBody>
          <a:bodyPr wrap="square" lIns="76200" tIns="76200" rIns="76200" bIns="76200" anchor="ctr">
            <a:noAutofit/>
          </a:bodyPr>
          <a:lstStyle>
            <a:defPPr algn="ctr">
              <a:defRPr sz="2100" b="0">
                <a:solidFill>
                  <a:srgbClr val="AA6719"/>
                </a:solidFill>
                <a:latin typeface="Times New Roman" panose="02020603050405020304"/>
                <a:ea typeface="Times New Roman" panose="02020603050405020304"/>
                <a:cs typeface="Times New Roman" panose="02020603050405020304"/>
              </a:defRPr>
            </a:defPPr>
          </a:lstStyle>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Angle comparison</a:t>
            </a:r>
            <a:endParaRPr sz="2100" b="0">
              <a:solidFill>
                <a:srgbClr val="AA6719"/>
              </a:solidFill>
              <a:latin typeface="Times New Roman" panose="02020603050405020304"/>
              <a:ea typeface="Times New Roman" panose="02020603050405020304"/>
              <a:cs typeface="Times New Roman" panose="02020603050405020304"/>
            </a:endParaRPr>
          </a:p>
          <a:p>
            <a:pPr algn="ctr">
              <a:defRPr sz="2100" b="0">
                <a:solidFill>
                  <a:srgbClr val="AA6719"/>
                </a:solidFill>
                <a:latin typeface="Times New Roman" panose="02020603050405020304"/>
                <a:ea typeface="Times New Roman" panose="02020603050405020304"/>
                <a:cs typeface="Times New Roman" panose="02020603050405020304"/>
              </a:defRPr>
            </a:pPr>
            <a:r>
              <a:rPr sz="2100" b="0">
                <a:solidFill>
                  <a:srgbClr val="AA6719"/>
                </a:solidFill>
                <a:latin typeface="Times New Roman" panose="02020603050405020304"/>
                <a:ea typeface="Times New Roman" panose="02020603050405020304"/>
                <a:cs typeface="Times New Roman" panose="02020603050405020304"/>
              </a:rPr>
              <a:t>Three matched voltages</a:t>
            </a:r>
            <a:endParaRPr sz="2100" b="0">
              <a:solidFill>
                <a:srgbClr val="AA6719"/>
              </a:solidFill>
              <a:latin typeface="Times New Roman" panose="02020603050405020304"/>
              <a:ea typeface="Times New Roman" panose="02020603050405020304"/>
              <a:cs typeface="Times New Roman" panose="02020603050405020304"/>
            </a:endParaRPr>
          </a:p>
        </p:txBody>
      </p:sp>
      <p:sp>
        <p:nvSpPr>
          <p:cNvPr id="328" name="results-central-divider"/>
          <p:cNvSpPr>
            <a:spLocks noGrp="1"/>
          </p:cNvSpPr>
          <p:nvPr/>
        </p:nvSpPr>
        <p:spPr>
          <a:xfrm>
            <a:off x="22040850" y="17449800"/>
            <a:ext cx="0" cy="25717500"/>
          </a:xfrm>
          <a:prstGeom prst="line">
            <a:avLst/>
          </a:prstGeom>
          <a:ln w="15240">
            <a:solidFill>
              <a:srgbClr val="81A7C6"/>
            </a:solidFill>
            <a:prstDash val="dash"/>
          </a:ln>
        </p:spPr>
      </p:sp>
      <p:sp>
        <p:nvSpPr>
          <p:cNvPr id="329" name="results-row-divider-1"/>
          <p:cNvSpPr>
            <a:spLocks noGrp="1"/>
          </p:cNvSpPr>
          <p:nvPr/>
        </p:nvSpPr>
        <p:spPr>
          <a:xfrm>
            <a:off x="11487150" y="23850600"/>
            <a:ext cx="21107400" cy="0"/>
          </a:xfrm>
          <a:prstGeom prst="line">
            <a:avLst/>
          </a:prstGeom>
          <a:ln w="15240">
            <a:solidFill>
              <a:srgbClr val="81A7C6"/>
            </a:solidFill>
            <a:prstDash val="dash"/>
          </a:ln>
        </p:spPr>
      </p:sp>
      <p:sp>
        <p:nvSpPr>
          <p:cNvPr id="330" name="results-row-divider-2"/>
          <p:cNvSpPr>
            <a:spLocks noGrp="1"/>
          </p:cNvSpPr>
          <p:nvPr/>
        </p:nvSpPr>
        <p:spPr>
          <a:xfrm>
            <a:off x="11487150" y="30289500"/>
            <a:ext cx="21107400" cy="0"/>
          </a:xfrm>
          <a:prstGeom prst="line">
            <a:avLst/>
          </a:prstGeom>
          <a:ln w="15240">
            <a:solidFill>
              <a:srgbClr val="81A7C6"/>
            </a:solidFill>
            <a:prstDash val="dash"/>
          </a:ln>
        </p:spPr>
      </p:sp>
      <p:sp>
        <p:nvSpPr>
          <p:cNvPr id="331" name="results-row-divider-3"/>
          <p:cNvSpPr>
            <a:spLocks noGrp="1"/>
          </p:cNvSpPr>
          <p:nvPr/>
        </p:nvSpPr>
        <p:spPr>
          <a:xfrm>
            <a:off x="11487150" y="36728400"/>
            <a:ext cx="21107400" cy="0"/>
          </a:xfrm>
          <a:prstGeom prst="line">
            <a:avLst/>
          </a:prstGeom>
          <a:ln w="15240">
            <a:solidFill>
              <a:srgbClr val="81A7C6"/>
            </a:solidFill>
            <a:prstDash val="dash"/>
          </a:ln>
        </p:spPr>
      </p:sp>
      <p:graphicFrame>
        <p:nvGraphicFramePr>
          <p:cNvPr id="332" name="表格 331"/>
          <p:cNvGraphicFramePr/>
          <p:nvPr/>
        </p:nvGraphicFramePr>
        <p:xfrm>
          <a:off x="33185100" y="1085850"/>
          <a:ext cx="9993630" cy="2466975"/>
        </p:xfrm>
        <a:graphic>
          <a:graphicData uri="http://schemas.openxmlformats.org/drawingml/2006/table">
            <a:tbl>
              <a:tblPr/>
              <a:tblGrid>
                <a:gridCol w="6315075"/>
                <a:gridCol w="3678555"/>
              </a:tblGrid>
              <a:tr h="352425">
                <a:tc>
                  <a:txBody>
                    <a:bodyPr/>
                    <a:lstStyle/>
                    <a:p>
                      <a:r>
                        <a:rPr sz="2100" b="1">
                          <a:solidFill>
                            <a:srgbClr val="15212C"/>
                          </a:solidFill>
                          <a:latin typeface="Times New Roman" panose="02020603050405020304"/>
                          <a:ea typeface="Times New Roman" panose="02020603050405020304"/>
                          <a:cs typeface="Times New Roman" panose="02020603050405020304"/>
                        </a:rPr>
                        <a:t>FD–FEM metric</a:t>
                      </a:r>
                      <a:endParaRPr sz="2100" b="1">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D9E8F4"/>
                    </a:solidFill>
                  </a:tcPr>
                </a:tc>
                <a:tc>
                  <a:txBody>
                    <a:bodyPr/>
                    <a:lstStyle/>
                    <a:p>
                      <a:r>
                        <a:rPr sz="2100" b="1">
                          <a:solidFill>
                            <a:srgbClr val="15212C"/>
                          </a:solidFill>
                          <a:latin typeface="Times New Roman" panose="02020603050405020304"/>
                          <a:ea typeface="Times New Roman" panose="02020603050405020304"/>
                          <a:cs typeface="Times New Roman" panose="02020603050405020304"/>
                        </a:rPr>
                        <a:t>Difference / %</a:t>
                      </a:r>
                      <a:endParaRPr sz="2100" b="1">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D9E8F4"/>
                    </a:solidFill>
                  </a:tcPr>
                </a:tc>
              </a:tr>
              <a:tr h="352425">
                <a:tc>
                  <a:txBody>
                    <a:bodyPr/>
                    <a:lstStyle/>
                    <a:p>
                      <a:r>
                        <a:rPr sz="2100" b="0">
                          <a:solidFill>
                            <a:srgbClr val="15212C"/>
                          </a:solidFill>
                          <a:latin typeface="Times New Roman" panose="02020603050405020304"/>
                          <a:ea typeface="Times New Roman" panose="02020603050405020304"/>
                          <a:cs typeface="Times New Roman" panose="02020603050405020304"/>
                        </a:rPr>
                        <a:t>Potential RMS</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FFFFFF"/>
                    </a:solidFill>
                  </a:tcPr>
                </a:tc>
                <a:tc>
                  <a:txBody>
                    <a:bodyPr/>
                    <a:lstStyle/>
                    <a:p>
                      <a:r>
                        <a:rPr sz="2100" b="0">
                          <a:solidFill>
                            <a:srgbClr val="15212C"/>
                          </a:solidFill>
                          <a:latin typeface="Times New Roman" panose="02020603050405020304"/>
                          <a:ea typeface="Times New Roman" panose="02020603050405020304"/>
                          <a:cs typeface="Times New Roman" panose="02020603050405020304"/>
                        </a:rPr>
                        <a:t>0.024</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FFFFFF"/>
                    </a:solidFill>
                  </a:tcPr>
                </a:tc>
              </a:tr>
              <a:tr h="352425">
                <a:tc>
                  <a:txBody>
                    <a:bodyPr/>
                    <a:lstStyle/>
                    <a:p>
                      <a:r>
                        <a:rPr sz="2100" b="0">
                          <a:solidFill>
                            <a:srgbClr val="15212C"/>
                          </a:solidFill>
                          <a:latin typeface="Times New Roman" panose="02020603050405020304"/>
                          <a:ea typeface="Times New Roman" panose="02020603050405020304"/>
                          <a:cs typeface="Times New Roman" panose="02020603050405020304"/>
                        </a:rPr>
                        <a:t>Vector field RMS</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EDF3F8"/>
                    </a:solidFill>
                  </a:tcPr>
                </a:tc>
                <a:tc>
                  <a:txBody>
                    <a:bodyPr/>
                    <a:lstStyle/>
                    <a:p>
                      <a:r>
                        <a:rPr sz="2100" b="0">
                          <a:solidFill>
                            <a:srgbClr val="15212C"/>
                          </a:solidFill>
                          <a:latin typeface="Times New Roman" panose="02020603050405020304"/>
                          <a:ea typeface="Times New Roman" panose="02020603050405020304"/>
                          <a:cs typeface="Times New Roman" panose="02020603050405020304"/>
                        </a:rPr>
                        <a:t>0.226</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EDF3F8"/>
                    </a:solidFill>
                  </a:tcPr>
                </a:tc>
              </a:tr>
              <a:tr h="352425">
                <a:tc>
                  <a:txBody>
                    <a:bodyPr/>
                    <a:lstStyle/>
                    <a:p>
                      <a:r>
                        <a:rPr sz="2100" b="0">
                          <a:solidFill>
                            <a:srgbClr val="15212C"/>
                          </a:solidFill>
                          <a:latin typeface="Times New Roman" panose="02020603050405020304"/>
                          <a:ea typeface="Times New Roman" panose="02020603050405020304"/>
                          <a:cs typeface="Times New Roman" panose="02020603050405020304"/>
                        </a:rPr>
                        <a:t>Normal field RMS</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FFFFFF"/>
                    </a:solidFill>
                  </a:tcPr>
                </a:tc>
                <a:tc>
                  <a:txBody>
                    <a:bodyPr/>
                    <a:lstStyle/>
                    <a:p>
                      <a:r>
                        <a:rPr sz="2100" b="0">
                          <a:solidFill>
                            <a:srgbClr val="15212C"/>
                          </a:solidFill>
                          <a:latin typeface="Times New Roman" panose="02020603050405020304"/>
                          <a:ea typeface="Times New Roman" panose="02020603050405020304"/>
                          <a:cs typeface="Times New Roman" panose="02020603050405020304"/>
                        </a:rPr>
                        <a:t>0.381</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FFFFFF"/>
                    </a:solidFill>
                  </a:tcPr>
                </a:tc>
              </a:tr>
              <a:tr h="352425">
                <a:tc>
                  <a:txBody>
                    <a:bodyPr/>
                    <a:lstStyle/>
                    <a:p>
                      <a:r>
                        <a:rPr sz="2100" b="0">
                          <a:solidFill>
                            <a:srgbClr val="15212C"/>
                          </a:solidFill>
                          <a:latin typeface="Times New Roman" panose="02020603050405020304"/>
                          <a:ea typeface="Times New Roman" panose="02020603050405020304"/>
                          <a:cs typeface="Times New Roman" panose="02020603050405020304"/>
                        </a:rPr>
                        <a:t>Maxwell pressure RMS</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EDF3F8"/>
                    </a:solidFill>
                  </a:tcPr>
                </a:tc>
                <a:tc>
                  <a:txBody>
                    <a:bodyPr/>
                    <a:lstStyle/>
                    <a:p>
                      <a:r>
                        <a:rPr sz="2100" b="0">
                          <a:solidFill>
                            <a:srgbClr val="15212C"/>
                          </a:solidFill>
                          <a:latin typeface="Times New Roman" panose="02020603050405020304"/>
                          <a:ea typeface="Times New Roman" panose="02020603050405020304"/>
                          <a:cs typeface="Times New Roman" panose="02020603050405020304"/>
                        </a:rPr>
                        <a:t>0.817</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EDF3F8"/>
                    </a:solidFill>
                  </a:tcPr>
                </a:tc>
              </a:tr>
              <a:tr h="352425">
                <a:tc>
                  <a:txBody>
                    <a:bodyPr/>
                    <a:lstStyle/>
                    <a:p>
                      <a:r>
                        <a:rPr sz="2100" b="0">
                          <a:solidFill>
                            <a:srgbClr val="15212C"/>
                          </a:solidFill>
                          <a:latin typeface="Times New Roman" panose="02020603050405020304"/>
                          <a:ea typeface="Times New Roman" panose="02020603050405020304"/>
                          <a:cs typeface="Times New Roman" panose="02020603050405020304"/>
                        </a:rPr>
                        <a:t>Projected residual RMS</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FFFFFF"/>
                    </a:solidFill>
                  </a:tcPr>
                </a:tc>
                <a:tc>
                  <a:txBody>
                    <a:bodyPr/>
                    <a:lstStyle/>
                    <a:p>
                      <a:r>
                        <a:rPr sz="2100" b="0">
                          <a:solidFill>
                            <a:srgbClr val="15212C"/>
                          </a:solidFill>
                          <a:latin typeface="Times New Roman" panose="02020603050405020304"/>
                          <a:ea typeface="Times New Roman" panose="02020603050405020304"/>
                          <a:cs typeface="Times New Roman" panose="02020603050405020304"/>
                        </a:rPr>
                        <a:t>2.518</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FFFFFF"/>
                    </a:solidFill>
                  </a:tcPr>
                </a:tc>
              </a:tr>
              <a:tr h="352425">
                <a:tc>
                  <a:txBody>
                    <a:bodyPr/>
                    <a:lstStyle/>
                    <a:p>
                      <a:r>
                        <a:rPr sz="2100" b="0">
                          <a:solidFill>
                            <a:srgbClr val="15212C"/>
                          </a:solidFill>
                          <a:latin typeface="Times New Roman" panose="02020603050405020304"/>
                          <a:ea typeface="Times New Roman" panose="02020603050405020304"/>
                          <a:cs typeface="Times New Roman" panose="02020603050405020304"/>
                        </a:rPr>
                        <a:t>Projected voltage</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EDF3F8"/>
                    </a:solidFill>
                  </a:tcPr>
                </a:tc>
                <a:tc>
                  <a:txBody>
                    <a:bodyPr/>
                    <a:lstStyle/>
                    <a:p>
                      <a:r>
                        <a:rPr sz="2100" b="0">
                          <a:solidFill>
                            <a:srgbClr val="15212C"/>
                          </a:solidFill>
                          <a:latin typeface="Times New Roman" panose="02020603050405020304"/>
                          <a:ea typeface="Times New Roman" panose="02020603050405020304"/>
                          <a:cs typeface="Times New Roman" panose="02020603050405020304"/>
                        </a:rPr>
                        <a:t>1.071</a:t>
                      </a:r>
                      <a:endParaRPr sz="2100" b="0">
                        <a:solidFill>
                          <a:srgbClr val="15212C"/>
                        </a:solidFill>
                        <a:latin typeface="Times New Roman" panose="02020603050405020304"/>
                        <a:ea typeface="Times New Roman" panose="02020603050405020304"/>
                        <a:cs typeface="Times New Roman" panose="02020603050405020304"/>
                      </a:endParaRPr>
                    </a:p>
                  </a:txBody>
                  <a:tcPr marL="95250" marR="76200" marT="19050" marB="19050" anchor="ctr">
                    <a:solidFill>
                      <a:srgbClr val="EDF3F8"/>
                    </a:solidFill>
                  </a:tcPr>
                </a:tc>
              </a:tr>
            </a:tbl>
          </a:graphicData>
        </a:graphic>
      </p:graphicFrame>
      <p:graphicFrame>
        <p:nvGraphicFramePr>
          <p:cNvPr id="333" name="表格 332"/>
          <p:cNvGraphicFramePr/>
          <p:nvPr/>
        </p:nvGraphicFramePr>
        <p:xfrm>
          <a:off x="381000" y="33832800"/>
          <a:ext cx="10515600" cy="2609852"/>
        </p:xfrm>
        <a:graphic>
          <a:graphicData uri="http://schemas.openxmlformats.org/drawingml/2006/table">
            <a:tbl>
              <a:tblPr/>
              <a:tblGrid>
                <a:gridCol w="2952750"/>
                <a:gridCol w="3762375"/>
                <a:gridCol w="3800475"/>
              </a:tblGrid>
              <a:tr h="372836">
                <a:tc>
                  <a:txBody>
                    <a:bodyPr/>
                    <a:lstStyle/>
                    <a:p>
                      <a:r>
                        <a:rPr sz="1950" b="1">
                          <a:solidFill>
                            <a:srgbClr val="15212C"/>
                          </a:solidFill>
                          <a:latin typeface="Times New Roman" panose="02020603050405020304"/>
                          <a:ea typeface="Times New Roman" panose="02020603050405020304"/>
                          <a:cs typeface="Times New Roman" panose="02020603050405020304"/>
                        </a:rPr>
                        <a:t>Voltage (kV)</a:t>
                      </a:r>
                      <a:endParaRPr sz="1950" b="1">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D9E8F4"/>
                    </a:solidFill>
                  </a:tcPr>
                </a:tc>
                <a:tc>
                  <a:txBody>
                    <a:bodyPr/>
                    <a:lstStyle/>
                    <a:p>
                      <a:r>
                        <a:rPr sz="1950" b="1">
                          <a:solidFill>
                            <a:srgbClr val="15212C"/>
                          </a:solidFill>
                          <a:latin typeface="Times New Roman" panose="02020603050405020304"/>
                          <a:ea typeface="Times New Roman" panose="02020603050405020304"/>
                          <a:cs typeface="Times New Roman" panose="02020603050405020304"/>
                        </a:rPr>
                        <a:t>Image angle (°)</a:t>
                      </a:r>
                      <a:endParaRPr sz="1950" b="1">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D9E8F4"/>
                    </a:solidFill>
                  </a:tcPr>
                </a:tc>
                <a:tc>
                  <a:txBody>
                    <a:bodyPr/>
                    <a:lstStyle/>
                    <a:p>
                      <a:r>
                        <a:rPr sz="1950" b="1">
                          <a:solidFill>
                            <a:srgbClr val="15212C"/>
                          </a:solidFill>
                          <a:latin typeface="Times New Roman" panose="02020603050405020304"/>
                          <a:ea typeface="Times New Roman" panose="02020603050405020304"/>
                          <a:cs typeface="Times New Roman" panose="02020603050405020304"/>
                        </a:rPr>
                        <a:t>Reported angle (°)</a:t>
                      </a:r>
                      <a:endParaRPr sz="1950" b="1">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D9E8F4"/>
                    </a:solidFill>
                  </a:tcPr>
                </a:tc>
              </a:tr>
              <a:tr h="372836">
                <a:tc>
                  <a:txBody>
                    <a:bodyPr/>
                    <a:lstStyle/>
                    <a:p>
                      <a:r>
                        <a:rPr sz="1950" b="0">
                          <a:solidFill>
                            <a:srgbClr val="15212C"/>
                          </a:solidFill>
                          <a:latin typeface="Times New Roman" panose="02020603050405020304"/>
                          <a:ea typeface="Times New Roman" panose="02020603050405020304"/>
                          <a:cs typeface="Times New Roman" panose="02020603050405020304"/>
                        </a:rPr>
                        <a:t>1.72</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19.80</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r>
              <a:tr h="372836">
                <a:tc>
                  <a:txBody>
                    <a:bodyPr/>
                    <a:lstStyle/>
                    <a:p>
                      <a:r>
                        <a:rPr sz="1950" b="0">
                          <a:solidFill>
                            <a:srgbClr val="15212C"/>
                          </a:solidFill>
                          <a:latin typeface="Times New Roman" panose="02020603050405020304"/>
                          <a:ea typeface="Times New Roman" panose="02020603050405020304"/>
                          <a:cs typeface="Times New Roman" panose="02020603050405020304"/>
                        </a:rPr>
                        <a:t>1.80</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22.26</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24.23</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r>
              <a:tr h="372836">
                <a:tc>
                  <a:txBody>
                    <a:bodyPr/>
                    <a:lstStyle/>
                    <a:p>
                      <a:r>
                        <a:rPr sz="1950" b="0">
                          <a:solidFill>
                            <a:srgbClr val="15212C"/>
                          </a:solidFill>
                          <a:latin typeface="Times New Roman" panose="02020603050405020304"/>
                          <a:ea typeface="Times New Roman" panose="02020603050405020304"/>
                          <a:cs typeface="Times New Roman" panose="02020603050405020304"/>
                        </a:rPr>
                        <a:t>1.95</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29.45</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30.97</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r>
              <a:tr h="372836">
                <a:tc>
                  <a:txBody>
                    <a:bodyPr/>
                    <a:lstStyle/>
                    <a:p>
                      <a:r>
                        <a:rPr sz="1950" b="0">
                          <a:solidFill>
                            <a:srgbClr val="15212C"/>
                          </a:solidFill>
                          <a:latin typeface="Times New Roman" panose="02020603050405020304"/>
                          <a:ea typeface="Times New Roman" panose="02020603050405020304"/>
                          <a:cs typeface="Times New Roman" panose="02020603050405020304"/>
                        </a:rPr>
                        <a:t>2.10</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36.34</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36.86</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EDF3F8"/>
                    </a:solidFill>
                  </a:tcPr>
                </a:tc>
              </a:tr>
              <a:tr h="372836">
                <a:tc>
                  <a:txBody>
                    <a:bodyPr/>
                    <a:lstStyle/>
                    <a:p>
                      <a:r>
                        <a:rPr sz="1950" b="0">
                          <a:solidFill>
                            <a:srgbClr val="15212C"/>
                          </a:solidFill>
                          <a:latin typeface="Times New Roman" panose="02020603050405020304"/>
                          <a:ea typeface="Times New Roman" panose="02020603050405020304"/>
                          <a:cs typeface="Times New Roman" panose="02020603050405020304"/>
                        </a:rPr>
                        <a:t>2.25</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42.99</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r>
              <a:tr h="372836">
                <a:tc>
                  <a:txBody>
                    <a:bodyPr/>
                    <a:lstStyle/>
                    <a:p>
                      <a:r>
                        <a:rPr sz="1950" b="0">
                          <a:solidFill>
                            <a:srgbClr val="15212C"/>
                          </a:solidFill>
                          <a:latin typeface="Times New Roman" panose="02020603050405020304"/>
                          <a:ea typeface="Times New Roman" panose="02020603050405020304"/>
                          <a:cs typeface="Times New Roman" panose="02020603050405020304"/>
                        </a:rPr>
                        <a:t>2.30</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41.64</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c>
                  <a:txBody>
                    <a:bodyPr/>
                    <a:lstStyle/>
                    <a:p>
                      <a:r>
                        <a:rPr sz="1950" b="0">
                          <a:solidFill>
                            <a:srgbClr val="15212C"/>
                          </a:solidFill>
                          <a:latin typeface="Times New Roman" panose="02020603050405020304"/>
                          <a:ea typeface="Times New Roman" panose="02020603050405020304"/>
                          <a:cs typeface="Times New Roman" panose="02020603050405020304"/>
                        </a:rPr>
                        <a:t>—</a:t>
                      </a:r>
                      <a:endParaRPr sz="1950" b="0">
                        <a:solidFill>
                          <a:srgbClr val="15212C"/>
                        </a:solidFill>
                        <a:latin typeface="Times New Roman" panose="02020603050405020304"/>
                        <a:ea typeface="Times New Roman" panose="02020603050405020304"/>
                        <a:cs typeface="Times New Roman" panose="02020603050405020304"/>
                      </a:endParaRPr>
                    </a:p>
                  </a:txBody>
                  <a:tcPr marL="85725" marR="47625" marT="0" marB="0" anchor="ctr">
                    <a:solidFill>
                      <a:srgbClr val="FFFFFF"/>
                    </a:solidFill>
                  </a:tcPr>
                </a:tc>
              </a:tr>
            </a:tbl>
          </a:graphicData>
        </a:graphic>
      </p:graphicFrame>
      <p:graphicFrame>
        <p:nvGraphicFramePr>
          <p:cNvPr id="334" name="Chart"/>
          <p:cNvGraphicFramePr/>
          <p:nvPr/>
        </p:nvGraphicFramePr>
        <p:xfrm>
          <a:off x="33185100" y="23631525"/>
          <a:ext cx="9993630" cy="2714625"/>
        </p:xfrm>
        <a:graphic>
          <a:graphicData uri="http://schemas.openxmlformats.org/drawingml/2006/chart">
            <c:chart xmlns:c="http://schemas.openxmlformats.org/drawingml/2006/chart" xmlns:r="http://schemas.openxmlformats.org/officeDocument/2006/relationships" r:id="rId1"/>
          </a:graphicData>
        </a:graphic>
      </p:graphicFrame>
      <p:sp>
        <p:nvSpPr>
          <p:cNvPr id="335" name="conclusion-chart-caption"/>
          <p:cNvSpPr>
            <a:spLocks noGrp="1"/>
          </p:cNvSpPr>
          <p:nvPr/>
        </p:nvSpPr>
        <p:spPr>
          <a:xfrm>
            <a:off x="33185100" y="26384250"/>
            <a:ext cx="9993630" cy="409575"/>
          </a:xfrm>
          <a:prstGeom prst="rect">
            <a:avLst/>
          </a:prstGeom>
          <a:noFill/>
          <a:ln w="0"/>
        </p:spPr>
        <p:txBody>
          <a:bodyPr wrap="square" lIns="0" tIns="0" rIns="0" bIns="0" anchor="t">
            <a:noAutofit/>
          </a:bodyPr>
          <a:lstStyle>
            <a:defPPr algn="ctr">
              <a:defRPr sz="1875" b="0">
                <a:solidFill>
                  <a:srgbClr val="395668"/>
                </a:solidFill>
                <a:latin typeface="Times New Roman" panose="02020603050405020304"/>
                <a:ea typeface="Times New Roman" panose="02020603050405020304"/>
                <a:cs typeface="Times New Roman" panose="02020603050405020304"/>
              </a:defRPr>
            </a:defPPr>
          </a:lstStyle>
          <a:p>
            <a:pPr algn="ctr">
              <a:defRPr sz="1875" b="0">
                <a:solidFill>
                  <a:srgbClr val="395668"/>
                </a:solidFill>
                <a:latin typeface="Times New Roman" panose="02020603050405020304"/>
                <a:ea typeface="Times New Roman" panose="02020603050405020304"/>
                <a:cs typeface="Times New Roman" panose="02020603050405020304"/>
              </a:defRPr>
            </a:pPr>
            <a:r>
              <a:rPr sz="1875" b="0">
                <a:solidFill>
                  <a:srgbClr val="395668"/>
                </a:solidFill>
                <a:latin typeface="Times New Roman" panose="02020603050405020304"/>
                <a:ea typeface="Times New Roman" panose="02020603050405020304"/>
                <a:cs typeface="Times New Roman" panose="02020603050405020304"/>
              </a:rPr>
              <a:t>Fig. 15. Finest-grid FD–FEM relative RMS differences (%).</a:t>
            </a:r>
            <a:endParaRPr sz="1875" b="0">
              <a:solidFill>
                <a:srgbClr val="395668"/>
              </a:solidFill>
              <a:latin typeface="Times New Roman" panose="02020603050405020304"/>
              <a:ea typeface="Times New Roman" panose="02020603050405020304"/>
              <a:cs typeface="Times New Roman" panose="02020603050405020304"/>
            </a:endParaRPr>
          </a:p>
        </p:txBody>
      </p:sp>
      <p:pic>
        <p:nvPicPr>
          <p:cNvPr id="336" name="图片 335"/>
          <p:cNvPicPr>
            <a:picLocks noChangeAspect="1"/>
          </p:cNvPicPr>
          <p:nvPr/>
        </p:nvPicPr>
        <p:blipFill>
          <a:blip r:embed="rId23"/>
          <a:stretch>
            <a:fillRect/>
          </a:stretch>
        </p:blipFill>
        <p:spPr>
          <a:xfrm>
            <a:off x="34052828" y="31813500"/>
            <a:ext cx="8258175" cy="2752725"/>
          </a:xfrm>
          <a:prstGeom prst="rect">
            <a:avLst/>
          </a:prstGeom>
        </p:spPr>
      </p:pic>
      <p:sp>
        <p:nvSpPr>
          <p:cNvPr id="337" name="future-label-0"/>
          <p:cNvSpPr>
            <a:spLocks noGrp="1"/>
          </p:cNvSpPr>
          <p:nvPr/>
        </p:nvSpPr>
        <p:spPr>
          <a:xfrm>
            <a:off x="33185100" y="34585275"/>
            <a:ext cx="3324225" cy="361950"/>
          </a:xfrm>
          <a:prstGeom prst="rect">
            <a:avLst/>
          </a:prstGeom>
          <a:noFill/>
          <a:ln w="0"/>
        </p:spPr>
        <p:txBody>
          <a:bodyPr wrap="square" lIns="0" tIns="0" rIns="0" bIns="0" anchor="t">
            <a:noAutofit/>
          </a:bodyPr>
          <a:lstStyle>
            <a:defPPr algn="ctr">
              <a:defRPr sz="1950" b="1">
                <a:solidFill>
                  <a:srgbClr val="086EAD"/>
                </a:solidFill>
                <a:latin typeface="Times New Roman" panose="02020603050405020304"/>
                <a:ea typeface="Times New Roman" panose="02020603050405020304"/>
                <a:cs typeface="Times New Roman" panose="02020603050405020304"/>
              </a:defRPr>
            </a:defPPr>
          </a:lstStyle>
          <a:p>
            <a:pPr algn="ctr">
              <a:defRPr sz="1950" b="1">
                <a:solidFill>
                  <a:srgbClr val="086EAD"/>
                </a:solidFill>
                <a:latin typeface="Times New Roman" panose="02020603050405020304"/>
                <a:ea typeface="Times New Roman" panose="02020603050405020304"/>
                <a:cs typeface="Times New Roman" panose="02020603050405020304"/>
              </a:defRPr>
            </a:pPr>
            <a:r>
              <a:rPr sz="1950" b="1">
                <a:solidFill>
                  <a:srgbClr val="086EAD"/>
                </a:solidFill>
                <a:latin typeface="Times New Roman" panose="02020603050405020304"/>
                <a:ea typeface="Times New Roman" panose="02020603050405020304"/>
                <a:cs typeface="Times New Roman" panose="02020603050405020304"/>
              </a:rPr>
              <a:t>More conditions</a:t>
            </a:r>
            <a:endParaRPr sz="1950" b="1">
              <a:solidFill>
                <a:srgbClr val="086EAD"/>
              </a:solidFill>
              <a:latin typeface="Times New Roman" panose="02020603050405020304"/>
              <a:ea typeface="Times New Roman" panose="02020603050405020304"/>
              <a:cs typeface="Times New Roman" panose="02020603050405020304"/>
            </a:endParaRPr>
          </a:p>
        </p:txBody>
      </p:sp>
      <p:sp>
        <p:nvSpPr>
          <p:cNvPr id="338" name="future-label-1"/>
          <p:cNvSpPr>
            <a:spLocks noGrp="1"/>
          </p:cNvSpPr>
          <p:nvPr/>
        </p:nvSpPr>
        <p:spPr>
          <a:xfrm>
            <a:off x="36518850" y="34585275"/>
            <a:ext cx="3324225" cy="361950"/>
          </a:xfrm>
          <a:prstGeom prst="rect">
            <a:avLst/>
          </a:prstGeom>
          <a:noFill/>
          <a:ln w="0"/>
        </p:spPr>
        <p:txBody>
          <a:bodyPr wrap="square" lIns="0" tIns="0" rIns="0" bIns="0" anchor="t">
            <a:noAutofit/>
          </a:bodyPr>
          <a:lstStyle>
            <a:defPPr algn="ctr">
              <a:defRPr sz="1950" b="1">
                <a:solidFill>
                  <a:srgbClr val="086EAD"/>
                </a:solidFill>
                <a:latin typeface="Times New Roman" panose="02020603050405020304"/>
                <a:ea typeface="Times New Roman" panose="02020603050405020304"/>
                <a:cs typeface="Times New Roman" panose="02020603050405020304"/>
              </a:defRPr>
            </a:defPPr>
          </a:lstStyle>
          <a:p>
            <a:pPr algn="ctr">
              <a:defRPr sz="1950" b="1">
                <a:solidFill>
                  <a:srgbClr val="086EAD"/>
                </a:solidFill>
                <a:latin typeface="Times New Roman" panose="02020603050405020304"/>
                <a:ea typeface="Times New Roman" panose="02020603050405020304"/>
                <a:cs typeface="Times New Roman" panose="02020603050405020304"/>
              </a:defRPr>
            </a:pPr>
            <a:r>
              <a:rPr sz="1950" b="1">
                <a:solidFill>
                  <a:srgbClr val="086EAD"/>
                </a:solidFill>
                <a:latin typeface="Times New Roman" panose="02020603050405020304"/>
                <a:ea typeface="Times New Roman" panose="02020603050405020304"/>
                <a:cs typeface="Times New Roman" panose="02020603050405020304"/>
              </a:rPr>
              <a:t>Joint identification</a:t>
            </a:r>
            <a:endParaRPr sz="1950" b="1">
              <a:solidFill>
                <a:srgbClr val="086EAD"/>
              </a:solidFill>
              <a:latin typeface="Times New Roman" panose="02020603050405020304"/>
              <a:ea typeface="Times New Roman" panose="02020603050405020304"/>
              <a:cs typeface="Times New Roman" panose="02020603050405020304"/>
            </a:endParaRPr>
          </a:p>
        </p:txBody>
      </p:sp>
      <p:sp>
        <p:nvSpPr>
          <p:cNvPr id="339" name="future-label-2"/>
          <p:cNvSpPr>
            <a:spLocks noGrp="1"/>
          </p:cNvSpPr>
          <p:nvPr/>
        </p:nvSpPr>
        <p:spPr>
          <a:xfrm>
            <a:off x="39852600" y="34585275"/>
            <a:ext cx="3324225" cy="361950"/>
          </a:xfrm>
          <a:prstGeom prst="rect">
            <a:avLst/>
          </a:prstGeom>
          <a:noFill/>
          <a:ln w="0"/>
        </p:spPr>
        <p:txBody>
          <a:bodyPr wrap="square" lIns="0" tIns="0" rIns="0" bIns="0" anchor="t">
            <a:noAutofit/>
          </a:bodyPr>
          <a:lstStyle>
            <a:defPPr algn="ctr">
              <a:defRPr sz="1950" b="1">
                <a:solidFill>
                  <a:srgbClr val="086EAD"/>
                </a:solidFill>
                <a:latin typeface="Times New Roman" panose="02020603050405020304"/>
                <a:ea typeface="Times New Roman" panose="02020603050405020304"/>
                <a:cs typeface="Times New Roman" panose="02020603050405020304"/>
              </a:defRPr>
            </a:defPPr>
          </a:lstStyle>
          <a:p>
            <a:pPr algn="ctr">
              <a:defRPr sz="1950" b="1">
                <a:solidFill>
                  <a:srgbClr val="086EAD"/>
                </a:solidFill>
                <a:latin typeface="Times New Roman" panose="02020603050405020304"/>
                <a:ea typeface="Times New Roman" panose="02020603050405020304"/>
                <a:cs typeface="Times New Roman" panose="02020603050405020304"/>
              </a:defRPr>
            </a:pPr>
            <a:r>
              <a:rPr sz="1950" b="1">
                <a:solidFill>
                  <a:srgbClr val="086EAD"/>
                </a:solidFill>
                <a:latin typeface="Times New Roman" panose="02020603050405020304"/>
                <a:ea typeface="Times New Roman" panose="02020603050405020304"/>
                <a:cs typeface="Times New Roman" panose="02020603050405020304"/>
              </a:rPr>
              <a:t>Time evolution</a:t>
            </a:r>
            <a:endParaRPr sz="1950" b="1">
              <a:solidFill>
                <a:srgbClr val="086EAD"/>
              </a:solidFill>
              <a:latin typeface="Times New Roman" panose="02020603050405020304"/>
              <a:ea typeface="Times New Roman" panose="02020603050405020304"/>
              <a:cs typeface="Times New Roman" panose="02020603050405020304"/>
            </a:endParaRPr>
          </a:p>
        </p:txBody>
      </p:sp>
      <p:sp>
        <p:nvSpPr>
          <p:cNvPr id="340" name="future-caption"/>
          <p:cNvSpPr>
            <a:spLocks noGrp="1"/>
          </p:cNvSpPr>
          <p:nvPr/>
        </p:nvSpPr>
        <p:spPr>
          <a:xfrm>
            <a:off x="33185100" y="34956750"/>
            <a:ext cx="9993630" cy="352425"/>
          </a:xfrm>
          <a:prstGeom prst="rect">
            <a:avLst/>
          </a:prstGeom>
          <a:noFill/>
          <a:ln w="0"/>
        </p:spPr>
        <p:txBody>
          <a:bodyPr wrap="square" lIns="0" tIns="0" rIns="0" bIns="0" anchor="t">
            <a:noAutofit/>
          </a:bodyPr>
          <a:lstStyle>
            <a:defPPr algn="ctr">
              <a:defRPr sz="1875" b="0">
                <a:solidFill>
                  <a:srgbClr val="395668"/>
                </a:solidFill>
                <a:latin typeface="Times New Roman" panose="02020603050405020304"/>
                <a:ea typeface="Times New Roman" panose="02020603050405020304"/>
                <a:cs typeface="Times New Roman" panose="02020603050405020304"/>
              </a:defRPr>
            </a:defPPr>
          </a:lstStyle>
          <a:p>
            <a:pPr algn="ctr">
              <a:defRPr sz="1875" b="0">
                <a:solidFill>
                  <a:srgbClr val="395668"/>
                </a:solidFill>
                <a:latin typeface="Times New Roman" panose="02020603050405020304"/>
                <a:ea typeface="Times New Roman" panose="02020603050405020304"/>
                <a:cs typeface="Times New Roman" panose="02020603050405020304"/>
              </a:defRPr>
            </a:pPr>
            <a:r>
              <a:rPr sz="1875" b="0">
                <a:solidFill>
                  <a:srgbClr val="395668"/>
                </a:solidFill>
                <a:latin typeface="Times New Roman" panose="02020603050405020304"/>
                <a:ea typeface="Times New Roman" panose="02020603050405020304"/>
                <a:cs typeface="Times New Roman" panose="02020603050405020304"/>
              </a:rPr>
              <a:t>Fig. 16. Proposed extensions (schematic).</a:t>
            </a:r>
            <a:endParaRPr sz="1875" b="0">
              <a:solidFill>
                <a:srgbClr val="395668"/>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10393</Words>
  <Application>WPS 演示</Application>
  <PresentationFormat>Converted Presentation</PresentationFormat>
  <Paragraphs>357</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宋体</vt:lpstr>
      <vt:lpstr>Wingdings</vt:lpstr>
      <vt:lpstr>Arial</vt:lpstr>
      <vt:lpstr>Times New Roman</vt:lpstr>
      <vt:lpstr>DejaVu Math TeX Gyre</vt:lpstr>
      <vt:lpstr>MS PGothic</vt:lpstr>
      <vt:lpstr>微软雅黑</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Sunshine</cp:lastModifiedBy>
  <cp:revision>8</cp:revision>
  <dcterms:created xsi:type="dcterms:W3CDTF">2026-10-11T12:15:00Z</dcterms:created>
  <dcterms:modified xsi:type="dcterms:W3CDTF">2026-10-12T06:55:22Z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C5DFEE0A1E7B662C747DCB6A054C50A0_43</vt:lpwstr>
  </property>
  <property fmtid="{D5CDD505-2E9C-101B-9397-08002B2CF9AE}" pid="3" name="KSOProductBuildVer">
    <vt:lpwstr>2052-12.1.0.28505</vt:lpwstr>
  </property>
</Properties>
</file>