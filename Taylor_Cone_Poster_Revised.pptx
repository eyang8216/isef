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43559730" cy="4355973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Relative RMS difference</c:f>
              <c:strCache>
                <c:ptCount val="1"/>
                <c:pt idx="0">
                  <c:v>Relative RMS difference</c:v>
                </c:pt>
              </c:strCache>
            </c:strRef>
          </c:tx>
          <c:spPr>
            <a:solidFill>
              <a:srgbClr val="157AB2"/>
            </a:solidFill>
          </c:spPr>
          <c:invertIfNegative val="0"/>
          <c:dPt>
            <c:idx val="0"/>
            <c:invertIfNegative val="0"/>
            <c:bubble3D val="0"/>
            <c:spPr>
              <a:solidFill>
                <a:srgbClr val="157AB2"/>
              </a:solidFill>
            </c:spPr>
          </c:dPt>
          <c:dPt>
            <c:idx val="1"/>
            <c:invertIfNegative val="0"/>
            <c:bubble3D val="0"/>
            <c:spPr>
              <a:solidFill>
                <a:srgbClr val="079B9C"/>
              </a:solidFill>
            </c:spPr>
          </c:dPt>
          <c:dPt>
            <c:idx val="2"/>
            <c:invertIfNegative val="0"/>
            <c:bubble3D val="0"/>
            <c:spPr>
              <a:solidFill>
                <a:srgbClr val="C88B23"/>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Potential</c:v>
                </c:pt>
                <c:pt idx="1">
                  <c:v>Vector field</c:v>
                </c:pt>
                <c:pt idx="2">
                  <c:v>Maxwell pressure</c:v>
                </c:pt>
              </c:strCache>
            </c:strRef>
          </c:cat>
          <c:val>
            <c:numRef>
              <c:f>'Chart Data'!$B$2:$B$4</c:f>
              <c:numCache>
                <c:formatCode>0.0</c:formatCode>
                <c:ptCount val="3"/>
                <c:pt idx="0">
                  <c:v>0.024</c:v>
                </c:pt>
                <c:pt idx="1">
                  <c:v>0.226</c:v>
                </c:pt>
                <c:pt idx="2">
                  <c:v>0.817</c:v>
                </c:pt>
              </c:numCache>
            </c:numRef>
          </c:val>
        </c:ser>
        <c:dLbls>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2025" b="0" i="0" u="none" strike="noStrike" kern="1200" baseline="0">
                <a:solidFill>
                  <a:srgbClr val="15212C"/>
                </a:solidFill>
                <a:latin typeface="+mn-lt"/>
                <a:ea typeface="+mn-ea"/>
                <a:cs typeface="+mn-cs"/>
              </a:defRPr>
            </a:pPr>
          </a:p>
        </c:txPr>
        <c:crossAx val="48672768"/>
        <c:crosses val="autoZero"/>
        <c:auto val="1"/>
        <c:lblAlgn val="ctr"/>
        <c:lblOffset val="100"/>
        <c:noMultiLvlLbl val="0"/>
      </c:catAx>
      <c:valAx>
        <c:axId val="48672768"/>
        <c:scaling>
          <c:orientation val="minMax"/>
          <c:max val="1"/>
          <c:min val="0"/>
        </c:scaling>
        <c:delete val="0"/>
        <c:axPos val="b"/>
        <c:majorGridlines>
          <c:spPr>
            <a:ln w="9525">
              <a:solidFill>
                <a:srgbClr val="D7E0E8"/>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875" b="0" i="0" u="none" strike="noStrike" kern="1200" baseline="0">
                <a:solidFill>
                  <a:srgbClr val="395668"/>
                </a:solidFill>
                <a:latin typeface="+mn-lt"/>
                <a:ea typeface="+mn-ea"/>
                <a:cs typeface="+mn-cs"/>
              </a:defRPr>
            </a:pPr>
          </a:p>
        </c:txPr>
        <c:crossAx val="48650112"/>
        <c:crosses val="autoZero"/>
        <c:crossBetween val="between"/>
        <c:majorUnit val="0.2"/>
      </c:valAx>
      <c:spPr>
        <a:solidFill>
          <a:srgbClr val="F7F9FC"/>
        </a:solidFill>
      </c:spPr>
    </c:plotArea>
    <c:plotVisOnly val="1"/>
    <c:dispBlanksAs val="gap"/>
    <c:showDLblsOverMax val="0"/>
    <c:extLst>
      <c:ext uri="{0b15fc19-7d7d-44ad-8c2d-2c3a37ce22c3}">
        <chartProps xmlns="https://web.wps.cn/et/2018/main" chartId="{327a259b-1cb4-4fca-bbbd-99138cc060d6}"/>
      </c:ext>
    </c:extLst>
  </c:chart>
  <c:spPr>
    <a:solidFill>
      <a:srgbClr val="F7F9FC"/>
    </a:solidFill>
    <a:ln w="0">
      <a:noFill/>
    </a:ln>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 and metric definitions for the academic poster.</a:t>
            </a:r>
          </a:p>
          <a:p>
            <a:r>
              <a:t>Computational figures: 论文修改对照与图件交付/figures/en and figures/zh. Corresponding numerical data: 论文修改对照与图件交付/data/.</a:t>
            </a:r>
          </a:p>
          <a:p>
            <a:r>
              <a:t>Public experimental case: Yang Pengfei, Peng Yuxing, Yi Hongliang and Wu Jian (2025), Journal of Experiments in Fluid Mechanics 39(3):54–62, DOI 10.11729/syltlx20220040.</a:t>
            </a:r>
          </a:p>
          <a:p>
            <a:r>
              <a:t>Publisher PDF: https://pubs-data.cstam.org.cn/lxqkw-data/syltlx/2025/3/PDF/2022-040a.pdf</a:t>
            </a:r>
          </a:p>
          <a:p>
            <a:r>
              <a:t>The four photos are at 1.80, 1.95, 2.10 and 2.30 kV. Published angle markers include five voltages ending at 2.2503 kV. Measurement MAE uses the three matching voltages 1.80, 1.95 and 2.10 kV.</a:t>
            </a:r>
          </a:p>
          <a:p>
            <a:r>
              <a:t>Image measurement MAE 1.337459301 deg, max 1.970428562 deg. This crosscheck uses published markers from the same study rather than repeated measurement of the identical frame.</a:t>
            </a:r>
          </a:p>
          <a:p>
            <a:r>
              <a:t>Synthetic measurement figures use the original 108 analytic image cases, max half-angle error 0.298517 deg, max profile nRMSE 1.405869%. Software regression test count is distinct from experiment count.</a:t>
            </a:r>
          </a:p>
          <a:p>
            <a:r>
              <a:t>Application photographs: NASA/JPL-Caltech, https://microdevices.jpl.nasa.gov/capabilities/advanced-microfabrication-technologies/electrospray-propulsion/; © ESA, https://www.esa.int/ESA_Multimedia/Images/2023/03/Microfabricated_electrospray_emitter_and_fluidic_barrier.</a:t>
            </a:r>
          </a:p>
          <a:p>
            <a:r>
              <a:t>ESA image credit and Standard Licence are retained. Publisher experimental images are attributed for research review. No additional image reuse license is asserted.</a:t>
            </a:r>
          </a:p>
          <a:p>
            <a:r>
              <a:t>Additional application image: IENAI Space, ESA Pinhole propulsion for satellites, https://www.esa.int/ESA_Multimedia/Images/2023/12/Pinhole_propulsion_for_satellites . Image copyright IENAI Space. Educational research poster.</a:t>
            </a:r>
          </a:p>
          <a:p>
            <a:r>
              <a:t>Hardware crops reproduce portions of Yang et al. Figure 1. They illustrate the published apparatus, and are not photos of newly conducted project experiments.</a:t>
            </a:r>
          </a:p>
          <a:p>
            <a:r>
              <a:t>Poster experimental figures: revision_2026-10-09/scripts/render_experiment_figures.py. Inputs are the retained CSV measurements, contour samples and field libraries. Figure-data checksums accompany the rendered figures.</a:t>
            </a:r>
          </a:p>
          <a:p>
            <a:r>
              <a:t>The image/report angle comparison uses three voltage-matched points from Yang et al. Figures 5 and 6. The mean absolute difference is 1.337459301 degrees. Missing photo/marker pairs are blank in the data-pairing table.</a:t>
            </a:r>
          </a:p>
          <a:p>
            <a:r>
              <a:t>Numerical residual: R = gamma*kappa - epsilon*En^2/2 - Delta p, with the spatially constant offset removed by the surface mean. The separate fixed-pressure diagnostic fixes the offset at the first reported voltage and evaluates the other reported geometries.</a:t>
            </a:r>
          </a:p>
          <a:p>
            <a:r>
              <a:t>Threshold sensitivity reuses the 90, 110 and 130 segmentation thresholds. The maximum half-angle range across the three matched voltages is 0.203613622 degrees. Flank-fit RMS measures distance to the fitted line on the same extracted contour.</a:t>
            </a:r>
          </a:p>
          <a:p>
            <a:r>
              <a:t>Application photographs illustrate electrospray propulsion. Experimental apparatus photographs reproduce Yang et al. Figure 1. Figure 1 of this poster is a conceptual schematic. Figure 2 is a model geometry drawing with a separate equipment montage.</a:t>
            </a:r>
          </a:p>
          <a:p>
            <a:r>
              <a:t>Figure 15 source: retained fixed-cone FD–FEM benchmark, finest level. Relative RMS differences: potential 0.024%, vector electric field 0.226%, Maxwell pressure 0.817%. Figure 16 is a generated conceptual illustration of proposed future work, not an experimental photograph.</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lvl1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jpe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slideLayout" Target="../slideLayouts/slideLayout1.xml"/><Relationship Id="rId25" Type="http://schemas.openxmlformats.org/officeDocument/2006/relationships/notesSlide" Target="../notesSlides/notesSlide1.xml"/><Relationship Id="rId26" Type="http://schemas.openxmlformats.org/officeDocument/2006/relationships/image" Target="../media/image23.png"/><Relationship Id="rId27" Type="http://schemas.openxmlformats.org/officeDocument/2006/relationships/image" Target="../media/image24.png"/><Relationship Id="rId28" Type="http://schemas.openxmlformats.org/officeDocument/2006/relationships/image" Target="../media/image25.png"/><Relationship Id="rId29" Type="http://schemas.openxmlformats.org/officeDocument/2006/relationships/image" Target="../media/image26.png"/><Relationship Id="rId30" Type="http://schemas.openxmlformats.org/officeDocument/2006/relationships/image" Target="../media/image27.png"/><Relationship Id="rId3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8" name="white-canvas"/>
          <p:cNvSpPr>
            <a:spLocks noGrp="1"/>
          </p:cNvSpPr>
          <p:nvPr/>
        </p:nvSpPr>
        <p:spPr>
          <a:xfrm>
            <a:off x="0" y="0"/>
            <a:ext cx="43559730" cy="43559730"/>
          </a:xfrm>
          <a:prstGeom prst="rect">
            <a:avLst/>
          </a:prstGeom>
          <a:solidFill>
            <a:srgbClr val="FFFFFF"/>
          </a:solidFill>
          <a:ln w="0">
            <a:noFill/>
          </a:ln>
        </p:spPr>
        <p:txBody>
          <a:bodyPr/>
          <a:p/>
        </p:txBody>
      </p:sp>
      <p:sp>
        <p:nvSpPr>
          <p:cNvPr id="2" name="title-band"/>
          <p:cNvSpPr>
            <a:spLocks noGrp="1"/>
          </p:cNvSpPr>
          <p:nvPr/>
        </p:nvSpPr>
        <p:spPr>
          <a:xfrm>
            <a:off x="11315700" y="95250"/>
            <a:ext cx="21450300" cy="2952750"/>
          </a:xfrm>
          <a:prstGeom prst="rect">
            <a:avLst/>
          </a:prstGeom>
          <a:gradFill>
            <a:gsLst>
              <a:gs pos="0">
                <a:srgbClr val="074D8B"/>
              </a:gs>
              <a:gs pos="100000">
                <a:srgbClr val="2A91B5"/>
              </a:gs>
            </a:gsLst>
            <a:lin ang="0"/>
          </a:gradFill>
          <a:ln w="0">
            <a:noFill/>
          </a:ln>
        </p:spPr>
        <p:txBody>
          <a:bodyPr/>
          <a:p/>
        </p:txBody>
      </p:sp>
      <p:sp>
        <p:nvSpPr>
          <p:cNvPr id="3" name="poster-title"/>
          <p:cNvSpPr>
            <a:spLocks noGrp="1"/>
          </p:cNvSpPr>
          <p:nvPr/>
        </p:nvSpPr>
        <p:spPr>
          <a:xfrm>
            <a:off x="11649075" y="219075"/>
            <a:ext cx="20783550" cy="1285875"/>
          </a:xfrm>
          <a:prstGeom prst="rect">
            <a:avLst/>
          </a:prstGeom>
          <a:noFill/>
          <a:ln w="0">
            <a:noFill/>
          </a:ln>
        </p:spPr>
        <p:txBody>
          <a:bodyPr wrap="square" lIns="0" tIns="0" rIns="0" bIns="0" anchor="t">
            <a:noAutofit/>
          </a:bodyPr>
          <a:lstStyle>
            <a:defPPr algn="ctr"/>
          </a:lstStyle>
          <a:p>
            <a:pPr algn="ctr">
              <a:lnSpc>
                <a:spcPct val="108000"/>
              </a:lnSpc>
              <a:buNone/>
              <a:defRPr sz="9300" b="1">
                <a:solidFill>
                  <a:srgbClr val="FFFFFF"/>
                </a:solidFill>
                <a:latin typeface="Times New Roman" panose="02020603050405020304"/>
                <a:ea typeface="Times New Roman" panose="02020603050405020304"/>
                <a:cs typeface="Times New Roman" panose="02020603050405020304"/>
              </a:defRPr>
            </a:pPr>
            <a:r>
              <a:rPr sz="7600" b="1">
                <a:solidFill>
                  <a:srgbClr val="FFFFFF"/>
                </a:solidFill>
                <a:latin typeface="Times New Roman" panose="02020603050405020304"/>
                <a:ea typeface="Times New Roman" panose="02020603050405020304"/>
                <a:cs typeface="Times New Roman" panose="02020603050405020304"/>
              </a:rPr>
              <a:t>A Lightweight Axisymmetric Taylor-Cone Solver</a:t>
            </a:r>
            <a:endParaRPr sz="9300" b="1">
              <a:solidFill>
                <a:srgbClr val="FFFFFF"/>
              </a:solidFill>
              <a:latin typeface="Times New Roman" panose="02020603050405020304"/>
              <a:ea typeface="Times New Roman" panose="02020603050405020304"/>
              <a:cs typeface="Times New Roman" panose="02020603050405020304"/>
            </a:endParaRPr>
          </a:p>
        </p:txBody>
      </p:sp>
      <p:sp>
        <p:nvSpPr>
          <p:cNvPr id="4" name="poster-subtitle"/>
          <p:cNvSpPr>
            <a:spLocks noGrp="1"/>
          </p:cNvSpPr>
          <p:nvPr/>
        </p:nvSpPr>
        <p:spPr>
          <a:xfrm>
            <a:off x="11696700" y="1495425"/>
            <a:ext cx="20688300" cy="628650"/>
          </a:xfrm>
          <a:prstGeom prst="rect">
            <a:avLst/>
          </a:prstGeom>
          <a:noFill/>
          <a:ln w="0">
            <a:noFill/>
          </a:ln>
        </p:spPr>
        <p:txBody>
          <a:bodyPr wrap="square" lIns="0" tIns="0" rIns="0" bIns="0" anchor="t">
            <a:noAutofit/>
          </a:bodyPr>
          <a:lstStyle>
            <a:defPPr algn="ctr">
              <a:defRPr sz="3300" b="0">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300" b="0">
                <a:solidFill>
                  <a:srgbClr val="FFFFFF"/>
                </a:solidFill>
                <a:latin typeface="Times New Roman" panose="02020603050405020304"/>
                <a:ea typeface="Times New Roman" panose="02020603050405020304"/>
                <a:cs typeface="Times New Roman" panose="02020603050405020304"/>
              </a:defRPr>
            </a:pPr>
            <a:r>
              <a:rPr sz="3000" b="0">
                <a:solidFill>
                  <a:srgbClr val="FFFFFF"/>
                </a:solidFill>
                <a:latin typeface="Times New Roman" panose="02020603050405020304"/>
                <a:ea typeface="Times New Roman" panose="02020603050405020304"/>
                <a:cs typeface="Times New Roman" panose="02020603050405020304"/>
              </a:rPr>
              <a:t>Numerical verification of field, curvature and stress on an ordinary laptop</a:t>
            </a:r>
            <a:endParaRPr sz="3300" b="0">
              <a:solidFill>
                <a:srgbClr val="FFFFFF"/>
              </a:solidFill>
              <a:latin typeface="Times New Roman" panose="02020603050405020304"/>
              <a:ea typeface="Times New Roman" panose="02020603050405020304"/>
              <a:cs typeface="Times New Roman" panose="02020603050405020304"/>
            </a:endParaRPr>
          </a:p>
        </p:txBody>
      </p:sp>
      <p:sp>
        <p:nvSpPr>
          <p:cNvPr id="5" name="authors"/>
          <p:cNvSpPr>
            <a:spLocks noGrp="1"/>
          </p:cNvSpPr>
          <p:nvPr/>
        </p:nvSpPr>
        <p:spPr>
          <a:xfrm>
            <a:off x="11696700" y="2190750"/>
            <a:ext cx="20688300" cy="400050"/>
          </a:xfrm>
          <a:prstGeom prst="rect">
            <a:avLst/>
          </a:prstGeom>
          <a:noFill/>
          <a:ln w="0">
            <a:noFill/>
          </a:ln>
        </p:spPr>
        <p:txBody>
          <a:bodyPr wrap="square" lIns="0" tIns="0" rIns="0" bIns="0" anchor="t">
            <a:noAutofit/>
          </a:bodyPr>
          <a:lstStyle>
            <a:defPPr algn="ctr"/>
          </a:lstStyle>
          <a:p>
            <a:pPr algn="ctr">
              <a:lnSpc>
                <a:spcPct val="108000"/>
              </a:lnSpc>
              <a:buNone/>
              <a:defRPr sz="2550" b="0">
                <a:solidFill>
                  <a:srgbClr val="FFFFFF"/>
                </a:solidFill>
                <a:latin typeface="Times New Roman" panose="02020603050405020304"/>
                <a:ea typeface="Times New Roman" panose="02020603050405020304"/>
                <a:cs typeface="Times New Roman" panose="02020603050405020304"/>
              </a:defRPr>
            </a:pPr>
            <a:r>
              <a:rPr sz="2550" b="0">
                <a:solidFill>
                  <a:srgbClr val="FFFFFF"/>
                </a:solidFill>
                <a:latin typeface="Times New Roman" panose="02020603050405020304"/>
                <a:ea typeface="Times New Roman" panose="02020603050405020304"/>
                <a:cs typeface="Times New Roman" panose="02020603050405020304"/>
              </a:rPr>
              <a:t>Ethan Yang · Elliot Dong · Curtis Lau</a:t>
            </a:r>
            <a:endParaRPr sz="2550" b="0">
              <a:solidFill>
                <a:srgbClr val="FFFFFF"/>
              </a:solidFill>
              <a:latin typeface="Times New Roman" panose="02020603050405020304"/>
              <a:ea typeface="Times New Roman" panose="02020603050405020304"/>
              <a:cs typeface="Times New Roman" panose="02020603050405020304"/>
            </a:endParaRPr>
          </a:p>
        </p:txBody>
      </p:sp>
      <p:sp>
        <p:nvSpPr>
          <p:cNvPr id="6" name="school"/>
          <p:cNvSpPr>
            <a:spLocks noGrp="1"/>
          </p:cNvSpPr>
          <p:nvPr/>
        </p:nvSpPr>
        <p:spPr>
          <a:xfrm>
            <a:off x="11696700" y="2609850"/>
            <a:ext cx="20688300" cy="342900"/>
          </a:xfrm>
          <a:prstGeom prst="rect">
            <a:avLst/>
          </a:prstGeom>
          <a:noFill/>
          <a:ln w="0">
            <a:noFill/>
          </a:ln>
        </p:spPr>
        <p:txBody>
          <a:bodyPr wrap="square" lIns="0" tIns="0" rIns="0" bIns="0" anchor="t">
            <a:noAutofit/>
          </a:bodyPr>
          <a:lstStyle>
            <a:defPPr algn="ctr"/>
          </a:lstStyle>
          <a:p>
            <a:pPr algn="ctr">
              <a:lnSpc>
                <a:spcPct val="108000"/>
              </a:lnSpc>
              <a:buNone/>
              <a:defRPr sz="2025" b="0">
                <a:solidFill>
                  <a:srgbClr val="FFFFFF"/>
                </a:solidFill>
                <a:latin typeface="Times New Roman" panose="02020603050405020304"/>
                <a:ea typeface="Times New Roman" panose="02020603050405020304"/>
                <a:cs typeface="Times New Roman" panose="02020603050405020304"/>
              </a:defRPr>
            </a:pPr>
            <a:r>
              <a:rPr sz="2025" b="0">
                <a:solidFill>
                  <a:srgbClr val="FFFFFF"/>
                </a:solidFill>
                <a:latin typeface="Times New Roman" panose="02020603050405020304"/>
                <a:ea typeface="Times New Roman" panose="02020603050405020304"/>
                <a:cs typeface="Times New Roman" panose="02020603050405020304"/>
              </a:rPr>
              <a:t>Independent Schools Foundation Academy</a:t>
            </a:r>
            <a:endParaRPr sz="2025" b="0">
              <a:solidFill>
                <a:srgbClr val="FFFFFF"/>
              </a:solidFill>
              <a:latin typeface="Times New Roman" panose="02020603050405020304"/>
              <a:ea typeface="Times New Roman" panose="02020603050405020304"/>
              <a:cs typeface="Times New Roman" panose="02020603050405020304"/>
            </a:endParaRPr>
          </a:p>
        </p:txBody>
      </p:sp>
      <p:sp>
        <p:nvSpPr>
          <p:cNvPr id="7" name="introduction-frame"/>
          <p:cNvSpPr>
            <a:spLocks noGrp="1"/>
          </p:cNvSpPr>
          <p:nvPr/>
        </p:nvSpPr>
        <p:spPr>
          <a:xfrm>
            <a:off x="91440" y="91440"/>
            <a:ext cx="11082528" cy="10287000"/>
          </a:xfrm>
          <a:prstGeom prst="roundRect">
            <a:avLst>
              <a:gd name="adj" fmla="val 1481"/>
            </a:avLst>
          </a:prstGeom>
          <a:solidFill>
            <a:srgbClr val="F7F9FC"/>
          </a:solidFill>
          <a:ln w="16193">
            <a:solidFill>
              <a:srgbClr val="4E89B9"/>
            </a:solidFill>
            <a:prstDash val="dash"/>
          </a:ln>
        </p:spPr>
        <p:txBody>
          <a:bodyPr/>
          <a:p/>
        </p:txBody>
      </p:sp>
      <p:sp>
        <p:nvSpPr>
          <p:cNvPr id="8" name="introduction-header"/>
          <p:cNvSpPr>
            <a:spLocks noGrp="1"/>
          </p:cNvSpPr>
          <p:nvPr/>
        </p:nvSpPr>
        <p:spPr>
          <a:xfrm>
            <a:off x="95250" y="95250"/>
            <a:ext cx="11087100" cy="800100"/>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9" name="introduction-heading"/>
          <p:cNvSpPr>
            <a:spLocks noGrp="1"/>
          </p:cNvSpPr>
          <p:nvPr/>
        </p:nvSpPr>
        <p:spPr>
          <a:xfrm>
            <a:off x="333375" y="228600"/>
            <a:ext cx="106108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400" b="1">
                <a:solidFill>
                  <a:srgbClr val="FFFFFF"/>
                </a:solidFill>
                <a:latin typeface="Times New Roman" panose="02020603050405020304"/>
                <a:ea typeface="Times New Roman" panose="02020603050405020304"/>
                <a:cs typeface="Times New Roman" panose="02020603050405020304"/>
              </a:rPr>
              <a:t>INTRODUCTION</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18" name="background"/>
          <p:cNvSpPr>
            <a:spLocks noGrp="1"/>
          </p:cNvSpPr>
          <p:nvPr/>
        </p:nvSpPr>
        <p:spPr>
          <a:xfrm>
            <a:off x="3667125" y="1123950"/>
            <a:ext cx="7229475" cy="514350"/>
          </a:xfrm>
          <a:prstGeom prst="rect">
            <a:avLst/>
          </a:prstGeom>
          <a:noFill/>
          <a:ln w="0">
            <a:noFill/>
          </a:ln>
        </p:spPr>
        <p:txBody>
          <a:bodyPr wrap="square" lIns="0" tIns="0" rIns="0" bIns="0" anchor="t">
            <a:noAutofit/>
          </a:bodyPr>
          <a:lstStyle>
            <a:defPPr algn="l">
              <a:defRPr sz="2800" b="1">
                <a:solidFill>
                  <a:srgbClr val="0072B5"/>
                </a:solidFill>
                <a:latin typeface="Times New Roman" panose="02020603050405020304"/>
                <a:ea typeface="Times New Roman" panose="02020603050405020304"/>
                <a:cs typeface="Times New Roman" panose="02020603050405020304"/>
              </a:defRPr>
            </a:defPPr>
          </a:lstStyle>
          <a:p>
            <a:pPr algn="l">
              <a:lnSpc>
                <a:spcPct val="108000"/>
              </a:lnSpc>
              <a:buNone/>
              <a:defRPr sz="2800" b="1">
                <a:solidFill>
                  <a:srgbClr val="0072B5"/>
                </a:solidFill>
                <a:latin typeface="Times New Roman" panose="02020603050405020304"/>
                <a:ea typeface="Times New Roman" panose="02020603050405020304"/>
                <a:cs typeface="Times New Roman" panose="02020603050405020304"/>
              </a:defRPr>
            </a:pPr>
            <a:r>
              <a:rPr sz="2600" b="1">
                <a:solidFill>
                  <a:srgbClr val="0072B5"/>
                </a:solidFill>
                <a:latin typeface="Times New Roman" panose="02020603050405020304"/>
                <a:ea typeface="Times New Roman" panose="02020603050405020304"/>
                <a:cs typeface="Times New Roman" panose="02020603050405020304"/>
              </a:rPr>
              <a:t>1. The problem</a:t>
            </a:r>
            <a:endParaRPr sz="2800" b="1">
              <a:solidFill>
                <a:srgbClr val="0072B5"/>
              </a:solidFill>
              <a:latin typeface="Times New Roman" panose="02020603050405020304"/>
              <a:ea typeface="Times New Roman" panose="02020603050405020304"/>
              <a:cs typeface="Times New Roman" panose="02020603050405020304"/>
            </a:endParaRPr>
          </a:p>
        </p:txBody>
      </p:sp>
      <p:sp>
        <p:nvSpPr>
          <p:cNvPr id="19" name="background-bullets"/>
          <p:cNvSpPr>
            <a:spLocks noGrp="1"/>
          </p:cNvSpPr>
          <p:nvPr/>
        </p:nvSpPr>
        <p:spPr>
          <a:xfrm>
            <a:off x="3667125" y="1627632"/>
            <a:ext cx="7229475" cy="2468880"/>
          </a:xfrm>
          <a:prstGeom prst="rect">
            <a:avLst/>
          </a:prstGeom>
          <a:noFill/>
          <a:ln w="0">
            <a:noFill/>
          </a:ln>
        </p:spPr>
        <p:txBody>
          <a:bodyPr wrap="square" lIns="0" tIns="0" rIns="0" bIns="0" anchor="t">
            <a:noAutofit/>
          </a:bodyPr>
          <a:lstStyle>
            <a:defPPr algn="l">
              <a:defRPr sz="2325" b="0">
                <a:solidFill>
                  <a:srgbClr val="15212C"/>
                </a:solidFill>
                <a:latin typeface="Times New Roman" panose="02020603050405020304"/>
                <a:ea typeface="Times New Roman" panose="02020603050405020304"/>
                <a:cs typeface="Times New Roman" panose="02020603050405020304"/>
              </a:defRPr>
            </a:defPPr>
          </a:lstStyle>
          <a:p>
            <a:pPr marL="228600" indent="-127000" algn="l">
              <a:spcAft>
                <a:spcPts val="800"/>
              </a:spcAft>
              <a:buChar char="•"/>
              <a:defRPr sz="2325" b="0">
                <a:solidFill>
                  <a:srgbClr val="15212C"/>
                </a:solidFill>
                <a:latin typeface="Times New Roman" panose="02020603050405020304"/>
                <a:ea typeface="Times New Roman" panose="02020603050405020304"/>
                <a:cs typeface="Times New Roman" panose="02020603050405020304"/>
              </a:defRPr>
            </a:pPr>
            <a:r>
              <a:rPr sz="2100" b="0">
                <a:solidFill>
                  <a:srgbClr val="15212C"/>
                </a:solidFill>
              </a:rPr>
              <a:t>Electric Maxwell stress pulls the liquid interface outward; surface tension resists. Where they balance, a Taylor cone forms.</a:t>
            </a:r>
            <a:endParaRPr b="0">
              <a:solidFill>
                <a:srgbClr val="15212C"/>
              </a:solidFill>
            </a:endParaRPr>
          </a:p>
          <a:p>
            <a:pPr marL="228600" indent="-127000" algn="l">
              <a:spcAft>
                <a:spcPts val="800"/>
              </a:spcAft>
              <a:buChar char="•"/>
              <a:defRPr sz="2325" b="0">
                <a:solidFill>
                  <a:srgbClr val="15212C"/>
                </a:solidFill>
                <a:latin typeface="Times New Roman" panose="02020603050405020304"/>
                <a:ea typeface="Times New Roman" panose="02020603050405020304"/>
                <a:cs typeface="Times New Roman" panose="02020603050405020304"/>
              </a:defRPr>
            </a:pPr>
            <a:r>
              <a:rPr sz="2100" b="0">
                <a:solidFill>
                  <a:srgbClr val="15212C"/>
                </a:solidFill>
              </a:rPr>
              <a:t>High-fidelity electrospray models need specialised multiphysics software, dense meshes and substantial compute — a barrier for students and small laboratories.</a:t>
            </a:r>
          </a:p>
        </p:txBody>
      </p:sp>
      <p:sp>
        <p:nvSpPr>
          <p:cNvPr id="20" name="question"/>
          <p:cNvSpPr>
            <a:spLocks noGrp="1"/>
          </p:cNvSpPr>
          <p:nvPr/>
        </p:nvSpPr>
        <p:spPr>
          <a:xfrm>
            <a:off x="3667125" y="4219575"/>
            <a:ext cx="7229475" cy="514350"/>
          </a:xfrm>
          <a:prstGeom prst="rect">
            <a:avLst/>
          </a:prstGeom>
          <a:noFill/>
          <a:ln w="0">
            <a:noFill/>
          </a:ln>
        </p:spPr>
        <p:txBody>
          <a:bodyPr wrap="square" lIns="0" tIns="0" rIns="0" bIns="0" anchor="t">
            <a:noAutofit/>
          </a:bodyPr>
          <a:lstStyle/>
          <a:p>
            <a:pPr algn="l">
              <a:lnSpc>
                <a:spcPct val="108000"/>
              </a:lnSpc>
              <a:buNone/>
              <a:defRPr sz="2800" b="1">
                <a:solidFill>
                  <a:srgbClr val="0072B5"/>
                </a:solidFill>
                <a:latin typeface="Times New Roman" panose="02020603050405020304"/>
                <a:ea typeface="Times New Roman" panose="02020603050405020304"/>
                <a:cs typeface="Times New Roman" panose="02020603050405020304"/>
              </a:defRPr>
            </a:pPr>
            <a:r>
              <a:rPr sz="2600" b="1">
                <a:solidFill>
                  <a:srgbClr val="0072B5"/>
                </a:solidFill>
                <a:latin typeface="Times New Roman" panose="02020603050405020304"/>
                <a:ea typeface="Times New Roman" panose="02020603050405020304"/>
                <a:cs typeface="Times New Roman" panose="02020603050405020304"/>
              </a:rPr>
              <a:t>2. Research question</a:t>
            </a:r>
            <a:endParaRPr sz="2800" b="1">
              <a:solidFill>
                <a:srgbClr val="0072B5"/>
              </a:solidFill>
              <a:latin typeface="Times New Roman" panose="02020603050405020304"/>
              <a:ea typeface="Times New Roman" panose="02020603050405020304"/>
              <a:cs typeface="Times New Roman" panose="02020603050405020304"/>
            </a:endParaRPr>
          </a:p>
        </p:txBody>
      </p:sp>
      <p:sp>
        <p:nvSpPr>
          <p:cNvPr id="21" name="question-bullets"/>
          <p:cNvSpPr>
            <a:spLocks noGrp="1"/>
          </p:cNvSpPr>
          <p:nvPr/>
        </p:nvSpPr>
        <p:spPr>
          <a:xfrm>
            <a:off x="3667125" y="4754880"/>
            <a:ext cx="7229475" cy="2103120"/>
          </a:xfrm>
          <a:prstGeom prst="rect">
            <a:avLst/>
          </a:prstGeom>
          <a:noFill/>
          <a:ln w="0">
            <a:noFill/>
          </a:ln>
        </p:spPr>
        <p:txBody>
          <a:bodyPr wrap="square" lIns="0" tIns="0" rIns="0" bIns="0" anchor="t">
            <a:noAutofit/>
          </a:bodyPr>
          <a:lstStyle/>
          <a:p>
            <a:pPr marL="215900" indent="-127000" algn="l">
              <a:spcAft>
                <a:spcPts val="800"/>
              </a:spcAft>
              <a:buChar char="•"/>
              <a:defRPr sz="2400" b="0">
                <a:solidFill>
                  <a:srgbClr val="171D25"/>
                </a:solidFill>
                <a:latin typeface="Times New Roman" panose="02020603050405020304"/>
                <a:ea typeface="Times New Roman" panose="02020603050405020304"/>
                <a:cs typeface="Times New Roman" panose="02020603050405020304"/>
              </a:defRPr>
            </a:pPr>
            <a:r>
              <a:rPr sz="2100" b="1">
                <a:solidFill>
                  <a:srgbClr val="15212C"/>
                </a:solidFill>
              </a:rPr>
              <a:t>Can a lightweight sparse solver reproduce the key Taylor-cone observables — potential, interface field, curvature and the Maxwell–capillary stress balance — on an ordinary laptop?</a:t>
            </a:r>
          </a:p>
        </p:txBody>
      </p:sp>
      <p:sp>
        <p:nvSpPr>
          <p:cNvPr id="22" name="approach"/>
          <p:cNvSpPr>
            <a:spLocks noGrp="1"/>
          </p:cNvSpPr>
          <p:nvPr/>
        </p:nvSpPr>
        <p:spPr>
          <a:xfrm>
            <a:off x="3667125" y="6967728"/>
            <a:ext cx="7229475" cy="512064"/>
          </a:xfrm>
          <a:prstGeom prst="rect">
            <a:avLst/>
          </a:prstGeom>
          <a:noFill/>
          <a:ln w="0">
            <a:noFill/>
          </a:ln>
        </p:spPr>
        <p:txBody>
          <a:bodyPr wrap="square" lIns="0" tIns="0" rIns="0" bIns="0" anchor="t">
            <a:noAutofit/>
          </a:bodyPr>
          <a:lstStyle/>
          <a:p>
            <a:pPr algn="l">
              <a:lnSpc>
                <a:spcPct val="108000"/>
              </a:lnSpc>
              <a:buNone/>
              <a:defRPr sz="2800" b="1">
                <a:solidFill>
                  <a:srgbClr val="0072B5"/>
                </a:solidFill>
                <a:latin typeface="Times New Roman" panose="02020603050405020304"/>
                <a:ea typeface="Times New Roman" panose="02020603050405020304"/>
                <a:cs typeface="Times New Roman" panose="02020603050405020304"/>
              </a:defRPr>
            </a:pPr>
            <a:r>
              <a:rPr sz="2600" b="1">
                <a:solidFill>
                  <a:srgbClr val="0072B5"/>
                </a:solidFill>
                <a:latin typeface="Times New Roman" panose="02020603050405020304"/>
                <a:ea typeface="Times New Roman" panose="02020603050405020304"/>
                <a:cs typeface="Times New Roman" panose="02020603050405020304"/>
              </a:rPr>
              <a:t>3. Approach: verification hierarchy</a:t>
            </a:r>
            <a:endParaRPr sz="2800" b="1">
              <a:solidFill>
                <a:srgbClr val="0072B5"/>
              </a:solidFill>
              <a:latin typeface="Times New Roman" panose="02020603050405020304"/>
              <a:ea typeface="Times New Roman" panose="02020603050405020304"/>
              <a:cs typeface="Times New Roman" panose="02020603050405020304"/>
            </a:endParaRPr>
          </a:p>
        </p:txBody>
      </p:sp>
      <p:sp>
        <p:nvSpPr>
          <p:cNvPr id="23" name="approach-bullets"/>
          <p:cNvSpPr>
            <a:spLocks noGrp="1"/>
          </p:cNvSpPr>
          <p:nvPr/>
        </p:nvSpPr>
        <p:spPr>
          <a:xfrm>
            <a:off x="3667125" y="7534656"/>
            <a:ext cx="7229475" cy="2743200"/>
          </a:xfrm>
          <a:prstGeom prst="rect">
            <a:avLst/>
          </a:prstGeom>
          <a:noFill/>
          <a:ln w="0">
            <a:noFill/>
          </a:ln>
        </p:spPr>
        <p:txBody>
          <a:bodyPr wrap="square" lIns="0" tIns="0" rIns="0" bIns="0" anchor="t">
            <a:noAutofit/>
          </a:bodyPr>
          <a:lstStyle>
            <a:defPPr algn="l">
              <a:defRPr sz="2400">
                <a:solidFill>
                  <a:srgbClr val="171D25"/>
                </a:solidFill>
                <a:latin typeface="Times New Roman" panose="02020603050405020304"/>
                <a:ea typeface="Times New Roman" panose="02020603050405020304"/>
                <a:cs typeface="Times New Roman" panose="02020603050405020304"/>
              </a:defRPr>
            </a:defPPr>
          </a:lstStyle>
          <a:p>
            <a:pPr marL="228600" indent="-127000" algn="l">
              <a:lnSpc>
                <a:spcPct val="108000"/>
              </a:lnSpc>
              <a:spcAft>
                <a:spcPts val="700"/>
              </a:spcAft>
              <a:buChar char="•"/>
              <a:defRPr sz="2400">
                <a:solidFill>
                  <a:srgbClr val="171D25"/>
                </a:solidFill>
                <a:latin typeface="Times New Roman" panose="02020603050405020304"/>
                <a:ea typeface="Times New Roman" panose="02020603050405020304"/>
                <a:cs typeface="Times New Roman" panose="02020603050405020304"/>
              </a:defRPr>
            </a:pPr>
            <a:r>
              <a:rPr sz="2000" b="1">
                <a:solidFill>
                  <a:srgbClr val="0072B5"/>
                </a:solidFill>
              </a:rPr>
              <a:t>Analytical benchmark. </a:t>
            </a:r>
            <a:r>
              <a:rPr sz="2000" b="0">
                <a:solidFill>
                  <a:srgbClr val="15212C"/>
                </a:solidFill>
              </a:rPr>
              <a:t>Taylor’s exact half-angle from P₁/₂(cos θ) = 0.</a:t>
            </a:r>
            <a:endParaRPr sz="2400" b="0">
              <a:solidFill>
                <a:srgbClr val="171D25"/>
              </a:solidFill>
              <a:latin typeface="Times New Roman" panose="02020603050405020304"/>
              <a:ea typeface="Times New Roman" panose="02020603050405020304"/>
              <a:cs typeface="Times New Roman" panose="02020603050405020304"/>
            </a:endParaRPr>
          </a:p>
          <a:p>
            <a:pPr marL="228600" indent="-127000" algn="l">
              <a:lnSpc>
                <a:spcPct val="108000"/>
              </a:lnSpc>
              <a:spcAft>
                <a:spcPts val="700"/>
              </a:spcAft>
              <a:buChar char="•"/>
              <a:defRPr sz="2400">
                <a:solidFill>
                  <a:srgbClr val="171D25"/>
                </a:solidFill>
                <a:latin typeface="Times New Roman" panose="02020603050405020304"/>
                <a:ea typeface="Times New Roman" panose="02020603050405020304"/>
                <a:cs typeface="Times New Roman" panose="02020603050405020304"/>
              </a:defRPr>
            </a:pPr>
            <a:r>
              <a:rPr sz="2000" b="1">
                <a:solidFill>
                  <a:srgbClr val="0072B5"/>
                </a:solidFill>
              </a:rPr>
              <a:t>Manufactured solution. </a:t>
            </a:r>
            <a:r>
              <a:rPr sz="2000" b="0">
                <a:solidFill>
                  <a:srgbClr val="15212C"/>
                </a:solidFill>
              </a:rPr>
              <a:t>A quartic exact solution exercises the full operator.</a:t>
            </a:r>
          </a:p>
          <a:p>
            <a:pPr marL="228600" indent="-127000" algn="l">
              <a:lnSpc>
                <a:spcPct val="108000"/>
              </a:lnSpc>
              <a:spcAft>
                <a:spcPts val="700"/>
              </a:spcAft>
              <a:buChar char="•"/>
              <a:defRPr sz="2400">
                <a:solidFill>
                  <a:srgbClr val="171D25"/>
                </a:solidFill>
                <a:latin typeface="Times New Roman" panose="02020603050405020304"/>
                <a:ea typeface="Times New Roman" panose="02020603050405020304"/>
                <a:cs typeface="Times New Roman" panose="02020603050405020304"/>
              </a:defRPr>
            </a:pPr>
            <a:r>
              <a:rPr sz="2000" b="1">
                <a:solidFill>
                  <a:srgbClr val="0072B5"/>
                </a:solidFill>
              </a:rPr>
              <a:t>Free-boundary refinement. </a:t>
            </a:r>
            <a:r>
              <a:rPr sz="2000" b="0">
                <a:solidFill>
                  <a:srgbClr val="15212C"/>
                </a:solidFill>
              </a:rPr>
              <a:t>Immersed boundary compared against a staircase grid mask.</a:t>
            </a:r>
          </a:p>
          <a:p>
            <a:pPr marL="228600" indent="-127000" algn="l">
              <a:lnSpc>
                <a:spcPct val="108000"/>
              </a:lnSpc>
              <a:spcAft>
                <a:spcPts val="700"/>
              </a:spcAft>
              <a:buChar char="•"/>
              <a:defRPr sz="2400">
                <a:solidFill>
                  <a:srgbClr val="171D25"/>
                </a:solidFill>
                <a:latin typeface="Times New Roman" panose="02020603050405020304"/>
                <a:ea typeface="Times New Roman" panose="02020603050405020304"/>
                <a:cs typeface="Times New Roman" panose="02020603050405020304"/>
              </a:defRPr>
            </a:pPr>
            <a:r>
              <a:rPr sz="2000" b="1">
                <a:solidFill>
                  <a:srgbClr val="0072B5"/>
                </a:solidFill>
              </a:rPr>
              <a:t>Imposed-Taylor identity. </a:t>
            </a:r>
            <a:r>
              <a:rPr sz="2000" b="0">
                <a:solidFill>
                  <a:srgbClr val="15212C"/>
                </a:solidFill>
              </a:rPr>
              <a:t>Exact analytic far field with the cone as a zero equipotential.</a:t>
            </a:r>
          </a:p>
        </p:txBody>
      </p:sp>
      <p:sp>
        <p:nvSpPr>
          <p:cNvPr id="25" name="physical-model-frame"/>
          <p:cNvSpPr>
            <a:spLocks noGrp="1"/>
          </p:cNvSpPr>
          <p:nvPr/>
        </p:nvSpPr>
        <p:spPr>
          <a:xfrm>
            <a:off x="91440" y="10515600"/>
            <a:ext cx="11082528" cy="10570464"/>
          </a:xfrm>
          <a:prstGeom prst="roundRect">
            <a:avLst>
              <a:gd name="adj" fmla="val 1441"/>
            </a:avLst>
          </a:prstGeom>
          <a:solidFill>
            <a:srgbClr val="F7F9FC"/>
          </a:solidFill>
          <a:ln w="16193">
            <a:solidFill>
              <a:srgbClr val="4E89B9"/>
            </a:solidFill>
            <a:prstDash val="dash"/>
          </a:ln>
        </p:spPr>
        <p:txBody>
          <a:bodyPr/>
          <a:p/>
        </p:txBody>
      </p:sp>
      <p:sp>
        <p:nvSpPr>
          <p:cNvPr id="26" name="physical-model-header"/>
          <p:cNvSpPr>
            <a:spLocks noGrp="1"/>
          </p:cNvSpPr>
          <p:nvPr/>
        </p:nvSpPr>
        <p:spPr>
          <a:xfrm>
            <a:off x="95250" y="10515600"/>
            <a:ext cx="11087100" cy="800100"/>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27" name="physical-model-heading"/>
          <p:cNvSpPr>
            <a:spLocks noGrp="1"/>
          </p:cNvSpPr>
          <p:nvPr/>
        </p:nvSpPr>
        <p:spPr>
          <a:xfrm>
            <a:off x="333375" y="10648950"/>
            <a:ext cx="106108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400" b="1">
                <a:solidFill>
                  <a:srgbClr val="FFFFFF"/>
                </a:solidFill>
                <a:latin typeface="Times New Roman" panose="02020603050405020304"/>
                <a:ea typeface="Times New Roman" panose="02020603050405020304"/>
                <a:cs typeface="Times New Roman" panose="02020603050405020304"/>
              </a:rPr>
              <a:t>PHYSICAL MODEL</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35" name="setup-frame"/>
          <p:cNvSpPr>
            <a:spLocks noGrp="1"/>
          </p:cNvSpPr>
          <p:nvPr/>
        </p:nvSpPr>
        <p:spPr>
          <a:xfrm>
            <a:off x="91440" y="21223224"/>
            <a:ext cx="11082528" cy="11448288"/>
          </a:xfrm>
          <a:prstGeom prst="roundRect">
            <a:avLst>
              <a:gd name="adj" fmla="val 1375"/>
            </a:avLst>
          </a:prstGeom>
          <a:solidFill>
            <a:srgbClr val="F7F9FC"/>
          </a:solidFill>
          <a:ln w="16193">
            <a:solidFill>
              <a:srgbClr val="4E89B9"/>
            </a:solidFill>
            <a:prstDash val="dash"/>
          </a:ln>
        </p:spPr>
        <p:txBody>
          <a:bodyPr/>
          <a:p/>
        </p:txBody>
      </p:sp>
      <p:sp>
        <p:nvSpPr>
          <p:cNvPr id="36" name="setup-header"/>
          <p:cNvSpPr>
            <a:spLocks noGrp="1"/>
          </p:cNvSpPr>
          <p:nvPr/>
        </p:nvSpPr>
        <p:spPr>
          <a:xfrm>
            <a:off x="95250" y="21221700"/>
            <a:ext cx="11087100" cy="800100"/>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37" name="setup-heading"/>
          <p:cNvSpPr>
            <a:spLocks noGrp="1"/>
          </p:cNvSpPr>
          <p:nvPr/>
        </p:nvSpPr>
        <p:spPr>
          <a:xfrm>
            <a:off x="333375" y="21351240"/>
            <a:ext cx="106108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400" b="1">
                <a:solidFill>
                  <a:srgbClr val="FFFFFF"/>
                </a:solidFill>
                <a:latin typeface="Times New Roman" panose="02020603050405020304"/>
                <a:ea typeface="Times New Roman" panose="02020603050405020304"/>
                <a:cs typeface="Times New Roman" panose="02020603050405020304"/>
              </a:rPr>
              <a:t>VERIFICATION RUNS</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55" name="reproducibility-frame"/>
          <p:cNvSpPr>
            <a:spLocks noGrp="1"/>
          </p:cNvSpPr>
          <p:nvPr/>
        </p:nvSpPr>
        <p:spPr>
          <a:xfrm>
            <a:off x="91440" y="32808672"/>
            <a:ext cx="11082528" cy="9189720"/>
          </a:xfrm>
          <a:prstGeom prst="roundRect">
            <a:avLst>
              <a:gd name="adj" fmla="val 2670"/>
            </a:avLst>
          </a:prstGeom>
          <a:solidFill>
            <a:srgbClr val="F7F9FC"/>
          </a:solidFill>
          <a:ln w="16193">
            <a:solidFill>
              <a:srgbClr val="4E89B9"/>
            </a:solidFill>
            <a:prstDash val="dash"/>
          </a:ln>
        </p:spPr>
        <p:txBody>
          <a:bodyPr/>
          <a:p/>
        </p:txBody>
      </p:sp>
      <p:sp>
        <p:nvSpPr>
          <p:cNvPr id="56" name="reproducibility-header"/>
          <p:cNvSpPr>
            <a:spLocks noGrp="1"/>
          </p:cNvSpPr>
          <p:nvPr/>
        </p:nvSpPr>
        <p:spPr>
          <a:xfrm>
            <a:off x="95250" y="32808672"/>
            <a:ext cx="11087100" cy="804672"/>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57" name="reproducibility-heading"/>
          <p:cNvSpPr>
            <a:spLocks noGrp="1"/>
          </p:cNvSpPr>
          <p:nvPr/>
        </p:nvSpPr>
        <p:spPr>
          <a:xfrm>
            <a:off x="333375" y="32936688"/>
            <a:ext cx="106108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400" b="1">
                <a:solidFill>
                  <a:srgbClr val="FFFFFF"/>
                </a:solidFill>
                <a:latin typeface="Times New Roman" panose="02020603050405020304"/>
                <a:ea typeface="Times New Roman" panose="02020603050405020304"/>
                <a:cs typeface="Times New Roman" panose="02020603050405020304"/>
              </a:rPr>
              <a:t>REPRODUCIBILITY</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60" name="workflow-frame"/>
          <p:cNvSpPr>
            <a:spLocks noGrp="1"/>
          </p:cNvSpPr>
          <p:nvPr/>
        </p:nvSpPr>
        <p:spPr>
          <a:xfrm>
            <a:off x="11320272" y="3182112"/>
            <a:ext cx="21451824" cy="5769864"/>
          </a:xfrm>
          <a:prstGeom prst="roundRect">
            <a:avLst>
              <a:gd name="adj" fmla="val 2640"/>
            </a:avLst>
          </a:prstGeom>
          <a:solidFill>
            <a:srgbClr val="F7F9FC"/>
          </a:solidFill>
          <a:ln w="16193">
            <a:solidFill>
              <a:srgbClr val="4E89B9"/>
            </a:solidFill>
            <a:prstDash val="dash"/>
          </a:ln>
        </p:spPr>
        <p:txBody>
          <a:bodyPr/>
          <a:p/>
        </p:txBody>
      </p:sp>
      <p:sp>
        <p:nvSpPr>
          <p:cNvPr id="61" name="workflow-header"/>
          <p:cNvSpPr>
            <a:spLocks noGrp="1"/>
          </p:cNvSpPr>
          <p:nvPr/>
        </p:nvSpPr>
        <p:spPr>
          <a:xfrm>
            <a:off x="11315700" y="3181350"/>
            <a:ext cx="21450300" cy="800100"/>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62" name="workflow-heading"/>
          <p:cNvSpPr>
            <a:spLocks noGrp="1"/>
          </p:cNvSpPr>
          <p:nvPr/>
        </p:nvSpPr>
        <p:spPr>
          <a:xfrm>
            <a:off x="11553825" y="3314700"/>
            <a:ext cx="209740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600" b="1">
                <a:solidFill>
                  <a:srgbClr val="FFFFFF"/>
                </a:solidFill>
                <a:latin typeface="Times New Roman" panose="02020603050405020304"/>
                <a:ea typeface="Times New Roman" panose="02020603050405020304"/>
                <a:cs typeface="Times New Roman" panose="02020603050405020304"/>
              </a:rPr>
              <a:t>KEY VERIFIED RESULTS</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67" name="experiment-images-frame"/>
          <p:cNvSpPr>
            <a:spLocks noGrp="1"/>
          </p:cNvSpPr>
          <p:nvPr/>
        </p:nvSpPr>
        <p:spPr>
          <a:xfrm>
            <a:off x="11320272" y="9089136"/>
            <a:ext cx="21451824" cy="7296912"/>
          </a:xfrm>
          <a:prstGeom prst="roundRect">
            <a:avLst>
              <a:gd name="adj" fmla="val 2089"/>
            </a:avLst>
          </a:prstGeom>
          <a:solidFill>
            <a:srgbClr val="F7F9FC"/>
          </a:solidFill>
          <a:ln w="16193">
            <a:solidFill>
              <a:srgbClr val="4E89B9"/>
            </a:solidFill>
            <a:prstDash val="dash"/>
          </a:ln>
        </p:spPr>
        <p:txBody>
          <a:bodyPr/>
          <a:p/>
        </p:txBody>
      </p:sp>
      <p:sp>
        <p:nvSpPr>
          <p:cNvPr id="68" name="experiment-images-header"/>
          <p:cNvSpPr>
            <a:spLocks noGrp="1"/>
          </p:cNvSpPr>
          <p:nvPr/>
        </p:nvSpPr>
        <p:spPr>
          <a:xfrm>
            <a:off x="11315700" y="9086850"/>
            <a:ext cx="21450300" cy="800100"/>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69" name="experiment-images-heading"/>
          <p:cNvSpPr>
            <a:spLocks noGrp="1"/>
          </p:cNvSpPr>
          <p:nvPr/>
        </p:nvSpPr>
        <p:spPr>
          <a:xfrm>
            <a:off x="11553825" y="9220200"/>
            <a:ext cx="209740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200" b="1">
                <a:solidFill>
                  <a:srgbClr val="FFFFFF"/>
                </a:solidFill>
                <a:latin typeface="Times New Roman" panose="02020603050405020304"/>
                <a:ea typeface="Times New Roman" panose="02020603050405020304"/>
                <a:cs typeface="Times New Roman" panose="02020603050405020304"/>
              </a:rPr>
              <a:t>REFINEMENT AND FIELD STRUCTURE</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84" name="results-frame"/>
          <p:cNvSpPr>
            <a:spLocks noGrp="1"/>
          </p:cNvSpPr>
          <p:nvPr/>
        </p:nvSpPr>
        <p:spPr>
          <a:xfrm>
            <a:off x="11320272" y="16514063"/>
            <a:ext cx="21451824" cy="26947368"/>
          </a:xfrm>
          <a:prstGeom prst="roundRect">
            <a:avLst>
              <a:gd name="adj" fmla="val 710"/>
            </a:avLst>
          </a:prstGeom>
          <a:solidFill>
            <a:srgbClr val="F7F9FC"/>
          </a:solidFill>
          <a:ln w="16193">
            <a:solidFill>
              <a:srgbClr val="4E89B9"/>
            </a:solidFill>
            <a:prstDash val="dash"/>
          </a:ln>
        </p:spPr>
        <p:txBody>
          <a:bodyPr/>
          <a:p/>
        </p:txBody>
      </p:sp>
      <p:sp>
        <p:nvSpPr>
          <p:cNvPr id="85" name="results-header"/>
          <p:cNvSpPr>
            <a:spLocks noGrp="1"/>
          </p:cNvSpPr>
          <p:nvPr/>
        </p:nvSpPr>
        <p:spPr>
          <a:xfrm>
            <a:off x="11315700" y="16516350"/>
            <a:ext cx="21450300" cy="800100"/>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86" name="results-heading"/>
          <p:cNvSpPr>
            <a:spLocks noGrp="1"/>
          </p:cNvSpPr>
          <p:nvPr/>
        </p:nvSpPr>
        <p:spPr>
          <a:xfrm>
            <a:off x="11553825" y="16651224"/>
            <a:ext cx="2097405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600" b="1">
                <a:solidFill>
                  <a:srgbClr val="FFFFFF"/>
                </a:solidFill>
                <a:latin typeface="Times New Roman" panose="02020603050405020304"/>
                <a:ea typeface="Times New Roman" panose="02020603050405020304"/>
                <a:cs typeface="Times New Roman" panose="02020603050405020304"/>
              </a:rPr>
              <a:t>VERIFICATION DETAIL</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119" name="stress-frame"/>
          <p:cNvSpPr>
            <a:spLocks noGrp="1"/>
          </p:cNvSpPr>
          <p:nvPr/>
        </p:nvSpPr>
        <p:spPr>
          <a:xfrm>
            <a:off x="32900111" y="91440"/>
            <a:ext cx="10561320" cy="8284464"/>
          </a:xfrm>
          <a:prstGeom prst="roundRect">
            <a:avLst>
              <a:gd name="adj" fmla="val 1495"/>
            </a:avLst>
          </a:prstGeom>
          <a:solidFill>
            <a:srgbClr val="F7F9FC"/>
          </a:solidFill>
          <a:ln w="16193">
            <a:solidFill>
              <a:srgbClr val="4E89B9"/>
            </a:solidFill>
            <a:prstDash val="dash"/>
          </a:ln>
        </p:spPr>
        <p:txBody>
          <a:bodyPr/>
          <a:p/>
        </p:txBody>
      </p:sp>
      <p:sp>
        <p:nvSpPr>
          <p:cNvPr id="120" name="stress-header"/>
          <p:cNvSpPr>
            <a:spLocks noGrp="1"/>
          </p:cNvSpPr>
          <p:nvPr/>
        </p:nvSpPr>
        <p:spPr>
          <a:xfrm>
            <a:off x="32899350" y="91440"/>
            <a:ext cx="10565130" cy="804672"/>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126" name="measurement-frame"/>
          <p:cNvSpPr>
            <a:spLocks noGrp="1"/>
          </p:cNvSpPr>
          <p:nvPr/>
        </p:nvSpPr>
        <p:spPr>
          <a:xfrm>
            <a:off x="32900111" y="8513064"/>
            <a:ext cx="10561320" cy="8092440"/>
          </a:xfrm>
          <a:prstGeom prst="roundRect">
            <a:avLst>
              <a:gd name="adj" fmla="val 1455"/>
            </a:avLst>
          </a:prstGeom>
          <a:solidFill>
            <a:srgbClr val="F7F9FC"/>
          </a:solidFill>
          <a:ln w="16193">
            <a:solidFill>
              <a:srgbClr val="4E89B9"/>
            </a:solidFill>
            <a:prstDash val="dash"/>
          </a:ln>
        </p:spPr>
        <p:txBody>
          <a:bodyPr/>
          <a:p/>
        </p:txBody>
      </p:sp>
      <p:sp>
        <p:nvSpPr>
          <p:cNvPr id="127" name="measurement-header"/>
          <p:cNvSpPr>
            <a:spLocks noGrp="1"/>
          </p:cNvSpPr>
          <p:nvPr/>
        </p:nvSpPr>
        <p:spPr>
          <a:xfrm>
            <a:off x="32899350" y="8513064"/>
            <a:ext cx="10565130" cy="804672"/>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128" name="measurement-heading"/>
          <p:cNvSpPr>
            <a:spLocks noGrp="1"/>
          </p:cNvSpPr>
          <p:nvPr/>
        </p:nvSpPr>
        <p:spPr>
          <a:xfrm>
            <a:off x="33137475" y="8613648"/>
            <a:ext cx="1008888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200" b="1">
                <a:solidFill>
                  <a:srgbClr val="FFFFFF"/>
                </a:solidFill>
                <a:latin typeface="Times New Roman" panose="02020603050405020304"/>
                <a:ea typeface="Times New Roman" panose="02020603050405020304"/>
                <a:cs typeface="Times New Roman" panose="02020603050405020304"/>
              </a:rPr>
              <a:t>METHOD</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139" name="conclusion-frame"/>
          <p:cNvSpPr>
            <a:spLocks noGrp="1"/>
          </p:cNvSpPr>
          <p:nvPr/>
        </p:nvSpPr>
        <p:spPr>
          <a:xfrm>
            <a:off x="32900111" y="16742663"/>
            <a:ext cx="10561320" cy="14045184"/>
          </a:xfrm>
          <a:prstGeom prst="roundRect">
            <a:avLst>
              <a:gd name="adj" fmla="val 1942"/>
            </a:avLst>
          </a:prstGeom>
          <a:solidFill>
            <a:srgbClr val="F7F9FC"/>
          </a:solidFill>
          <a:ln w="16193">
            <a:solidFill>
              <a:srgbClr val="4E89B9"/>
            </a:solidFill>
            <a:prstDash val="dash"/>
          </a:ln>
        </p:spPr>
        <p:txBody>
          <a:bodyPr/>
          <a:p/>
        </p:txBody>
      </p:sp>
      <p:sp>
        <p:nvSpPr>
          <p:cNvPr id="140" name="conclusion-header"/>
          <p:cNvSpPr>
            <a:spLocks noGrp="1"/>
          </p:cNvSpPr>
          <p:nvPr/>
        </p:nvSpPr>
        <p:spPr>
          <a:xfrm>
            <a:off x="32899350" y="16742663"/>
            <a:ext cx="10565130" cy="804672"/>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141" name="conclusion-heading"/>
          <p:cNvSpPr>
            <a:spLocks noGrp="1"/>
          </p:cNvSpPr>
          <p:nvPr/>
        </p:nvSpPr>
        <p:spPr>
          <a:xfrm>
            <a:off x="33137475" y="16861536"/>
            <a:ext cx="1008888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200" b="1">
                <a:solidFill>
                  <a:srgbClr val="FFFFFF"/>
                </a:solidFill>
                <a:latin typeface="Times New Roman" panose="02020603050405020304"/>
                <a:ea typeface="Times New Roman" panose="02020603050405020304"/>
                <a:cs typeface="Times New Roman" panose="02020603050405020304"/>
              </a:rPr>
              <a:t>CONCLUSION</a:t>
            </a:r>
            <a:endParaRPr sz="3800" b="1">
              <a:solidFill>
                <a:srgbClr val="FFFFFF"/>
              </a:solidFill>
              <a:latin typeface="Times New Roman" panose="02020603050405020304"/>
              <a:ea typeface="Times New Roman" panose="02020603050405020304"/>
              <a:cs typeface="Times New Roman" panose="02020603050405020304"/>
            </a:endParaRPr>
          </a:p>
        </p:txBody>
      </p:sp>
      <p:sp>
        <p:nvSpPr>
          <p:cNvPr id="154" name="references-frame"/>
          <p:cNvSpPr>
            <a:spLocks noGrp="1"/>
          </p:cNvSpPr>
          <p:nvPr/>
        </p:nvSpPr>
        <p:spPr>
          <a:xfrm>
            <a:off x="32900111" y="30915864"/>
            <a:ext cx="10561320" cy="12545568"/>
          </a:xfrm>
          <a:prstGeom prst="roundRect">
            <a:avLst>
              <a:gd name="adj" fmla="val 4381"/>
            </a:avLst>
          </a:prstGeom>
          <a:solidFill>
            <a:srgbClr val="F7F9FC"/>
          </a:solidFill>
          <a:ln w="16193">
            <a:solidFill>
              <a:srgbClr val="4E89B9"/>
            </a:solidFill>
            <a:prstDash val="dash"/>
          </a:ln>
        </p:spPr>
        <p:txBody>
          <a:bodyPr/>
          <a:p/>
        </p:txBody>
      </p:sp>
      <p:sp>
        <p:nvSpPr>
          <p:cNvPr id="155" name="references-header"/>
          <p:cNvSpPr>
            <a:spLocks noGrp="1"/>
          </p:cNvSpPr>
          <p:nvPr/>
        </p:nvSpPr>
        <p:spPr>
          <a:xfrm>
            <a:off x="32899350" y="30915864"/>
            <a:ext cx="10565130" cy="804672"/>
          </a:xfrm>
          <a:prstGeom prst="roundRect">
            <a:avLst>
              <a:gd name="adj" fmla="val 16667"/>
            </a:avLst>
          </a:prstGeom>
          <a:gradFill>
            <a:gsLst>
              <a:gs pos="0">
                <a:srgbClr val="155AA1"/>
              </a:gs>
              <a:gs pos="55000">
                <a:srgbClr val="357FB4"/>
              </a:gs>
              <a:gs pos="100000">
                <a:srgbClr val="829DBA"/>
              </a:gs>
            </a:gsLst>
            <a:lin ang="0"/>
          </a:gradFill>
          <a:ln w="0">
            <a:noFill/>
          </a:ln>
        </p:spPr>
        <p:txBody>
          <a:bodyPr/>
          <a:p/>
        </p:txBody>
      </p:sp>
      <p:sp>
        <p:nvSpPr>
          <p:cNvPr id="156" name="references-heading"/>
          <p:cNvSpPr>
            <a:spLocks noGrp="1"/>
          </p:cNvSpPr>
          <p:nvPr/>
        </p:nvSpPr>
        <p:spPr>
          <a:xfrm>
            <a:off x="33137475" y="31034735"/>
            <a:ext cx="10088880" cy="647700"/>
          </a:xfrm>
          <a:prstGeom prst="rect">
            <a:avLst/>
          </a:prstGeom>
          <a:noFill/>
          <a:ln w="0">
            <a:noFill/>
          </a:ln>
        </p:spPr>
        <p:txBody>
          <a:bodyPr wrap="square" lIns="0" tIns="0" rIns="0" bIns="0" anchor="ctr">
            <a:noAutofit/>
          </a:bodyPr>
          <a:lstStyle>
            <a:defPPr algn="ctr">
              <a:defRPr sz="3800" b="1">
                <a:solidFill>
                  <a:srgbClr val="FFFFFF"/>
                </a:solidFill>
                <a:latin typeface="Times New Roman" panose="02020603050405020304"/>
                <a:ea typeface="Times New Roman" panose="02020603050405020304"/>
                <a:cs typeface="Times New Roman" panose="02020603050405020304"/>
              </a:defRPr>
            </a:defPPr>
          </a:lstStyle>
          <a:p>
            <a:pPr algn="ctr">
              <a:lnSpc>
                <a:spcPct val="108000"/>
              </a:lnSpc>
              <a:buNone/>
              <a:defRPr sz="3800" b="1">
                <a:solidFill>
                  <a:srgbClr val="FFFFFF"/>
                </a:solidFill>
                <a:latin typeface="Times New Roman" panose="02020603050405020304"/>
                <a:ea typeface="Times New Roman" panose="02020603050405020304"/>
                <a:cs typeface="Times New Roman" panose="02020603050405020304"/>
              </a:defRPr>
            </a:pPr>
            <a:r>
              <a:rPr sz="3200" b="1">
                <a:solidFill>
                  <a:srgbClr val="FFFFFF"/>
                </a:solidFill>
                <a:latin typeface="Times New Roman" panose="02020603050405020304"/>
                <a:ea typeface="Times New Roman" panose="02020603050405020304"/>
                <a:cs typeface="Times New Roman" panose="02020603050405020304"/>
              </a:rPr>
              <a:t>REFERENCES</a:t>
            </a:r>
            <a:endParaRPr sz="3800" b="1">
              <a:solidFill>
                <a:srgbClr val="FFFFFF"/>
              </a:solidFill>
              <a:latin typeface="Times New Roman" panose="02020603050405020304"/>
              <a:ea typeface="Times New Roman" panose="02020603050405020304"/>
              <a:cs typeface="Times New Roman" panose="02020603050405020304"/>
            </a:endParaRPr>
          </a:p>
        </p:txBody>
      </p:sp>
      <mc:AlternateContent xmlns:mc="http://schemas.openxmlformats.org/markup-compatibility/2006">
        <mc:Choice xmlns:a14="http://schemas.microsoft.com/office/drawing/2010/main" Requires="a14">
          <p:sp>
            <p:nvSpPr>
              <p:cNvPr id="315" name="workflow-node-0-1"/>
              <p:cNvSpPr>
                <a:spLocks noGrp="1"/>
              </p:cNvSpPr>
              <p:nvPr/>
            </p:nvSpPr>
            <p:spPr>
              <a:xfrm>
                <a:off x="15278100" y="4600575"/>
                <a:ext cx="3343275" cy="1085850"/>
              </a:xfrm>
              <a:prstGeom prst="roundRect">
                <a:avLst>
                  <a:gd name="adj" fmla="val 10526"/>
                </a:avLst>
              </a:prstGeom>
              <a:solidFill>
                <a:srgbClr val="E5F1FA"/>
              </a:solidFill>
              <a:ln w="16193">
                <a:solidFill>
                  <a:srgbClr val="5A9BC4"/>
                </a:solidFill>
                <a:prstDash val="solid"/>
              </a:ln>
            </p:spPr>
            <p:txBody>
              <a:bodyPr wrap="square" lIns="76200" tIns="76200" rIns="76200" bIns="76200" anchor="ctr">
                <a:noAutofit/>
              </a:bodyPr>
              <a:lstStyle>
                <a:defPPr algn="ctr">
                  <a:defRPr sz="2100" b="0">
                    <a:solidFill>
                      <a:srgbClr val="086EAD"/>
                    </a:solidFill>
                    <a:latin typeface="Times New Roman" panose="02020603050405020304"/>
                    <a:ea typeface="Times New Roman" panose="02020603050405020304"/>
                    <a:cs typeface="Times New Roman" panose="02020603050405020304"/>
                  </a:defRPr>
                </a:defPPr>
              </a:lstStyle>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Field </a:t>
                </a:r>
                <a:r>
                  <a:rPr lang="en-US" sz="2100" b="0">
                    <a:solidFill>
                      <a:srgbClr val="086EAD"/>
                    </a:solidFill>
                    <a:latin typeface="Times New Roman" panose="02020603050405020304"/>
                    <a:ea typeface="Times New Roman" panose="02020603050405020304"/>
                    <a:cs typeface="Times New Roman" panose="02020603050405020304"/>
                  </a:rPr>
                  <a:t>and</a:t>
                </a:r>
                <a:r>
                  <a:rPr sz="2100" b="0">
                    <a:solidFill>
                      <a:srgbClr val="086EAD"/>
                    </a:solidFill>
                    <a:latin typeface="Times New Roman" panose="02020603050405020304"/>
                    <a:ea typeface="Times New Roman" panose="02020603050405020304"/>
                    <a:cs typeface="Times New Roman" panose="02020603050405020304"/>
                  </a:rPr>
                  <a:t> curvature</a:t>
                </a:r>
                <a:endParaRPr sz="2100" b="0">
                  <a:solidFill>
                    <a:srgbClr val="086EAD"/>
                  </a:solidFill>
                  <a:latin typeface="Times New Roman" panose="02020603050405020304"/>
                  <a:ea typeface="Times New Roman" panose="02020603050405020304"/>
                  <a:cs typeface="Times New Roman" panose="02020603050405020304"/>
                </a:endParaRPr>
              </a:p>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φ, </a:t>
                </a:r>
                <a14:m>
                  <m:oMath xmlns:m="http://schemas.openxmlformats.org/officeDocument/2006/math">
                    <m:sSub>
                      <m:sSubPr>
                        <m:ctrlPr>
                          <a:rPr lang="en-US" sz="2100" b="0" i="1">
                            <a:solidFill>
                              <a:srgbClr val="086EAD"/>
                            </a:solidFill>
                            <a:latin typeface="DejaVu Math TeX Gyre" panose="02000503000000000000" charset="0"/>
                            <a:ea typeface="Times New Roman" panose="02020603050405020304"/>
                            <a:cs typeface="DejaVu Math TeX Gyre" panose="02000503000000000000" charset="0"/>
                          </a:rPr>
                        </m:ctrlPr>
                      </m:sSubPr>
                      <m:e>
                        <m:r>
                          <a:rPr lang="en-US" sz="2100" b="0" i="1">
                            <a:solidFill>
                              <a:srgbClr val="086EAD"/>
                            </a:solidFill>
                            <a:latin typeface="DejaVu Math TeX Gyre" panose="02000503000000000000" charset="0"/>
                            <a:ea typeface="Times New Roman" panose="02020603050405020304"/>
                            <a:cs typeface="DejaVu Math TeX Gyre" panose="02000503000000000000" charset="0"/>
                          </a:rPr>
                          <m:t>𝐸</m:t>
                        </m:r>
                      </m:e>
                      <m:sub>
                        <m:r>
                          <a:rPr lang="en-US" sz="2100" b="0" i="1">
                            <a:solidFill>
                              <a:srgbClr val="086EAD"/>
                            </a:solidFill>
                            <a:latin typeface="DejaVu Math TeX Gyre" panose="02000503000000000000" charset="0"/>
                            <a:ea typeface="Times New Roman" panose="02020603050405020304"/>
                            <a:cs typeface="DejaVu Math TeX Gyre" panose="02000503000000000000" charset="0"/>
                          </a:rPr>
                          <m:t>𝑛</m:t>
                        </m:r>
                      </m:sub>
                    </m:sSub>
                  </m:oMath>
                </a14:m>
                <a:r>
                  <a:rPr sz="2100" b="0">
                    <a:solidFill>
                      <a:srgbClr val="086EAD"/>
                    </a:solidFill>
                    <a:latin typeface="Times New Roman" panose="02020603050405020304"/>
                    <a:ea typeface="Times New Roman" panose="02020603050405020304"/>
                    <a:cs typeface="Times New Roman" panose="02020603050405020304"/>
                  </a:rPr>
                  <a:t>, κ</a:t>
                </a:r>
                <a:endParaRPr sz="2100" b="0">
                  <a:solidFill>
                    <a:srgbClr val="086EAD"/>
                  </a:solidFill>
                  <a:latin typeface="Times New Roman" panose="02020603050405020304"/>
                  <a:ea typeface="Times New Roman" panose="02020603050405020304"/>
                  <a:cs typeface="Times New Roman" panose="02020603050405020304"/>
                </a:endParaRPr>
              </a:p>
            </p:txBody>
          </p:sp>
        </mc:Choice>
        <mc:Fallback>
          <p:sp>
            <p:nvSpPr>
              <p:cNvPr id="315" name="workflow-node-0-1"/>
              <p:cNvSpPr>
                <a:spLocks noRot="1" noChangeAspect="1" noMove="1" noResize="1" noEditPoints="1" noAdjustHandles="1" noChangeArrowheads="1" noChangeShapeType="1" noTextEdit="1"/>
              </p:cNvSpPr>
              <p:nvPr/>
            </p:nvSpPr>
            <p:spPr>
              <a:xfrm>
                <a:off x="15278100" y="4600575"/>
                <a:ext cx="3343275" cy="1085850"/>
              </a:xfrm>
              <a:prstGeom prst="roundRect">
                <a:avLst>
                  <a:gd name="adj" fmla="val 10526"/>
                </a:avLst>
              </a:prstGeom>
              <a:blipFill rotWithShape="1">
                <a:blip r:embed="rId21"/>
                <a:stretch>
                  <a:fillRect l="-247" t="-760" r="-228" b="-702"/>
                </a:stretch>
              </a:blipFill>
              <a:ln w="16193">
                <a:solidFill>
                  <a:srgbClr val="5A9BC4"/>
                </a:solidFill>
                <a:prstDash val="soli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7" name="workflow-node-0-2"/>
              <p:cNvSpPr>
                <a:spLocks noGrp="1"/>
              </p:cNvSpPr>
              <p:nvPr/>
            </p:nvSpPr>
            <p:spPr>
              <a:xfrm>
                <a:off x="18954750" y="4600575"/>
                <a:ext cx="3343275" cy="1085850"/>
              </a:xfrm>
              <a:prstGeom prst="roundRect">
                <a:avLst>
                  <a:gd name="adj" fmla="val 10526"/>
                </a:avLst>
              </a:prstGeom>
              <a:solidFill>
                <a:srgbClr val="E5F1FA"/>
              </a:solidFill>
              <a:ln w="16193">
                <a:solidFill>
                  <a:srgbClr val="5A9BC4"/>
                </a:solidFill>
                <a:prstDash val="solid"/>
              </a:ln>
            </p:spPr>
            <p:txBody>
              <a:bodyPr wrap="square" lIns="76200" tIns="76200" rIns="76200" bIns="76200" anchor="ctr">
                <a:noAutofit/>
              </a:bodyPr>
              <a:lstStyle>
                <a:defPPr algn="ctr">
                  <a:defRPr sz="2100" b="0">
                    <a:solidFill>
                      <a:srgbClr val="086EAD"/>
                    </a:solidFill>
                    <a:latin typeface="Times New Roman" panose="02020603050405020304"/>
                    <a:ea typeface="Times New Roman" panose="02020603050405020304"/>
                    <a:cs typeface="Times New Roman" panose="02020603050405020304"/>
                  </a:defRPr>
                </a:defPPr>
              </a:lstStyle>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Interface stresses</a:t>
                </a:r>
                <a:endParaRPr sz="2100" b="0">
                  <a:solidFill>
                    <a:srgbClr val="086EAD"/>
                  </a:solidFill>
                  <a:latin typeface="Times New Roman" panose="02020603050405020304"/>
                  <a:ea typeface="Times New Roman" panose="02020603050405020304"/>
                  <a:cs typeface="Times New Roman" panose="02020603050405020304"/>
                </a:endParaRPr>
              </a:p>
              <a:p>
                <a:pPr algn="ctr">
                  <a:defRPr sz="2100" b="0">
                    <a:solidFill>
                      <a:srgbClr val="086EAD"/>
                    </a:solidFill>
                    <a:latin typeface="Times New Roman" panose="02020603050405020304"/>
                    <a:ea typeface="Times New Roman" panose="02020603050405020304"/>
                    <a:cs typeface="Times New Roman" panose="02020603050405020304"/>
                  </a:defRPr>
                </a:pPr>
                <a:r>
                  <a:rPr sz="2100" b="0">
                    <a:solidFill>
                      <a:srgbClr val="086EAD"/>
                    </a:solidFill>
                    <a:latin typeface="Times New Roman" panose="02020603050405020304"/>
                    <a:ea typeface="Times New Roman" panose="02020603050405020304"/>
                    <a:cs typeface="Times New Roman" panose="02020603050405020304"/>
                  </a:rPr>
                  <a:t>γκ and ½ε₀</a:t>
                </a:r>
                <a14:m>
                  <m:oMath xmlns:m="http://schemas.openxmlformats.org/officeDocument/2006/math">
                    <m:sSub>
                      <m:sSubPr>
                        <m:ctrlPr>
                          <a:rPr lang="en-US" sz="2100" b="0" i="1">
                            <a:solidFill>
                              <a:srgbClr val="086EAD"/>
                            </a:solidFill>
                            <a:latin typeface="DejaVu Math TeX Gyre" panose="02000503000000000000" charset="0"/>
                            <a:ea typeface="Times New Roman" panose="02020603050405020304"/>
                            <a:cs typeface="DejaVu Math TeX Gyre" panose="02000503000000000000" charset="0"/>
                          </a:rPr>
                        </m:ctrlPr>
                      </m:sSubPr>
                      <m:e>
                        <m:r>
                          <a:rPr lang="en-US" sz="2100" b="0" i="1">
                            <a:solidFill>
                              <a:srgbClr val="086EAD"/>
                            </a:solidFill>
                            <a:latin typeface="DejaVu Math TeX Gyre" panose="02000503000000000000" charset="0"/>
                            <a:ea typeface="Times New Roman" panose="02020603050405020304"/>
                            <a:cs typeface="DejaVu Math TeX Gyre" panose="02000503000000000000" charset="0"/>
                          </a:rPr>
                          <m:t>𝐸</m:t>
                        </m:r>
                      </m:e>
                      <m:sub>
                        <m:r>
                          <a:rPr lang="en-US" sz="2100" b="0" i="1">
                            <a:solidFill>
                              <a:srgbClr val="086EAD"/>
                            </a:solidFill>
                            <a:latin typeface="DejaVu Math TeX Gyre" panose="02000503000000000000" charset="0"/>
                            <a:ea typeface="Times New Roman" panose="02020603050405020304"/>
                            <a:cs typeface="DejaVu Math TeX Gyre" panose="02000503000000000000" charset="0"/>
                          </a:rPr>
                          <m:t>𝑛</m:t>
                        </m:r>
                      </m:sub>
                    </m:sSub>
                  </m:oMath>
                </a14:m>
                <a:r>
                  <a:rPr sz="2100" b="0">
                    <a:solidFill>
                      <a:srgbClr val="086EAD"/>
                    </a:solidFill>
                    <a:latin typeface="Times New Roman" panose="02020603050405020304"/>
                    <a:ea typeface="Times New Roman" panose="02020603050405020304"/>
                    <a:cs typeface="Times New Roman" panose="02020603050405020304"/>
                  </a:rPr>
                  <a:t>²</a:t>
                </a:r>
                <a:endParaRPr sz="2100" b="0">
                  <a:solidFill>
                    <a:srgbClr val="086EAD"/>
                  </a:solidFill>
                  <a:latin typeface="Times New Roman" panose="02020603050405020304"/>
                  <a:ea typeface="Times New Roman" panose="02020603050405020304"/>
                  <a:cs typeface="Times New Roman" panose="02020603050405020304"/>
                </a:endParaRPr>
              </a:p>
            </p:txBody>
          </p:sp>
        </mc:Choice>
        <mc:Fallback>
          <p:sp>
            <p:nvSpPr>
              <p:cNvPr id="317" name="workflow-node-0-2"/>
              <p:cNvSpPr>
                <a:spLocks noRot="1" noChangeAspect="1" noMove="1" noResize="1" noEditPoints="1" noAdjustHandles="1" noChangeArrowheads="1" noChangeShapeType="1" noTextEdit="1"/>
              </p:cNvSpPr>
              <p:nvPr/>
            </p:nvSpPr>
            <p:spPr>
              <a:xfrm>
                <a:off x="18954750" y="4600575"/>
                <a:ext cx="3343275" cy="1085850"/>
              </a:xfrm>
              <a:prstGeom prst="roundRect">
                <a:avLst>
                  <a:gd name="adj" fmla="val 10526"/>
                </a:avLst>
              </a:prstGeom>
              <a:blipFill rotWithShape="1">
                <a:blip r:embed="rId22"/>
                <a:stretch>
                  <a:fillRect l="-247" t="-760" r="-228" b="-702"/>
                </a:stretch>
              </a:blipFill>
              <a:ln w="16193">
                <a:solidFill>
                  <a:srgbClr val="5A9BC4"/>
                </a:solidFill>
                <a:prstDash val="solid"/>
              </a:ln>
            </p:spPr>
            <p:txBody>
              <a:bodyPr/>
              <a:lstStyle/>
              <a:p>
                <a:r>
                  <a:rPr lang="zh-CN" altLang="en-US">
                    <a:noFill/>
                  </a:rPr>
                  <a:t> </a:t>
                </a:r>
              </a:p>
            </p:txBody>
          </p:sp>
        </mc:Fallback>
      </mc:AlternateContent>
      <p:sp>
        <p:nvSpPr>
          <p:cNvPr id="328" name="TextBox 327"/>
          <p:cNvSpPr txBox="1"/>
          <p:nvPr/>
        </p:nvSpPr>
        <p:spPr>
          <a:xfrm>
            <a:off x="384048" y="11539728"/>
            <a:ext cx="10515600" cy="2377440"/>
          </a:xfrm>
          <a:prstGeom prst="rect">
            <a:avLst/>
          </a:prstGeom>
          <a:noFill/>
        </p:spPr>
        <p:txBody>
          <a:bodyPr wrap="square" lIns="0" rIns="0" tIns="0" bIns="0" anchor="t">
            <a:spAutoFit/>
          </a:bodyPr>
          <a:lstStyle/>
          <a:p>
            <a:pPr algn="l"/>
            <a:r>
              <a:rPr sz="2200" b="0">
                <a:solidFill>
                  <a:srgbClr val="15212C"/>
                </a:solidFill>
                <a:latin typeface="Times New Roman"/>
              </a:rPr>
              <a:t>∇²φ = 0        E = −∇φ
p_E = ½ ε₀ Eₙ²        p_γ = γκ
R = p_γ − p_E − Δp        Δp = ⟨p_γ − p_E⟩</a:t>
            </a:r>
          </a:p>
        </p:txBody>
      </p:sp>
      <p:sp>
        <p:nvSpPr>
          <p:cNvPr id="329" name="TextBox 328"/>
          <p:cNvSpPr txBox="1"/>
          <p:nvPr/>
        </p:nvSpPr>
        <p:spPr>
          <a:xfrm>
            <a:off x="384048" y="14036040"/>
            <a:ext cx="10515600" cy="1554480"/>
          </a:xfrm>
          <a:prstGeom prst="rect">
            <a:avLst/>
          </a:prstGeom>
          <a:noFill/>
        </p:spPr>
        <p:txBody>
          <a:bodyPr wrap="square" lIns="0" rIns="0" tIns="0" bIns="0" anchor="t">
            <a:spAutoFit/>
          </a:bodyPr>
          <a:lstStyle/>
          <a:p>
            <a:pPr algn="l">
              <a:lnSpc>
                <a:spcPct val="105000"/>
              </a:lnSpc>
              <a:spcAft>
                <a:spcPts val="400"/>
              </a:spcAft>
            </a:pPr>
            <a:r>
              <a:rPr sz="2100" b="1">
                <a:solidFill>
                  <a:srgbClr val="C45A12"/>
                </a:solidFill>
              </a:rPr>
              <a:t>Analytical Taylor benchmark:  </a:t>
            </a:r>
            <a:r>
              <a:rPr sz="2600" b="1">
                <a:solidFill>
                  <a:srgbClr val="C45A12"/>
                </a:solidFill>
              </a:rPr>
              <a:t>49.29°</a:t>
            </a:r>
          </a:p>
          <a:p>
            <a:pPr algn="l">
              <a:lnSpc>
                <a:spcPct val="105000"/>
              </a:lnSpc>
              <a:spcAft>
                <a:spcPts val="400"/>
              </a:spcAft>
            </a:pPr>
            <a:r>
              <a:rPr sz="1700" b="0">
                <a:solidFill>
                  <a:srgbClr val="495A66"/>
                </a:solidFill>
              </a:rPr>
              <a:t>root of P₁/₂(cos θ) = 0, computed by solver.verification.taylor_cone_half_angle_deg()</a:t>
            </a:r>
          </a:p>
        </p:txBody>
      </p:sp>
      <p:sp>
        <p:nvSpPr>
          <p:cNvPr id="330" name="TextBox 329"/>
          <p:cNvSpPr txBox="1"/>
          <p:nvPr/>
        </p:nvSpPr>
        <p:spPr>
          <a:xfrm>
            <a:off x="384048" y="15819120"/>
            <a:ext cx="10515600" cy="5120640"/>
          </a:xfrm>
          <a:prstGeom prst="rect">
            <a:avLst/>
          </a:prstGeom>
          <a:noFill/>
        </p:spPr>
        <p:txBody>
          <a:bodyPr wrap="square" lIns="0" rIns="0" tIns="0" bIns="0" anchor="t">
            <a:spAutoFit/>
          </a:bodyPr>
          <a:lstStyle/>
          <a:p>
            <a:pPr algn="l">
              <a:lnSpc>
                <a:spcPct val="106000"/>
              </a:lnSpc>
            </a:pPr>
            <a:r>
              <a:rPr sz="2000" b="0">
                <a:solidFill>
                  <a:srgbClr val="15212C"/>
                </a:solidFill>
                <a:latin typeface="Times New Roman"/>
              </a:rPr>
              <a:t>Axisymmetric reduced-order model. The liquid is an equipotential conductor; the gas obeys Laplace’s equation. A rounded cone (half-angle α, apex cap radius R_c) defines the candidate interface. Electric and capillary pressures are evaluated on that interface and combined into a Young–Laplace–Maxwell residual R.
Onset voltage is projected by absorbing the dominant scale-free pressure term, giving V₀* ∝ √(γL/ε₀) and a millimetre-scale onset in the ethanol literature range.</a:t>
            </a:r>
          </a:p>
        </p:txBody>
      </p:sp>
      <p:sp>
        <p:nvSpPr>
          <p:cNvPr id="331" name="TextBox 330"/>
          <p:cNvSpPr txBox="1"/>
          <p:nvPr/>
        </p:nvSpPr>
        <p:spPr>
          <a:xfrm>
            <a:off x="384048" y="22265640"/>
            <a:ext cx="10515600" cy="10012680"/>
          </a:xfrm>
          <a:prstGeom prst="rect">
            <a:avLst/>
          </a:prstGeom>
          <a:noFill/>
        </p:spPr>
        <p:txBody>
          <a:bodyPr wrap="square" lIns="0" rIns="0" tIns="0" bIns="0" anchor="t">
            <a:spAutoFit/>
          </a:bodyPr>
          <a:lstStyle/>
          <a:p>
            <a:pPr algn="l">
              <a:spcAft>
                <a:spcPts val="900"/>
              </a:spcAft>
            </a:pPr>
            <a:r>
              <a:rPr sz="2000" b="1">
                <a:solidFill>
                  <a:srgbClr val="086EAD"/>
                </a:solidFill>
              </a:rPr>
              <a:t>Test suite. </a:t>
            </a:r>
            <a:r>
              <a:rPr sz="2000" b="0">
                <a:solidFill>
                  <a:srgbClr val="15212C"/>
                </a:solidFill>
              </a:rPr>
              <a:t>74 automated tests pass (python -m pytest backend/tests/).</a:t>
            </a:r>
          </a:p>
          <a:p>
            <a:pPr algn="l">
              <a:spcAft>
                <a:spcPts val="900"/>
              </a:spcAft>
            </a:pPr>
            <a:r>
              <a:rPr sz="2000" b="1">
                <a:solidFill>
                  <a:srgbClr val="086EAD"/>
                </a:solidFill>
              </a:rPr>
              <a:t>Manufactured solution. </a:t>
            </a:r>
            <a:r>
              <a:rPr sz="2000" b="0">
                <a:solidFill>
                  <a:srgbClr val="15212C"/>
                </a:solidFill>
              </a:rPr>
              <a:t>Quartic φ = r⁴+z⁴+r²z² on four grids; measured orders 2.025, 2.013, 2.006.</a:t>
            </a:r>
          </a:p>
          <a:p>
            <a:pPr algn="l">
              <a:spcAft>
                <a:spcPts val="900"/>
              </a:spcAft>
            </a:pPr>
            <a:r>
              <a:rPr sz="2000" b="1">
                <a:solidFill>
                  <a:srgbClr val="086EAD"/>
                </a:solidFill>
              </a:rPr>
              <a:t>Quadratic control. </a:t>
            </a:r>
            <a:r>
              <a:rPr sz="2000" b="0">
                <a:solidFill>
                  <a:srgbClr val="15212C"/>
                </a:solidFill>
              </a:rPr>
              <a:t>The r²+z² case is exact by construction — errors ~1e-15, so it is reported as a control, not as convergence evidence.</a:t>
            </a:r>
          </a:p>
          <a:p>
            <a:pPr algn="l">
              <a:spcAft>
                <a:spcPts val="900"/>
              </a:spcAft>
            </a:pPr>
            <a:r>
              <a:rPr sz="2000" b="1">
                <a:solidFill>
                  <a:srgbClr val="086EAD"/>
                </a:solidFill>
              </a:rPr>
              <a:t>Free-boundary refinement. </a:t>
            </a:r>
            <a:r>
              <a:rPr sz="2000" b="0">
                <a:solidFill>
                  <a:srgbClr val="15212C"/>
                </a:solidFill>
              </a:rPr>
              <a:t>Immersed orders 1.28 → 0.74; staircase mask 1.86 → -0.66 (non-convergent).</a:t>
            </a:r>
          </a:p>
          <a:p>
            <a:pPr algn="l">
              <a:spcAft>
                <a:spcPts val="900"/>
              </a:spcAft>
            </a:pPr>
            <a:r>
              <a:rPr sz="2000" b="1">
                <a:solidFill>
                  <a:srgbClr val="086EAD"/>
                </a:solidFill>
              </a:rPr>
              <a:t>Imposed-Taylor identity. </a:t>
            </a:r>
            <a:r>
              <a:rPr sz="2000" b="0">
                <a:solidFill>
                  <a:srgbClr val="15212C"/>
                </a:solidFill>
              </a:rPr>
              <a:t>Balance amplitude ratio V₀*/A* = 1.0005 at the 121×177 grid.</a:t>
            </a:r>
          </a:p>
          <a:p>
            <a:pPr algn="l">
              <a:spcAft>
                <a:spcPts val="900"/>
              </a:spcAft>
            </a:pPr>
            <a:r>
              <a:rPr sz="2000" b="1">
                <a:solidFill>
                  <a:srgbClr val="086EAD"/>
                </a:solidFill>
              </a:rPr>
              <a:t>Exponent crossing. </a:t>
            </a:r>
            <a:r>
              <a:rPr sz="2000" b="0">
                <a:solidFill>
                  <a:srgbClr val="15212C"/>
                </a:solidFill>
              </a:rPr>
              <a:t>Recovers 49.14° (61×89) and 49.20° (121×177) vs. the 49.29° benchmark.</a:t>
            </a:r>
          </a:p>
          <a:p>
            <a:pPr algn="l">
              <a:spcAft>
                <a:spcPts val="900"/>
              </a:spcAft>
            </a:pPr>
            <a:r>
              <a:rPr sz="2000" b="1">
                <a:solidFill>
                  <a:srgbClr val="086EAD"/>
                </a:solidFill>
              </a:rPr>
              <a:t>Runtime. </a:t>
            </a:r>
            <a:r>
              <a:rPr sz="2000" b="0">
                <a:solidFill>
                  <a:srgbClr val="15212C"/>
                </a:solidFill>
              </a:rPr>
              <a:t>Largest committed case is 85,073 unknowns in 334 s on a laptop.</a:t>
            </a:r>
          </a:p>
        </p:txBody>
      </p:sp>
      <p:sp>
        <p:nvSpPr>
          <p:cNvPr id="332" name="Rounded Rectangle 331"/>
          <p:cNvSpPr/>
          <p:nvPr/>
        </p:nvSpPr>
        <p:spPr>
          <a:xfrm>
            <a:off x="11521440" y="4041648"/>
            <a:ext cx="5047488" cy="2103120"/>
          </a:xfrm>
          <a:prstGeom prst="roundRect">
            <a:avLst/>
          </a:prstGeom>
          <a:solidFill>
            <a:srgbClr val="F2F8FC"/>
          </a:solidFill>
          <a:ln w="15875">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3" name="TextBox 332"/>
          <p:cNvSpPr txBox="1"/>
          <p:nvPr/>
        </p:nvSpPr>
        <p:spPr>
          <a:xfrm>
            <a:off x="11795760" y="4187952"/>
            <a:ext cx="4498848" cy="841248"/>
          </a:xfrm>
          <a:prstGeom prst="rect">
            <a:avLst/>
          </a:prstGeom>
          <a:noFill/>
        </p:spPr>
        <p:txBody>
          <a:bodyPr wrap="square" lIns="0" rIns="0" tIns="0" bIns="0" anchor="t">
            <a:spAutoFit/>
          </a:bodyPr>
          <a:lstStyle/>
          <a:p>
            <a:pPr algn="l"/>
            <a:r>
              <a:rPr sz="4400" b="1">
                <a:solidFill>
                  <a:srgbClr val="0072B5"/>
                </a:solidFill>
                <a:latin typeface="Times New Roman"/>
              </a:rPr>
              <a:t>2.02</a:t>
            </a:r>
          </a:p>
        </p:txBody>
      </p:sp>
      <p:sp>
        <p:nvSpPr>
          <p:cNvPr id="334" name="TextBox 333"/>
          <p:cNvSpPr txBox="1"/>
          <p:nvPr/>
        </p:nvSpPr>
        <p:spPr>
          <a:xfrm>
            <a:off x="11795760" y="5065776"/>
            <a:ext cx="4498848" cy="292608"/>
          </a:xfrm>
          <a:prstGeom prst="rect">
            <a:avLst/>
          </a:prstGeom>
          <a:noFill/>
        </p:spPr>
        <p:txBody>
          <a:bodyPr wrap="square" lIns="0" rIns="0" tIns="0" bIns="0" anchor="t">
            <a:spAutoFit/>
          </a:bodyPr>
          <a:lstStyle/>
          <a:p>
            <a:pPr algn="l"/>
            <a:r>
              <a:rPr sz="1800" b="1">
                <a:solidFill>
                  <a:srgbClr val="C45A12"/>
                </a:solidFill>
                <a:latin typeface="Times New Roman"/>
              </a:rPr>
              <a:t>convergence order</a:t>
            </a:r>
          </a:p>
        </p:txBody>
      </p:sp>
      <p:sp>
        <p:nvSpPr>
          <p:cNvPr id="335" name="TextBox 334"/>
          <p:cNvSpPr txBox="1"/>
          <p:nvPr/>
        </p:nvSpPr>
        <p:spPr>
          <a:xfrm>
            <a:off x="11795760" y="5376672"/>
            <a:ext cx="4498848" cy="438912"/>
          </a:xfrm>
          <a:prstGeom prst="rect">
            <a:avLst/>
          </a:prstGeom>
          <a:noFill/>
        </p:spPr>
        <p:txBody>
          <a:bodyPr wrap="square" lIns="0" rIns="0" tIns="0" bIns="0" anchor="t">
            <a:spAutoFit/>
          </a:bodyPr>
          <a:lstStyle/>
          <a:p>
            <a:pPr algn="l">
              <a:lnSpc>
                <a:spcPct val="92000"/>
              </a:lnSpc>
            </a:pPr>
            <a:r>
              <a:rPr sz="1600" b="0">
                <a:solidFill>
                  <a:srgbClr val="15212C"/>
                </a:solidFill>
                <a:latin typeface="Times New Roman"/>
              </a:rPr>
              <a:t>Quartic manufactured Poisson, finest level</a:t>
            </a:r>
          </a:p>
        </p:txBody>
      </p:sp>
      <p:sp>
        <p:nvSpPr>
          <p:cNvPr id="336" name="TextBox 335"/>
          <p:cNvSpPr txBox="1"/>
          <p:nvPr/>
        </p:nvSpPr>
        <p:spPr>
          <a:xfrm>
            <a:off x="11795760" y="5833872"/>
            <a:ext cx="4498848" cy="329184"/>
          </a:xfrm>
          <a:prstGeom prst="rect">
            <a:avLst/>
          </a:prstGeom>
          <a:noFill/>
        </p:spPr>
        <p:txBody>
          <a:bodyPr wrap="square" lIns="0" rIns="0" tIns="0" bIns="0" anchor="t">
            <a:spAutoFit/>
          </a:bodyPr>
          <a:lstStyle/>
          <a:p>
            <a:pPr algn="l">
              <a:lnSpc>
                <a:spcPct val="92000"/>
              </a:lnSpc>
            </a:pPr>
            <a:r>
              <a:rPr sz="1450" b="0">
                <a:solidFill>
                  <a:srgbClr val="4A5A66"/>
                </a:solidFill>
                <a:latin typeface="Times New Roman"/>
              </a:rPr>
              <a:t>orders 2.025 / 2.013 / 2.006 across four grids</a:t>
            </a:r>
          </a:p>
        </p:txBody>
      </p:sp>
      <p:sp>
        <p:nvSpPr>
          <p:cNvPr id="337" name="Rounded Rectangle 336"/>
          <p:cNvSpPr/>
          <p:nvPr/>
        </p:nvSpPr>
        <p:spPr>
          <a:xfrm>
            <a:off x="16751808" y="4041648"/>
            <a:ext cx="5047488" cy="2103120"/>
          </a:xfrm>
          <a:prstGeom prst="roundRect">
            <a:avLst/>
          </a:prstGeom>
          <a:solidFill>
            <a:srgbClr val="F2F8FC"/>
          </a:solidFill>
          <a:ln w="15875">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8" name="TextBox 337"/>
          <p:cNvSpPr txBox="1"/>
          <p:nvPr/>
        </p:nvSpPr>
        <p:spPr>
          <a:xfrm>
            <a:off x="17026128" y="4187952"/>
            <a:ext cx="4498848" cy="841248"/>
          </a:xfrm>
          <a:prstGeom prst="rect">
            <a:avLst/>
          </a:prstGeom>
          <a:noFill/>
        </p:spPr>
        <p:txBody>
          <a:bodyPr wrap="square" lIns="0" rIns="0" tIns="0" bIns="0" anchor="t">
            <a:spAutoFit/>
          </a:bodyPr>
          <a:lstStyle/>
          <a:p>
            <a:pPr algn="l"/>
            <a:r>
              <a:rPr sz="4400" b="1">
                <a:solidFill>
                  <a:srgbClr val="0072B5"/>
                </a:solidFill>
                <a:latin typeface="Times New Roman"/>
              </a:rPr>
              <a:t>49.29°</a:t>
            </a:r>
          </a:p>
        </p:txBody>
      </p:sp>
      <p:sp>
        <p:nvSpPr>
          <p:cNvPr id="339" name="TextBox 338"/>
          <p:cNvSpPr txBox="1"/>
          <p:nvPr/>
        </p:nvSpPr>
        <p:spPr>
          <a:xfrm>
            <a:off x="17026128" y="5065776"/>
            <a:ext cx="4498848" cy="292608"/>
          </a:xfrm>
          <a:prstGeom prst="rect">
            <a:avLst/>
          </a:prstGeom>
          <a:noFill/>
        </p:spPr>
        <p:txBody>
          <a:bodyPr wrap="square" lIns="0" rIns="0" tIns="0" bIns="0" anchor="t">
            <a:spAutoFit/>
          </a:bodyPr>
          <a:lstStyle/>
          <a:p>
            <a:pPr algn="l"/>
            <a:r>
              <a:rPr sz="1800" b="1">
                <a:solidFill>
                  <a:srgbClr val="C45A12"/>
                </a:solidFill>
                <a:latin typeface="Times New Roman"/>
              </a:rPr>
              <a:t>Taylor benchmark</a:t>
            </a:r>
          </a:p>
        </p:txBody>
      </p:sp>
      <p:sp>
        <p:nvSpPr>
          <p:cNvPr id="340" name="TextBox 339"/>
          <p:cNvSpPr txBox="1"/>
          <p:nvPr/>
        </p:nvSpPr>
        <p:spPr>
          <a:xfrm>
            <a:off x="17026128" y="5376672"/>
            <a:ext cx="4498848" cy="438912"/>
          </a:xfrm>
          <a:prstGeom prst="rect">
            <a:avLst/>
          </a:prstGeom>
          <a:noFill/>
        </p:spPr>
        <p:txBody>
          <a:bodyPr wrap="square" lIns="0" rIns="0" tIns="0" bIns="0" anchor="t">
            <a:spAutoFit/>
          </a:bodyPr>
          <a:lstStyle/>
          <a:p>
            <a:pPr algn="l">
              <a:lnSpc>
                <a:spcPct val="92000"/>
              </a:lnSpc>
            </a:pPr>
            <a:r>
              <a:rPr sz="1600" b="0">
                <a:solidFill>
                  <a:srgbClr val="15212C"/>
                </a:solidFill>
                <a:latin typeface="Times New Roman"/>
              </a:rPr>
              <a:t>Analytical root of P₁/₂(cos θ) = 0</a:t>
            </a:r>
          </a:p>
        </p:txBody>
      </p:sp>
      <p:sp>
        <p:nvSpPr>
          <p:cNvPr id="341" name="TextBox 340"/>
          <p:cNvSpPr txBox="1"/>
          <p:nvPr/>
        </p:nvSpPr>
        <p:spPr>
          <a:xfrm>
            <a:off x="17026128" y="5833872"/>
            <a:ext cx="4498848" cy="329184"/>
          </a:xfrm>
          <a:prstGeom prst="rect">
            <a:avLst/>
          </a:prstGeom>
          <a:noFill/>
        </p:spPr>
        <p:txBody>
          <a:bodyPr wrap="square" lIns="0" rIns="0" tIns="0" bIns="0" anchor="t">
            <a:spAutoFit/>
          </a:bodyPr>
          <a:lstStyle/>
          <a:p>
            <a:pPr algn="l">
              <a:lnSpc>
                <a:spcPct val="92000"/>
              </a:lnSpc>
            </a:pPr>
            <a:r>
              <a:rPr sz="1450" b="0">
                <a:solidFill>
                  <a:srgbClr val="4A5A66"/>
                </a:solidFill>
                <a:latin typeface="Times New Roman"/>
              </a:rPr>
              <a:t>solver computes 49.2901° from the exact theory</a:t>
            </a:r>
          </a:p>
        </p:txBody>
      </p:sp>
      <p:sp>
        <p:nvSpPr>
          <p:cNvPr id="342" name="Rounded Rectangle 341"/>
          <p:cNvSpPr/>
          <p:nvPr/>
        </p:nvSpPr>
        <p:spPr>
          <a:xfrm>
            <a:off x="21982176" y="4041648"/>
            <a:ext cx="5047488" cy="2103120"/>
          </a:xfrm>
          <a:prstGeom prst="roundRect">
            <a:avLst/>
          </a:prstGeom>
          <a:solidFill>
            <a:srgbClr val="F2F8FC"/>
          </a:solidFill>
          <a:ln w="15875">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3" name="TextBox 342"/>
          <p:cNvSpPr txBox="1"/>
          <p:nvPr/>
        </p:nvSpPr>
        <p:spPr>
          <a:xfrm>
            <a:off x="22256496" y="4187952"/>
            <a:ext cx="4498848" cy="841248"/>
          </a:xfrm>
          <a:prstGeom prst="rect">
            <a:avLst/>
          </a:prstGeom>
          <a:noFill/>
        </p:spPr>
        <p:txBody>
          <a:bodyPr wrap="square" lIns="0" rIns="0" tIns="0" bIns="0" anchor="t">
            <a:spAutoFit/>
          </a:bodyPr>
          <a:lstStyle/>
          <a:p>
            <a:pPr algn="l"/>
            <a:r>
              <a:rPr sz="4400" b="1">
                <a:solidFill>
                  <a:srgbClr val="0072B5"/>
                </a:solidFill>
                <a:latin typeface="Times New Roman"/>
              </a:rPr>
              <a:t>1.0005</a:t>
            </a:r>
          </a:p>
        </p:txBody>
      </p:sp>
      <p:sp>
        <p:nvSpPr>
          <p:cNvPr id="344" name="TextBox 343"/>
          <p:cNvSpPr txBox="1"/>
          <p:nvPr/>
        </p:nvSpPr>
        <p:spPr>
          <a:xfrm>
            <a:off x="22256496" y="5065776"/>
            <a:ext cx="4498848" cy="292608"/>
          </a:xfrm>
          <a:prstGeom prst="rect">
            <a:avLst/>
          </a:prstGeom>
          <a:noFill/>
        </p:spPr>
        <p:txBody>
          <a:bodyPr wrap="square" lIns="0" rIns="0" tIns="0" bIns="0" anchor="t">
            <a:spAutoFit/>
          </a:bodyPr>
          <a:lstStyle/>
          <a:p>
            <a:pPr algn="l"/>
            <a:r>
              <a:rPr sz="1800" b="1">
                <a:solidFill>
                  <a:srgbClr val="C45A12"/>
                </a:solidFill>
                <a:latin typeface="Times New Roman"/>
              </a:rPr>
              <a:t>amplitude ratio</a:t>
            </a:r>
          </a:p>
        </p:txBody>
      </p:sp>
      <p:sp>
        <p:nvSpPr>
          <p:cNvPr id="345" name="TextBox 344"/>
          <p:cNvSpPr txBox="1"/>
          <p:nvPr/>
        </p:nvSpPr>
        <p:spPr>
          <a:xfrm>
            <a:off x="22256496" y="5376672"/>
            <a:ext cx="4498848" cy="438912"/>
          </a:xfrm>
          <a:prstGeom prst="rect">
            <a:avLst/>
          </a:prstGeom>
          <a:noFill/>
        </p:spPr>
        <p:txBody>
          <a:bodyPr wrap="square" lIns="0" rIns="0" tIns="0" bIns="0" anchor="t">
            <a:spAutoFit/>
          </a:bodyPr>
          <a:lstStyle/>
          <a:p>
            <a:pPr algn="l">
              <a:lnSpc>
                <a:spcPct val="92000"/>
              </a:lnSpc>
            </a:pPr>
            <a:r>
              <a:rPr sz="1600" b="0">
                <a:solidFill>
                  <a:srgbClr val="15212C"/>
                </a:solidFill>
                <a:latin typeface="Times New Roman"/>
              </a:rPr>
              <a:t>V₀*/A* under the imposed Taylor far field</a:t>
            </a:r>
          </a:p>
        </p:txBody>
      </p:sp>
      <p:sp>
        <p:nvSpPr>
          <p:cNvPr id="346" name="TextBox 345"/>
          <p:cNvSpPr txBox="1"/>
          <p:nvPr/>
        </p:nvSpPr>
        <p:spPr>
          <a:xfrm>
            <a:off x="22256496" y="5833872"/>
            <a:ext cx="4498848" cy="329184"/>
          </a:xfrm>
          <a:prstGeom prst="rect">
            <a:avLst/>
          </a:prstGeom>
          <a:noFill/>
        </p:spPr>
        <p:txBody>
          <a:bodyPr wrap="square" lIns="0" rIns="0" tIns="0" bIns="0" anchor="t">
            <a:spAutoFit/>
          </a:bodyPr>
          <a:lstStyle/>
          <a:p>
            <a:pPr algn="l">
              <a:lnSpc>
                <a:spcPct val="92000"/>
              </a:lnSpc>
            </a:pPr>
            <a:r>
              <a:rPr sz="1450" b="0">
                <a:solidFill>
                  <a:srgbClr val="4A5A66"/>
                </a:solidFill>
                <a:latin typeface="Times New Roman"/>
              </a:rPr>
              <a:t>within 0.06% of the exact balance identity</a:t>
            </a:r>
          </a:p>
        </p:txBody>
      </p:sp>
      <p:sp>
        <p:nvSpPr>
          <p:cNvPr id="347" name="Rounded Rectangle 346"/>
          <p:cNvSpPr/>
          <p:nvPr/>
        </p:nvSpPr>
        <p:spPr>
          <a:xfrm>
            <a:off x="27212544" y="4041648"/>
            <a:ext cx="5047488" cy="2103120"/>
          </a:xfrm>
          <a:prstGeom prst="roundRect">
            <a:avLst/>
          </a:prstGeom>
          <a:solidFill>
            <a:srgbClr val="F2F8FC"/>
          </a:solidFill>
          <a:ln w="15875">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8" name="TextBox 347"/>
          <p:cNvSpPr txBox="1"/>
          <p:nvPr/>
        </p:nvSpPr>
        <p:spPr>
          <a:xfrm>
            <a:off x="27486864" y="4187952"/>
            <a:ext cx="4498848" cy="841248"/>
          </a:xfrm>
          <a:prstGeom prst="rect">
            <a:avLst/>
          </a:prstGeom>
          <a:noFill/>
        </p:spPr>
        <p:txBody>
          <a:bodyPr wrap="square" lIns="0" rIns="0" tIns="0" bIns="0" anchor="t">
            <a:spAutoFit/>
          </a:bodyPr>
          <a:lstStyle/>
          <a:p>
            <a:pPr algn="l"/>
            <a:r>
              <a:rPr sz="4400" b="1">
                <a:solidFill>
                  <a:srgbClr val="0072B5"/>
                </a:solidFill>
                <a:latin typeface="Times New Roman"/>
              </a:rPr>
              <a:t>0.0066</a:t>
            </a:r>
          </a:p>
        </p:txBody>
      </p:sp>
      <p:sp>
        <p:nvSpPr>
          <p:cNvPr id="349" name="TextBox 348"/>
          <p:cNvSpPr txBox="1"/>
          <p:nvPr/>
        </p:nvSpPr>
        <p:spPr>
          <a:xfrm>
            <a:off x="27486864" y="5065776"/>
            <a:ext cx="4498848" cy="292608"/>
          </a:xfrm>
          <a:prstGeom prst="rect">
            <a:avLst/>
          </a:prstGeom>
          <a:noFill/>
        </p:spPr>
        <p:txBody>
          <a:bodyPr wrap="square" lIns="0" rIns="0" tIns="0" bIns="0" anchor="t">
            <a:spAutoFit/>
          </a:bodyPr>
          <a:lstStyle/>
          <a:p>
            <a:pPr algn="l"/>
            <a:r>
              <a:rPr sz="1800" b="1">
                <a:solidFill>
                  <a:srgbClr val="C45A12"/>
                </a:solidFill>
                <a:latin typeface="Times New Roman"/>
              </a:rPr>
              <a:t>residual minimum</a:t>
            </a:r>
          </a:p>
        </p:txBody>
      </p:sp>
      <p:sp>
        <p:nvSpPr>
          <p:cNvPr id="350" name="TextBox 349"/>
          <p:cNvSpPr txBox="1"/>
          <p:nvPr/>
        </p:nvSpPr>
        <p:spPr>
          <a:xfrm>
            <a:off x="27486864" y="5376672"/>
            <a:ext cx="4498848" cy="438912"/>
          </a:xfrm>
          <a:prstGeom prst="rect">
            <a:avLst/>
          </a:prstGeom>
          <a:noFill/>
        </p:spPr>
        <p:txBody>
          <a:bodyPr wrap="square" lIns="0" rIns="0" tIns="0" bIns="0" anchor="t">
            <a:spAutoFit/>
          </a:bodyPr>
          <a:lstStyle/>
          <a:p>
            <a:pPr algn="l">
              <a:lnSpc>
                <a:spcPct val="92000"/>
              </a:lnSpc>
            </a:pPr>
            <a:r>
              <a:rPr sz="1600" b="0">
                <a:solidFill>
                  <a:srgbClr val="15212C"/>
                </a:solidFill>
                <a:latin typeface="Times New Roman"/>
              </a:rPr>
              <a:t>lowest projected residual RMS [Pa], 121×177</a:t>
            </a:r>
          </a:p>
        </p:txBody>
      </p:sp>
      <p:sp>
        <p:nvSpPr>
          <p:cNvPr id="351" name="TextBox 350"/>
          <p:cNvSpPr txBox="1"/>
          <p:nvPr/>
        </p:nvSpPr>
        <p:spPr>
          <a:xfrm>
            <a:off x="27486864" y="5833872"/>
            <a:ext cx="4498848" cy="329184"/>
          </a:xfrm>
          <a:prstGeom prst="rect">
            <a:avLst/>
          </a:prstGeom>
          <a:noFill/>
        </p:spPr>
        <p:txBody>
          <a:bodyPr wrap="square" lIns="0" rIns="0" tIns="0" bIns="0" anchor="t">
            <a:spAutoFit/>
          </a:bodyPr>
          <a:lstStyle/>
          <a:p>
            <a:pPr algn="l">
              <a:lnSpc>
                <a:spcPct val="92000"/>
              </a:lnSpc>
            </a:pPr>
            <a:r>
              <a:rPr sz="1450" b="0">
                <a:solidFill>
                  <a:srgbClr val="4A5A66"/>
                </a:solidFill>
                <a:latin typeface="Times New Roman"/>
              </a:rPr>
              <a:t>landscape is flat; exponent crossing resolves the angle</a:t>
            </a:r>
          </a:p>
        </p:txBody>
      </p:sp>
      <p:pic>
        <p:nvPicPr>
          <p:cNvPr id="352" name="Picture 351" descr="fig_convergence.png"/>
          <p:cNvPicPr>
            <a:picLocks noChangeAspect="1"/>
          </p:cNvPicPr>
          <p:nvPr/>
        </p:nvPicPr>
        <p:blipFill>
          <a:blip r:embed="rId26"/>
          <a:stretch>
            <a:fillRect/>
          </a:stretch>
        </p:blipFill>
        <p:spPr>
          <a:xfrm>
            <a:off x="11594592" y="6355080"/>
            <a:ext cx="5394960" cy="2018220"/>
          </a:xfrm>
          <a:prstGeom prst="rect">
            <a:avLst/>
          </a:prstGeom>
        </p:spPr>
      </p:pic>
      <p:sp>
        <p:nvSpPr>
          <p:cNvPr id="353" name="TextBox 352"/>
          <p:cNvSpPr txBox="1"/>
          <p:nvPr/>
        </p:nvSpPr>
        <p:spPr>
          <a:xfrm>
            <a:off x="11594592" y="8430768"/>
            <a:ext cx="5394960" cy="420624"/>
          </a:xfrm>
          <a:prstGeom prst="rect">
            <a:avLst/>
          </a:prstGeom>
          <a:noFill/>
        </p:spPr>
        <p:txBody>
          <a:bodyPr wrap="square" lIns="0" rIns="0" tIns="0" bIns="0" anchor="t">
            <a:spAutoFit/>
          </a:bodyPr>
          <a:lstStyle/>
          <a:p>
            <a:pPr algn="l"/>
            <a:r>
              <a:rPr sz="1600" b="0">
                <a:solidFill>
                  <a:srgbClr val="4A5A66"/>
                </a:solidFill>
                <a:latin typeface="Times New Roman"/>
              </a:rPr>
              <a:t>Fig. 1. Manufactured-solution convergence order.</a:t>
            </a:r>
          </a:p>
        </p:txBody>
      </p:sp>
      <p:pic>
        <p:nvPicPr>
          <p:cNvPr id="354" name="Picture 353" descr="fig_taylor_angle.png"/>
          <p:cNvPicPr>
            <a:picLocks noChangeAspect="1"/>
          </p:cNvPicPr>
          <p:nvPr/>
        </p:nvPicPr>
        <p:blipFill>
          <a:blip r:embed="rId27"/>
          <a:stretch>
            <a:fillRect/>
          </a:stretch>
        </p:blipFill>
        <p:spPr>
          <a:xfrm>
            <a:off x="17419320" y="6355080"/>
            <a:ext cx="3246120" cy="1941651"/>
          </a:xfrm>
          <a:prstGeom prst="rect">
            <a:avLst/>
          </a:prstGeom>
        </p:spPr>
      </p:pic>
      <p:sp>
        <p:nvSpPr>
          <p:cNvPr id="355" name="TextBox 354"/>
          <p:cNvSpPr txBox="1"/>
          <p:nvPr/>
        </p:nvSpPr>
        <p:spPr>
          <a:xfrm>
            <a:off x="17419320" y="8430768"/>
            <a:ext cx="3246120" cy="566928"/>
          </a:xfrm>
          <a:prstGeom prst="rect">
            <a:avLst/>
          </a:prstGeom>
          <a:noFill/>
        </p:spPr>
        <p:txBody>
          <a:bodyPr wrap="square" lIns="0" rIns="0" tIns="0" bIns="0" anchor="t">
            <a:spAutoFit/>
          </a:bodyPr>
          <a:lstStyle/>
          <a:p>
            <a:pPr algn="l"/>
            <a:r>
              <a:rPr sz="1500" b="0">
                <a:solidFill>
                  <a:srgbClr val="4A5A66"/>
                </a:solidFill>
                <a:latin typeface="Times New Roman"/>
              </a:rPr>
              <a:t>Fig. 2. Exponent crossing vs. Taylor benchmark.</a:t>
            </a:r>
          </a:p>
        </p:txBody>
      </p:sp>
      <p:pic>
        <p:nvPicPr>
          <p:cNvPr id="356" name="Picture 355" descr="fig_immersed_refine.png"/>
          <p:cNvPicPr>
            <a:picLocks noChangeAspect="1"/>
          </p:cNvPicPr>
          <p:nvPr/>
        </p:nvPicPr>
        <p:blipFill>
          <a:blip r:embed="rId28"/>
          <a:stretch>
            <a:fillRect/>
          </a:stretch>
        </p:blipFill>
        <p:spPr>
          <a:xfrm>
            <a:off x="11612880" y="10040112"/>
            <a:ext cx="6903720" cy="3891827"/>
          </a:xfrm>
          <a:prstGeom prst="rect">
            <a:avLst/>
          </a:prstGeom>
        </p:spPr>
      </p:pic>
      <p:sp>
        <p:nvSpPr>
          <p:cNvPr id="357" name="TextBox 356"/>
          <p:cNvSpPr txBox="1"/>
          <p:nvPr/>
        </p:nvSpPr>
        <p:spPr>
          <a:xfrm>
            <a:off x="11612880" y="13990320"/>
            <a:ext cx="7315200" cy="475488"/>
          </a:xfrm>
          <a:prstGeom prst="rect">
            <a:avLst/>
          </a:prstGeom>
          <a:noFill/>
        </p:spPr>
        <p:txBody>
          <a:bodyPr wrap="square" lIns="0" rIns="0" tIns="0" bIns="0" anchor="t">
            <a:spAutoFit/>
          </a:bodyPr>
          <a:lstStyle/>
          <a:p>
            <a:pPr algn="l">
              <a:lnSpc>
                <a:spcPct val="98000"/>
              </a:lnSpc>
            </a:pPr>
            <a:r>
              <a:rPr sz="1600" b="0">
                <a:solidFill>
                  <a:srgbClr val="4A5A66"/>
                </a:solidFill>
                <a:latin typeface="Times New Roman"/>
              </a:rPr>
              <a:t>Fig. 3. Immersed boundary vs. staircase mask: immersed converges, staircase does not.</a:t>
            </a:r>
          </a:p>
        </p:txBody>
      </p:sp>
      <p:pic>
        <p:nvPicPr>
          <p:cNvPr id="358" name="Picture 357" descr="fig_landscape.png"/>
          <p:cNvPicPr>
            <a:picLocks noChangeAspect="1"/>
          </p:cNvPicPr>
          <p:nvPr/>
        </p:nvPicPr>
        <p:blipFill>
          <a:blip r:embed="rId29"/>
          <a:stretch>
            <a:fillRect/>
          </a:stretch>
        </p:blipFill>
        <p:spPr>
          <a:xfrm>
            <a:off x="18973800" y="10040112"/>
            <a:ext cx="6949440" cy="3966715"/>
          </a:xfrm>
          <a:prstGeom prst="rect">
            <a:avLst/>
          </a:prstGeom>
        </p:spPr>
      </p:pic>
      <p:sp>
        <p:nvSpPr>
          <p:cNvPr id="359" name="TextBox 358"/>
          <p:cNvSpPr txBox="1"/>
          <p:nvPr/>
        </p:nvSpPr>
        <p:spPr>
          <a:xfrm>
            <a:off x="19202400" y="14026896"/>
            <a:ext cx="7589520" cy="658368"/>
          </a:xfrm>
          <a:prstGeom prst="rect">
            <a:avLst/>
          </a:prstGeom>
          <a:noFill/>
        </p:spPr>
        <p:txBody>
          <a:bodyPr wrap="square" lIns="0" rIns="0" tIns="0" bIns="0" anchor="t">
            <a:spAutoFit/>
          </a:bodyPr>
          <a:lstStyle/>
          <a:p>
            <a:pPr algn="l">
              <a:lnSpc>
                <a:spcPct val="98000"/>
              </a:lnSpc>
            </a:pPr>
            <a:r>
              <a:rPr sz="1700" b="0">
                <a:solidFill>
                  <a:srgbClr val="4A5A66"/>
                </a:solidFill>
                <a:latin typeface="Times New Roman"/>
              </a:rPr>
              <a:t>Fig. 4. Projected residual vs. candidate half-angle. The argmin alone is ill-conditioned; the flank exponent crossing gives a grid-convergent angle.</a:t>
            </a:r>
          </a:p>
        </p:txBody>
      </p:sp>
      <p:sp>
        <p:nvSpPr>
          <p:cNvPr id="360" name="TextBox 359"/>
          <p:cNvSpPr txBox="1"/>
          <p:nvPr/>
        </p:nvSpPr>
        <p:spPr>
          <a:xfrm>
            <a:off x="11612880" y="14767559"/>
            <a:ext cx="20939760" cy="1481328"/>
          </a:xfrm>
          <a:prstGeom prst="rect">
            <a:avLst/>
          </a:prstGeom>
          <a:noFill/>
        </p:spPr>
        <p:txBody>
          <a:bodyPr wrap="square" lIns="0" rIns="0" tIns="0" bIns="0" anchor="t">
            <a:spAutoFit/>
          </a:bodyPr>
          <a:lstStyle/>
          <a:p>
            <a:pPr algn="l">
              <a:lnSpc>
                <a:spcPct val="105000"/>
              </a:lnSpc>
            </a:pPr>
            <a:r>
              <a:rPr sz="1900" b="0">
                <a:solidFill>
                  <a:srgbClr val="15212C"/>
                </a:solidFill>
                <a:latin typeface="Times New Roman"/>
              </a:rPr>
              <a:t>Interpretation. The solver reproduces its analytical Taylor benchmark to ≈0.1° via the exponent observable, and the imposed-Taylor amplitude identity closes to 0.06%. The grounded-box angle is NOT reported as a physical result: it is the answer to the truncated cone-in-a-box problem, and the argmin wanders with domain size. Stating that boundary is the point of the verification.</a:t>
            </a:r>
          </a:p>
        </p:txBody>
      </p:sp>
      <p:pic>
        <p:nvPicPr>
          <p:cNvPr id="361" name="Picture 360" descr="fig_potential.png"/>
          <p:cNvPicPr>
            <a:picLocks noChangeAspect="1"/>
          </p:cNvPicPr>
          <p:nvPr/>
        </p:nvPicPr>
        <p:blipFill>
          <a:blip r:embed="rId30"/>
          <a:stretch>
            <a:fillRect/>
          </a:stretch>
        </p:blipFill>
        <p:spPr>
          <a:xfrm>
            <a:off x="11795760" y="17510760"/>
            <a:ext cx="6949440" cy="5712506"/>
          </a:xfrm>
          <a:prstGeom prst="rect">
            <a:avLst/>
          </a:prstGeom>
        </p:spPr>
      </p:pic>
      <p:sp>
        <p:nvSpPr>
          <p:cNvPr id="362" name="TextBox 361"/>
          <p:cNvSpPr txBox="1"/>
          <p:nvPr/>
        </p:nvSpPr>
        <p:spPr>
          <a:xfrm>
            <a:off x="11795760" y="23362920"/>
            <a:ext cx="6949440" cy="548640"/>
          </a:xfrm>
          <a:prstGeom prst="rect">
            <a:avLst/>
          </a:prstGeom>
          <a:noFill/>
        </p:spPr>
        <p:txBody>
          <a:bodyPr wrap="square" lIns="0" rIns="0" tIns="0" bIns="0" anchor="t">
            <a:spAutoFit/>
          </a:bodyPr>
          <a:lstStyle/>
          <a:p>
            <a:pPr algn="l">
              <a:lnSpc>
                <a:spcPct val="98000"/>
              </a:lnSpc>
            </a:pPr>
            <a:r>
              <a:rPr sz="1600" b="0">
                <a:solidFill>
                  <a:srgbClr val="4A5A66"/>
                </a:solidFill>
                <a:latin typeface="Times New Roman"/>
              </a:rPr>
              <a:t>Fig. 5. Solved potential, 49.29° cone, V₀ = 1.72 kV.</a:t>
            </a:r>
          </a:p>
        </p:txBody>
      </p:sp>
      <p:pic>
        <p:nvPicPr>
          <p:cNvPr id="363" name="Picture 362" descr="fig_timing.png"/>
          <p:cNvPicPr>
            <a:picLocks noChangeAspect="1"/>
          </p:cNvPicPr>
          <p:nvPr/>
        </p:nvPicPr>
        <p:blipFill>
          <a:blip r:embed="rId31"/>
          <a:stretch>
            <a:fillRect/>
          </a:stretch>
        </p:blipFill>
        <p:spPr>
          <a:xfrm>
            <a:off x="20985480" y="6355080"/>
            <a:ext cx="4937760" cy="2958069"/>
          </a:xfrm>
          <a:prstGeom prst="rect">
            <a:avLst/>
          </a:prstGeom>
        </p:spPr>
      </p:pic>
      <p:sp>
        <p:nvSpPr>
          <p:cNvPr id="364" name="TextBox 363"/>
          <p:cNvSpPr txBox="1"/>
          <p:nvPr/>
        </p:nvSpPr>
        <p:spPr>
          <a:xfrm>
            <a:off x="20985480" y="8430768"/>
            <a:ext cx="4937760" cy="420624"/>
          </a:xfrm>
          <a:prstGeom prst="rect">
            <a:avLst/>
          </a:prstGeom>
          <a:noFill/>
        </p:spPr>
        <p:txBody>
          <a:bodyPr wrap="square" lIns="0" rIns="0" tIns="0" bIns="0" anchor="t">
            <a:spAutoFit/>
          </a:bodyPr>
          <a:lstStyle/>
          <a:p>
            <a:pPr algn="l">
              <a:lnSpc>
                <a:spcPct val="98000"/>
              </a:lnSpc>
            </a:pPr>
            <a:r>
              <a:rPr sz="1500" b="0">
                <a:solidFill>
                  <a:srgbClr val="4A5A66"/>
                </a:solidFill>
                <a:latin typeface="Times New Roman"/>
              </a:rPr>
              <a:t>Fig. 6. Sparse solve time vs. unknowns.</a:t>
            </a:r>
          </a:p>
        </p:txBody>
      </p:sp>
      <p:sp>
        <p:nvSpPr>
          <p:cNvPr id="365" name="TextBox 364"/>
          <p:cNvSpPr txBox="1"/>
          <p:nvPr/>
        </p:nvSpPr>
        <p:spPr>
          <a:xfrm>
            <a:off x="19293840" y="17510760"/>
            <a:ext cx="13030200" cy="6766560"/>
          </a:xfrm>
          <a:prstGeom prst="rect">
            <a:avLst/>
          </a:prstGeom>
          <a:noFill/>
        </p:spPr>
        <p:txBody>
          <a:bodyPr wrap="square" lIns="0" rIns="0" tIns="0" bIns="0" anchor="t">
            <a:spAutoFit/>
          </a:bodyPr>
          <a:lstStyle/>
          <a:p>
            <a:pPr algn="l">
              <a:lnSpc>
                <a:spcPct val="106000"/>
              </a:lnSpc>
            </a:pPr>
            <a:r>
              <a:rPr sz="2000" b="0">
                <a:solidFill>
                  <a:srgbClr val="15212C"/>
                </a:solidFill>
                <a:latin typeface="Times New Roman"/>
              </a:rPr>
              <a:t>What the numbers show
• Manufactured convergence is clean and near second order on every refinement pair, with the observed order approaching 2 as h → 0.
• The immersed free-boundary operator converges; the legacy staircase mask does not. This is the justification for the immersed treatment.
• Under an imposed analytical Taylor far field the balance amplitude identity closes to 1.0005, and the flank exponent crossing recovers ≈49.2°, within ≈0.1° of the classical value.
• The projected-residual argmin is NOT a reliable angle estimator: it is flat within its discretisation floor and moves with domain size.
• Solve time scales near-quadratically in unknowns; the largest committed case runs in under six minutes on a laptop.</a:t>
            </a:r>
          </a:p>
        </p:txBody>
      </p:sp>
      <p:sp>
        <p:nvSpPr>
          <p:cNvPr id="366" name="TextBox 365"/>
          <p:cNvSpPr txBox="1"/>
          <p:nvPr/>
        </p:nvSpPr>
        <p:spPr>
          <a:xfrm>
            <a:off x="33137856" y="192024"/>
            <a:ext cx="10085832" cy="649224"/>
          </a:xfrm>
          <a:prstGeom prst="rect">
            <a:avLst/>
          </a:prstGeom>
          <a:noFill/>
        </p:spPr>
        <p:txBody>
          <a:bodyPr wrap="square" lIns="0" rIns="0" tIns="0" bIns="0" anchor="t">
            <a:spAutoFit/>
          </a:bodyPr>
          <a:lstStyle/>
          <a:p>
            <a:pPr algn="l"/>
            <a:r>
              <a:rPr sz="3200" b="1">
                <a:solidFill>
                  <a:srgbClr val="FFFFFF"/>
                </a:solidFill>
                <a:latin typeface="Times New Roman"/>
              </a:rPr>
              <a:t>SCOPE AND LIMITS</a:t>
            </a:r>
          </a:p>
        </p:txBody>
      </p:sp>
      <p:sp>
        <p:nvSpPr>
          <p:cNvPr id="367" name="TextBox 366"/>
          <p:cNvSpPr txBox="1"/>
          <p:nvPr/>
        </p:nvSpPr>
        <p:spPr>
          <a:xfrm>
            <a:off x="33183576" y="1143000"/>
            <a:ext cx="9994392" cy="6995160"/>
          </a:xfrm>
          <a:prstGeom prst="rect">
            <a:avLst/>
          </a:prstGeom>
          <a:noFill/>
        </p:spPr>
        <p:txBody>
          <a:bodyPr wrap="square" lIns="0" rIns="0" tIns="0" bIns="0" anchor="t">
            <a:spAutoFit/>
          </a:bodyPr>
          <a:lstStyle/>
          <a:p>
            <a:pPr algn="l">
              <a:spcAft>
                <a:spcPts val="900"/>
              </a:spcAft>
            </a:pPr>
            <a:r>
              <a:rPr sz="2000" b="1">
                <a:solidFill>
                  <a:srgbClr val="086EAD"/>
                </a:solidFill>
              </a:rPr>
              <a:t>What is verified. </a:t>
            </a:r>
            <a:r>
              <a:rPr sz="2000" b="0">
                <a:solidFill>
                  <a:srgbClr val="15212C"/>
                </a:solidFill>
              </a:rPr>
              <a:t>The electrostatic operator, the interface field reconstruction, and the stress-balance diagnostic against analytical references and a manufactured solution.</a:t>
            </a:r>
          </a:p>
          <a:p>
            <a:pPr algn="l">
              <a:spcAft>
                <a:spcPts val="900"/>
              </a:spcAft>
            </a:pPr>
            <a:r>
              <a:rPr sz="2000" b="1">
                <a:solidFill>
                  <a:srgbClr val="086EAD"/>
                </a:solidFill>
              </a:rPr>
              <a:t>Reduced-order by design. </a:t>
            </a:r>
            <a:r>
              <a:rPr sz="2000" b="0">
                <a:solidFill>
                  <a:srgbClr val="15212C"/>
                </a:solidFill>
              </a:rPr>
              <a:t>This is an onset-level model. It does not simulate cone-jet breakup, spray dynamics or full multiphysics.</a:t>
            </a:r>
          </a:p>
          <a:p>
            <a:pPr algn="l">
              <a:spcAft>
                <a:spcPts val="900"/>
              </a:spcAft>
            </a:pPr>
            <a:r>
              <a:rPr sz="2000" b="1">
                <a:solidFill>
                  <a:srgbClr val="C45A12"/>
                </a:solidFill>
              </a:rPr>
              <a:t>Grounded-box angles. </a:t>
            </a:r>
            <a:r>
              <a:rPr sz="2000" b="0">
                <a:solidFill>
                  <a:srgbClr val="15212C"/>
                </a:solidFill>
              </a:rPr>
              <a:t>Argmin angles from a finite grounded domain are truncation artifacts and are not reported as physical results.</a:t>
            </a:r>
          </a:p>
          <a:p>
            <a:pPr algn="l">
              <a:spcAft>
                <a:spcPts val="900"/>
              </a:spcAft>
            </a:pPr>
            <a:r>
              <a:rPr sz="2000" b="1">
                <a:solidFill>
                  <a:srgbClr val="086EAD"/>
                </a:solidFill>
              </a:rPr>
              <a:t>Space charge. </a:t>
            </a:r>
            <a:r>
              <a:rPr sz="2000" b="0">
                <a:solidFill>
                  <a:srgbClr val="15212C"/>
                </a:solidFill>
              </a:rPr>
              <a:t>Optional effective closures only; no first-principles ion transport.</a:t>
            </a:r>
          </a:p>
        </p:txBody>
      </p:sp>
      <p:sp>
        <p:nvSpPr>
          <p:cNvPr id="368" name="TextBox 367"/>
          <p:cNvSpPr txBox="1"/>
          <p:nvPr/>
        </p:nvSpPr>
        <p:spPr>
          <a:xfrm>
            <a:off x="33183576" y="9601200"/>
            <a:ext cx="9994392" cy="6720840"/>
          </a:xfrm>
          <a:prstGeom prst="rect">
            <a:avLst/>
          </a:prstGeom>
          <a:noFill/>
        </p:spPr>
        <p:txBody>
          <a:bodyPr wrap="square" lIns="0" rIns="0" tIns="0" bIns="0" anchor="t">
            <a:spAutoFit/>
          </a:bodyPr>
          <a:lstStyle/>
          <a:p>
            <a:pPr algn="l">
              <a:spcAft>
                <a:spcPts val="900"/>
              </a:spcAft>
            </a:pPr>
            <a:r>
              <a:rPr sz="2000" b="1">
                <a:solidFill>
                  <a:srgbClr val="086EAD"/>
                </a:solidFill>
              </a:rPr>
              <a:t>Discretisation. </a:t>
            </a:r>
            <a:r>
              <a:rPr sz="2000" b="0">
                <a:solidFill>
                  <a:srgbClr val="15212C"/>
                </a:solidFill>
              </a:rPr>
              <a:t>Sparse finite-difference axisymmetric Laplacian with a regularised axis stencil.</a:t>
            </a:r>
          </a:p>
          <a:p>
            <a:pPr algn="l">
              <a:spcAft>
                <a:spcPts val="900"/>
              </a:spcAft>
            </a:pPr>
            <a:r>
              <a:rPr sz="2000" b="1">
                <a:solidFill>
                  <a:srgbClr val="086EAD"/>
                </a:solidFill>
              </a:rPr>
              <a:t>Interface. </a:t>
            </a:r>
            <a:r>
              <a:rPr sz="2000" b="0">
                <a:solidFill>
                  <a:srgbClr val="15212C"/>
                </a:solidFill>
              </a:rPr>
              <a:t>Cubic-exact immersed-boundary stencil; ≤1% normal-field error on refined grids.</a:t>
            </a:r>
          </a:p>
          <a:p>
            <a:pPr algn="l">
              <a:spcAft>
                <a:spcPts val="900"/>
              </a:spcAft>
            </a:pPr>
            <a:r>
              <a:rPr sz="2000" b="1">
                <a:solidFill>
                  <a:srgbClr val="086EAD"/>
                </a:solidFill>
              </a:rPr>
              <a:t>Balance. </a:t>
            </a:r>
            <a:r>
              <a:rPr sz="2000" b="0">
                <a:solidFill>
                  <a:srgbClr val="15212C"/>
                </a:solidFill>
              </a:rPr>
              <a:t>Curvature gives γκ; a projected pressure offset closes the normal-stress balance.</a:t>
            </a:r>
          </a:p>
          <a:p>
            <a:pPr algn="l">
              <a:spcAft>
                <a:spcPts val="900"/>
              </a:spcAft>
            </a:pPr>
            <a:r>
              <a:rPr sz="2000" b="1">
                <a:solidFill>
                  <a:srgbClr val="086EAD"/>
                </a:solidFill>
              </a:rPr>
              <a:t>Reproducibility. </a:t>
            </a:r>
            <a:r>
              <a:rPr sz="2000" b="0">
                <a:solidFill>
                  <a:srgbClr val="15212C"/>
                </a:solidFill>
              </a:rPr>
              <a:t>Every figure is regenerated by build/make_figures.py from the committed solver.</a:t>
            </a:r>
          </a:p>
        </p:txBody>
      </p:sp>
      <p:sp>
        <p:nvSpPr>
          <p:cNvPr id="369" name="TextBox 368"/>
          <p:cNvSpPr txBox="1"/>
          <p:nvPr/>
        </p:nvSpPr>
        <p:spPr>
          <a:xfrm>
            <a:off x="33183576" y="17785080"/>
            <a:ext cx="9994392" cy="12390120"/>
          </a:xfrm>
          <a:prstGeom prst="rect">
            <a:avLst/>
          </a:prstGeom>
          <a:noFill/>
        </p:spPr>
        <p:txBody>
          <a:bodyPr wrap="square" lIns="0" rIns="0" tIns="0" bIns="0" anchor="t">
            <a:spAutoFit/>
          </a:bodyPr>
          <a:lstStyle/>
          <a:p>
            <a:pPr algn="l">
              <a:spcAft>
                <a:spcPts val="1000"/>
              </a:spcAft>
            </a:pPr>
            <a:r>
              <a:rPr sz="2000" b="1">
                <a:solidFill>
                  <a:srgbClr val="086EAD"/>
                </a:solidFill>
              </a:rPr>
              <a:t>Verified core. </a:t>
            </a:r>
            <a:r>
              <a:rPr sz="2000" b="0">
                <a:solidFill>
                  <a:srgbClr val="15212C"/>
                </a:solidFill>
              </a:rPr>
              <a:t>A transparent sparse solver reproduces its analytical Taylor benchmark to ≈0.1° and closes the amplitude identity to 0.06% on a laptop.</a:t>
            </a:r>
          </a:p>
          <a:p>
            <a:pPr algn="l">
              <a:spcAft>
                <a:spcPts val="1000"/>
              </a:spcAft>
            </a:pPr>
            <a:r>
              <a:rPr sz="2000" b="1">
                <a:solidFill>
                  <a:srgbClr val="C45A12"/>
                </a:solidFill>
              </a:rPr>
              <a:t>Honest boundary. </a:t>
            </a:r>
            <a:r>
              <a:rPr sz="2000" b="0">
                <a:solidFill>
                  <a:srgbClr val="15212C"/>
                </a:solidFill>
              </a:rPr>
              <a:t>Verification status, not experimental validation. No laboratory data were collected for this poster, and none are claimed.</a:t>
            </a:r>
          </a:p>
          <a:p>
            <a:pPr algn="l">
              <a:spcAft>
                <a:spcPts val="1000"/>
              </a:spcAft>
            </a:pPr>
            <a:r>
              <a:rPr sz="2000" b="1">
                <a:solidFill>
                  <a:srgbClr val="086EAD"/>
                </a:solidFill>
              </a:rPr>
              <a:t>Why it matters. </a:t>
            </a:r>
            <a:r>
              <a:rPr sz="2000" b="0">
                <a:solidFill>
                  <a:srgbClr val="15212C"/>
                </a:solidFill>
              </a:rPr>
              <a:t>A student or small laboratory can reproduce every number here with open-source Python and no specialised multiphysics licence.</a:t>
            </a:r>
          </a:p>
          <a:p>
            <a:pPr algn="l">
              <a:spcAft>
                <a:spcPts val="1000"/>
              </a:spcAft>
            </a:pPr>
            <a:r>
              <a:rPr sz="2000" b="1">
                <a:solidFill>
                  <a:srgbClr val="086EAD"/>
                </a:solidFill>
              </a:rPr>
              <a:t>Next. </a:t>
            </a:r>
            <a:r>
              <a:rPr sz="2000" b="0">
                <a:solidFill>
                  <a:srgbClr val="15212C"/>
                </a:solidFill>
              </a:rPr>
              <a:t>Supervised laboratory validation, image-based profile extraction, and more voltages, gaps and liquids remain future work.</a:t>
            </a:r>
          </a:p>
        </p:txBody>
      </p:sp>
      <p:sp>
        <p:nvSpPr>
          <p:cNvPr id="370" name="TextBox 369"/>
          <p:cNvSpPr txBox="1"/>
          <p:nvPr/>
        </p:nvSpPr>
        <p:spPr>
          <a:xfrm>
            <a:off x="33183576" y="31958280"/>
            <a:ext cx="9994392" cy="9921240"/>
          </a:xfrm>
          <a:prstGeom prst="rect">
            <a:avLst/>
          </a:prstGeom>
          <a:noFill/>
        </p:spPr>
        <p:txBody>
          <a:bodyPr wrap="square" lIns="0" rIns="0" tIns="0" bIns="0" anchor="t">
            <a:spAutoFit/>
          </a:bodyPr>
          <a:lstStyle/>
          <a:p>
            <a:pPr algn="l">
              <a:spcAft>
                <a:spcPts val="500"/>
              </a:spcAft>
            </a:pPr>
            <a:r>
              <a:rPr sz="1300" b="0">
                <a:solidFill>
                  <a:srgbClr val="15212C"/>
                </a:solidFill>
              </a:rPr>
              <a:t>[1] Taylor, G. I. Disintegration of water drops in an electric field. Proc. R. Soc. Lond. A 280(1382), 383–397 (1964).</a:t>
            </a:r>
          </a:p>
          <a:p>
            <a:pPr algn="l">
              <a:spcAft>
                <a:spcPts val="500"/>
              </a:spcAft>
            </a:pPr>
            <a:r>
              <a:rPr sz="1300" b="0">
                <a:solidFill>
                  <a:srgbClr val="15212C"/>
                </a:solidFill>
              </a:rPr>
              <a:t>[2] Fernández de la Mora, J. The fluid dynamics of Taylor cones. Annu. Rev. Fluid Mech. 39, 217–243 (2007).</a:t>
            </a:r>
          </a:p>
          <a:p>
            <a:pPr algn="l">
              <a:spcAft>
                <a:spcPts val="500"/>
              </a:spcAft>
            </a:pPr>
            <a:r>
              <a:rPr sz="1300" b="0">
                <a:solidFill>
                  <a:srgbClr val="15212C"/>
                </a:solidFill>
              </a:rPr>
              <a:t>[3] Melcher, J. R., &amp; Taylor, G. I. Electrohydrodynamics: a review of the role of interfacial shear stresses. Annu. Rev. Fluid Mech. 1, 111–146 (1969).</a:t>
            </a:r>
          </a:p>
          <a:p>
            <a:pPr algn="l">
              <a:spcAft>
                <a:spcPts val="500"/>
              </a:spcAft>
            </a:pPr>
            <a:r>
              <a:rPr sz="1300" b="0">
                <a:solidFill>
                  <a:srgbClr val="15212C"/>
                </a:solidFill>
              </a:rPr>
              <a:t>[4] Saville, D. A. Electrohydrodynamics: the Taylor–Melcher leaky dielectric model. Annu. Rev. Fluid Mech. 29, 27–64 (1997).</a:t>
            </a:r>
          </a:p>
          <a:p>
            <a:pPr algn="l">
              <a:spcAft>
                <a:spcPts val="500"/>
              </a:spcAft>
            </a:pPr>
            <a:r>
              <a:rPr sz="1300" b="0">
                <a:solidFill>
                  <a:srgbClr val="15212C"/>
                </a:solidFill>
              </a:rPr>
              <a:t>[5] Gañán-Calvo, A. M. Cone-jet analytical extension of Taylor’s electrostatic solution. Phys. Rev. Lett. 79(2), 217–220 (1997).</a:t>
            </a:r>
          </a:p>
          <a:p>
            <a:pPr algn="l">
              <a:spcAft>
                <a:spcPts val="500"/>
              </a:spcAft>
            </a:pPr>
            <a:r>
              <a:rPr sz="1300" b="0">
                <a:solidFill>
                  <a:srgbClr val="15212C"/>
                </a:solidFill>
              </a:rPr>
              <a:t>[6] Hartman, R. P. A. et al. Electrohydrodynamic atomization in the cone–jet mode. J. Aerosol Sci. 30(7), 823–849 (1999).</a:t>
            </a:r>
          </a:p>
          <a:p>
            <a:pPr algn="l">
              <a:spcAft>
                <a:spcPts val="500"/>
              </a:spcAft>
            </a:pPr>
            <a:r>
              <a:rPr sz="1300" b="0">
                <a:solidFill>
                  <a:srgbClr val="15212C"/>
                </a:solidFill>
              </a:rPr>
              <a:t>[7] Cloupeau, M., &amp; Prunet-Foch, B. Electrostatic spraying of liquids in cone-jet mode. J. Electrostat. 22(2), 135–159 (1989).</a:t>
            </a:r>
          </a:p>
          <a:p>
            <a:pPr algn="l">
              <a:spcAft>
                <a:spcPts val="500"/>
              </a:spcAft>
            </a:pPr>
            <a:r>
              <a:rPr sz="1300" b="0">
                <a:solidFill>
                  <a:srgbClr val="15212C"/>
                </a:solidFill>
              </a:rPr>
              <a:t>[8] Gibou, F. et al. A second-order-accurate symmetric discretization of the Poisson equation on irregular domains. J. Comput. Phys. 176, 205–227 (2002).</a:t>
            </a:r>
          </a:p>
          <a:p>
            <a:pPr algn="l">
              <a:spcAft>
                <a:spcPts val="500"/>
              </a:spcAft>
            </a:pPr>
            <a:r>
              <a:rPr sz="1300" b="0">
                <a:solidFill>
                  <a:srgbClr val="15212C"/>
                </a:solidFill>
              </a:rPr>
              <a:t>[9] Shortley, G. H., &amp; Weller, R. The numerical solution of Laplace’s equation. J. Appl. Phys. 9, 334–348 (1938).</a:t>
            </a:r>
          </a:p>
        </p:txBody>
      </p:sp>
      <p:sp>
        <p:nvSpPr>
          <p:cNvPr id="371" name="Rounded Rectangle 370"/>
          <p:cNvSpPr/>
          <p:nvPr/>
        </p:nvSpPr>
        <p:spPr>
          <a:xfrm>
            <a:off x="91440" y="42108120"/>
            <a:ext cx="43379136" cy="1353312"/>
          </a:xfrm>
          <a:prstGeom prst="roundRect">
            <a:avLst/>
          </a:prstGeom>
          <a:solidFill>
            <a:srgbClr val="0A2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2" name="TextBox 371"/>
          <p:cNvSpPr txBox="1"/>
          <p:nvPr/>
        </p:nvSpPr>
        <p:spPr>
          <a:xfrm>
            <a:off x="502920" y="42291000"/>
            <a:ext cx="31089600" cy="987552"/>
          </a:xfrm>
          <a:prstGeom prst="rect">
            <a:avLst/>
          </a:prstGeom>
          <a:noFill/>
        </p:spPr>
        <p:txBody>
          <a:bodyPr wrap="square" lIns="0" rIns="0" tIns="0" bIns="0" anchor="t">
            <a:spAutoFit/>
          </a:bodyPr>
          <a:lstStyle/>
          <a:p>
            <a:pPr algn="l">
              <a:lnSpc>
                <a:spcPct val="105000"/>
              </a:lnSpc>
            </a:pPr>
            <a:r>
              <a:rPr sz="1800" b="0">
                <a:solidFill>
                  <a:srgbClr val="FFFFFF"/>
                </a:solidFill>
                <a:latin typeface="Times New Roman"/>
              </a:rPr>
              <a:t>All figures and numbers on this poster are generated from the committed solver by build/make_figures.py — no experimental data are presented. Test suite: 74 passing (python -m pytest backend/tests/).</a:t>
            </a:r>
          </a:p>
        </p:txBody>
      </p:sp>
      <p:sp>
        <p:nvSpPr>
          <p:cNvPr id="373" name="TextBox 372"/>
          <p:cNvSpPr txBox="1"/>
          <p:nvPr/>
        </p:nvSpPr>
        <p:spPr>
          <a:xfrm>
            <a:off x="32004000" y="42291000"/>
            <a:ext cx="11155680" cy="987552"/>
          </a:xfrm>
          <a:prstGeom prst="rect">
            <a:avLst/>
          </a:prstGeom>
          <a:noFill/>
        </p:spPr>
        <p:txBody>
          <a:bodyPr wrap="square" lIns="0" rIns="0" tIns="0" bIns="0" anchor="t">
            <a:spAutoFit/>
          </a:bodyPr>
          <a:lstStyle/>
          <a:p>
            <a:pPr algn="l"/>
            <a:r>
              <a:rPr sz="1600" b="1">
                <a:solidFill>
                  <a:srgbClr val="FFD48A"/>
                </a:solidFill>
                <a:latin typeface="Times New Roman"/>
              </a:rPr>
              <a:t>Source code and data: available on request.</a:t>
            </a:r>
          </a:p>
        </p:txBody>
      </p:sp>
      <p:sp>
        <p:nvSpPr>
          <p:cNvPr id="374" name="TextBox 373"/>
          <p:cNvSpPr txBox="1"/>
          <p:nvPr/>
        </p:nvSpPr>
        <p:spPr>
          <a:xfrm>
            <a:off x="384048" y="33787080"/>
            <a:ext cx="10515600" cy="8046720"/>
          </a:xfrm>
          <a:prstGeom prst="rect">
            <a:avLst/>
          </a:prstGeom>
          <a:noFill/>
        </p:spPr>
        <p:txBody>
          <a:bodyPr wrap="square" lIns="0" rIns="0" tIns="0" bIns="0">
            <a:spAutoFit/>
          </a:bodyPr>
          <a:lstStyle/>
          <a:p>
            <a:pPr>
              <a:spcAft>
                <a:spcPts val="500"/>
              </a:spcAft>
            </a:pPr>
            <a:r>
              <a:rPr sz="2000" b="0">
                <a:solidFill>
                  <a:srgbClr val="15212C"/>
                </a:solidFill>
              </a:rPr>
              <a:t>Every number and figure is regenerated by one script:</a:t>
            </a:r>
          </a:p>
          <a:p>
            <a:pPr>
              <a:spcAft>
                <a:spcPts val="500"/>
              </a:spcAft>
            </a:pPr>
            <a:r>
              <a:rPr sz="1900" b="1">
                <a:solidFill>
                  <a:srgbClr val="0A2A45"/>
                </a:solidFill>
                <a:latin typeface="Courier New"/>
              </a:rPr>
              <a:t>python build/make_figures.py</a:t>
            </a:r>
          </a:p>
          <a:p>
            <a:pPr>
              <a:spcAft>
                <a:spcPts val="500"/>
              </a:spcAft>
            </a:pPr>
            <a:r>
              <a:rPr sz="2000" b="0">
                <a:solidFill>
                  <a:srgbClr val="15212C"/>
                </a:solidFill>
              </a:rPr>
              <a:t>It calls the committed solver directly:</a:t>
            </a:r>
          </a:p>
          <a:p>
            <a:pPr>
              <a:spcAft>
                <a:spcPts val="500"/>
              </a:spcAft>
            </a:pPr>
            <a:r>
              <a:rPr sz="1900" b="0">
                <a:solidFill>
                  <a:srgbClr val="0A2A45"/>
                </a:solidFill>
                <a:latin typeface="Courier New"/>
              </a:rPr>
              <a:t>backend/solver/verification.py</a:t>
            </a:r>
          </a:p>
          <a:p>
            <a:pPr>
              <a:spcAft>
                <a:spcPts val="500"/>
              </a:spcAft>
            </a:pPr>
            <a:r>
              <a:rPr sz="1800" b="0">
                <a:solidFill>
                  <a:srgbClr val="495A66"/>
                </a:solidFill>
                <a:latin typeface="Courier New"/>
              </a:rPr>
              <a:t>  run_quartic_manufactured_poisson()  → Fig. 1</a:t>
            </a:r>
          </a:p>
          <a:p>
            <a:pPr>
              <a:spcAft>
                <a:spcPts val="500"/>
              </a:spcAft>
            </a:pPr>
            <a:r>
              <a:rPr sz="1800" b="0">
                <a:solidFill>
                  <a:srgbClr val="495A66"/>
                </a:solidFill>
                <a:latin typeface="Courier New"/>
              </a:rPr>
              <a:t>  taylor_cone_half_angle_deg()        → card 2</a:t>
            </a:r>
          </a:p>
          <a:p>
            <a:pPr>
              <a:spcAft>
                <a:spcPts val="500"/>
              </a:spcAft>
            </a:pPr>
            <a:r>
              <a:rPr sz="1900" b="0">
                <a:solidFill>
                  <a:srgbClr val="0A2A45"/>
                </a:solidFill>
                <a:latin typeface="Courier New"/>
              </a:rPr>
              <a:t>backend/solver/app_backend.py</a:t>
            </a:r>
          </a:p>
          <a:p>
            <a:pPr>
              <a:spcAft>
                <a:spcPts val="500"/>
              </a:spcAft>
            </a:pPr>
            <a:r>
              <a:rPr sz="1800" b="0">
                <a:solidFill>
                  <a:srgbClr val="495A66"/>
                </a:solidFill>
                <a:latin typeface="Courier New"/>
              </a:rPr>
              <a:t>  run_immersed_verification()         → Fig. 2, 4</a:t>
            </a:r>
          </a:p>
          <a:p>
            <a:pPr>
              <a:spcAft>
                <a:spcPts val="500"/>
              </a:spcAft>
            </a:pPr>
            <a:r>
              <a:rPr sz="1800" b="0">
                <a:solidFill>
                  <a:srgbClr val="0A2A45"/>
                </a:solidFill>
                <a:latin typeface="Courier New"/>
              </a:rPr>
              <a:t>backend/examples/08_immersed_refinement_study.py</a:t>
            </a:r>
          </a:p>
          <a:p>
            <a:pPr>
              <a:spcAft>
                <a:spcPts val="500"/>
              </a:spcAft>
            </a:pPr>
            <a:r>
              <a:rPr sz="1800" b="0">
                <a:solidFill>
                  <a:srgbClr val="495A66"/>
                </a:solidFill>
                <a:latin typeface="Courier New"/>
              </a:rPr>
              <a:t>                                      → Fig. 3</a:t>
            </a:r>
          </a:p>
          <a:p>
            <a:pPr>
              <a:spcAft>
                <a:spcPts val="500"/>
              </a:spcAft>
            </a:pPr>
            <a:r>
              <a:rPr sz="1900" b="1">
                <a:solidFill>
                  <a:srgbClr val="0A2A45"/>
                </a:solidFill>
                <a:latin typeface="Courier New"/>
              </a:rPr>
              <a:t>Tests:  python -m pytest backend/tests/</a:t>
            </a:r>
          </a:p>
          <a:p>
            <a:pPr>
              <a:spcAft>
                <a:spcPts val="500"/>
              </a:spcAft>
            </a:pPr>
            <a:r>
              <a:rPr sz="2000" b="1">
                <a:solidFill>
                  <a:srgbClr val="2E7D32"/>
                </a:solidFill>
              </a:rPr>
              <a:t>74 passed.</a:t>
            </a:r>
          </a:p>
        </p:txBody>
      </p:sp>
      <p:sp>
        <p:nvSpPr>
          <p:cNvPr id="375" name="TextBox 374"/>
          <p:cNvSpPr txBox="1"/>
          <p:nvPr/>
        </p:nvSpPr>
        <p:spPr>
          <a:xfrm>
            <a:off x="11795760" y="24185880"/>
            <a:ext cx="20528280" cy="1463040"/>
          </a:xfrm>
          <a:prstGeom prst="rect">
            <a:avLst/>
          </a:prstGeom>
          <a:noFill/>
        </p:spPr>
        <p:txBody>
          <a:bodyPr wrap="square" lIns="0" rIns="0" tIns="0" bIns="0">
            <a:spAutoFit/>
          </a:bodyPr>
          <a:lstStyle/>
          <a:p>
            <a:pPr>
              <a:lnSpc>
                <a:spcPct val="105000"/>
              </a:lnSpc>
            </a:pPr>
            <a:r>
              <a:rPr sz="2100" b="1">
                <a:solidFill>
                  <a:srgbClr val="C45A12"/>
                </a:solidFill>
                <a:latin typeface="Times New Roman"/>
              </a:rPr>
              <a:t>Verification status. Everything on this poster is numerical verification against analytical and manufactured references. No laboratory experiment was performed and no published image data were analysed; those remain clearly-scoped future work.</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10393</Words>
  <Application>WPS 演示</Application>
  <PresentationFormat>Converted Presentation</PresentationFormat>
  <Paragraphs>357</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宋体</vt:lpstr>
      <vt:lpstr>Wingdings</vt:lpstr>
      <vt:lpstr>Arial</vt:lpstr>
      <vt:lpstr>Times New Roman</vt:lpstr>
      <vt:lpstr>DejaVu Math TeX Gyre</vt:lpstr>
      <vt:lpstr>MS PGothic</vt:lpstr>
      <vt:lpstr>微软雅黑</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Sunshine</cp:lastModifiedBy>
  <cp:revision>8</cp:revision>
  <dcterms:created xsi:type="dcterms:W3CDTF">2026-10-11T12:15:00Z</dcterms:created>
  <dcterms:modified xsi:type="dcterms:W3CDTF">2026-10-12T06:55:22Z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C5DFEE0A1E7B662C747DCB6A054C50A0_43</vt:lpwstr>
  </property>
  <property fmtid="{D5CDD505-2E9C-101B-9397-08002B2CF9AE}" pid="3" name="KSOProductBuildVer">
    <vt:lpwstr>2052-12.1.0.28505</vt:lpwstr>
  </property>
</Properties>
</file>